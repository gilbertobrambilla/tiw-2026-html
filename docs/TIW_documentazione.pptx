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274" r:id="rId15"/>
    <p:sldId id="279" r:id="rId16"/>
    <p:sldId id="278" r:id="rId17"/>
    <p:sldId id="280" r:id="rId18"/>
    <p:sldId id="272" r:id="rId19"/>
    <p:sldId id="276" r:id="rId20"/>
    <p:sldId id="273" r:id="rId21"/>
    <p:sldId id="281" r:id="rId22"/>
    <p:sldId id="282" r:id="rId23"/>
    <p:sldId id="283" r:id="rId24"/>
    <p:sldId id="285" r:id="rId25"/>
    <p:sldId id="286" r:id="rId26"/>
    <p:sldId id="287" r:id="rId27"/>
    <p:sldId id="288" r:id="rId28"/>
    <p:sldId id="289" r:id="rId29"/>
    <p:sldId id="295" r:id="rId30"/>
    <p:sldId id="296" r:id="rId31"/>
    <p:sldId id="297" r:id="rId32"/>
    <p:sldId id="298" r:id="rId33"/>
    <p:sldId id="293" r:id="rId34"/>
    <p:sldId id="301" r:id="rId35"/>
    <p:sldId id="300" r:id="rId36"/>
    <p:sldId id="299"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87"/>
    <p:restoredTop sz="94649"/>
  </p:normalViewPr>
  <p:slideViewPr>
    <p:cSldViewPr snapToGrid="0">
      <p:cViewPr varScale="1">
        <p:scale>
          <a:sx n="182" d="100"/>
          <a:sy n="182" d="100"/>
        </p:scale>
        <p:origin x="32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6/1/26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Admin</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Admin</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spcBef>
                <a:spcPts val="0"/>
              </a:spcBef>
              <a:spcAft>
                <a:spcPts val="1173"/>
              </a:spcAft>
              <a:buClr>
                <a:srgbClr val="000000"/>
              </a:buClr>
              <a:buSzPts val="1100"/>
            </a:pPr>
            <a:r>
              <a:rPr lang="en-US" sz="1500" kern="0" noProof="1">
                <a:solidFill>
                  <a:schemeClr val="tx1"/>
                </a:solidFill>
              </a:rPr>
              <a:t>Amministratore – struttura del progetto: nella versione HTML puro, un work package senza task è considerato un caso estremo valido e viene mostrato tramite messaggio di stato vuoto.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alla creazione di un task, le ore previste e lavorate iniziali pari a 0 non vengono inserite nel database. L’assenza del valore è interpretata come 0.</a:t>
            </a:r>
          </a:p>
          <a:p>
            <a:pPr marL="285750" indent="-285750">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il progetto in stato created più recente tra quelli creati dall’amministratore corrente, individuato tramite l’id più grande.</a:t>
            </a:r>
          </a:p>
          <a:p>
            <a:pPr marL="285750" indent="-285750">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a:p>
            <a:pPr marL="285750" indent="-285750">
              <a:spcBef>
                <a:spcPts val="0"/>
              </a:spcBef>
              <a:spcAft>
                <a:spcPts val="1173"/>
              </a:spcAft>
              <a:buClr>
                <a:srgbClr val="000000"/>
              </a:buClr>
              <a:buSzPts val="1100"/>
            </a:pPr>
            <a:r>
              <a:rPr lang="en-US" sz="1500" kern="0" noProof="1">
                <a:solidFill>
                  <a:schemeClr val="tx1"/>
                </a:solidFill>
              </a:rPr>
              <a:t>Instradamento utenti technical: dopo il login, gli utenti con ruolo technical accedono a una pagina intermedia HOME TECNICO, dalla quale possono scegliere se entrare nell’area Responsabile o nell’area Collaboratore.</a:t>
            </a:r>
          </a:p>
          <a:p>
            <a:pPr marL="285750" indent="-285750">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a:off x="5140533" y="3803745"/>
            <a:ext cx="178249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54333" y="4406891"/>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2" idx="0"/>
          </p:cNvCxnSpPr>
          <p:nvPr/>
        </p:nvCxnSpPr>
        <p:spPr>
          <a:xfrm rot="16200000" flipV="1">
            <a:off x="5571053" y="-777769"/>
            <a:ext cx="78879" cy="7189185"/>
          </a:xfrm>
          <a:prstGeom prst="bentConnector3">
            <a:avLst>
              <a:gd name="adj1" fmla="val 38981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129" idx="6"/>
            <a:endCxn id="2" idx="0"/>
          </p:cNvCxnSpPr>
          <p:nvPr/>
        </p:nvCxnSpPr>
        <p:spPr>
          <a:xfrm flipH="1" flipV="1">
            <a:off x="2015899" y="2777384"/>
            <a:ext cx="6726449" cy="1899170"/>
          </a:xfrm>
          <a:prstGeom prst="bentConnector4">
            <a:avLst>
              <a:gd name="adj1" fmla="val -13055"/>
              <a:gd name="adj2" fmla="val 125986"/>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686818" y="5764968"/>
            <a:ext cx="1241558" cy="338554"/>
          </a:xfrm>
          <a:prstGeom prst="rect">
            <a:avLst/>
          </a:prstGeom>
          <a:noFill/>
        </p:spPr>
        <p:txBody>
          <a:bodyPr wrap="none" rtlCol="0">
            <a:spAutoFit/>
          </a:bodyPr>
          <a:lstStyle/>
          <a:p>
            <a:r>
              <a:rPr lang="en-US" sz="1600" dirty="0" err="1">
                <a:solidFill>
                  <a:prstClr val="black"/>
                </a:solidFill>
                <a:latin typeface="Calibri" panose="020F0502020204030204" pitchFamily="34" charset="0"/>
                <a:cs typeface="Calibri" panose="020F0502020204030204" pitchFamily="34" charset="0"/>
              </a:rPr>
              <a:t>responsabile</a:t>
            </a:r>
            <a:endParaRPr lang="en-US" sz="1600" dirty="0">
              <a:solidFill>
                <a:prstClr val="black"/>
              </a:solidFill>
              <a:latin typeface="Calibri" panose="020F0502020204030204" pitchFamily="34" charset="0"/>
              <a:cs typeface="Calibri" panose="020F0502020204030204" pitchFamily="34" charset="0"/>
            </a:endParaRP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361039" y="3465757"/>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483624" y="4911429"/>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476760" y="5220760"/>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5058461"/>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60065"/>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t>
            </a:r>
            <a:r>
              <a:rPr lang="en-US" dirty="0" err="1">
                <a:latin typeface="Calibri" panose="020F0502020204030204" pitchFamily="34" charset="0"/>
                <a:cs typeface="Calibri" panose="020F0502020204030204" pitchFamily="34" charset="0"/>
              </a:rPr>
              <a:t>Responsabile</a:t>
            </a:r>
            <a:endParaRPr lang="en-US" dirty="0">
              <a:latin typeface="Calibri" panose="020F0502020204030204" pitchFamily="34" charset="0"/>
              <a:cs typeface="Calibri" panose="020F0502020204030204" pitchFamily="34" charset="0"/>
            </a:endParaRPr>
          </a:p>
        </p:txBody>
      </p:sp>
      <p:cxnSp>
        <p:nvCxnSpPr>
          <p:cNvPr id="10" name="Elbow Connector 9">
            <a:extLst>
              <a:ext uri="{FF2B5EF4-FFF2-40B4-BE49-F238E27FC236}">
                <a16:creationId xmlns:a16="http://schemas.microsoft.com/office/drawing/2014/main" id="{20081987-E33C-5BE3-1D78-356C3482269F}"/>
              </a:ext>
            </a:extLst>
          </p:cNvPr>
          <p:cNvCxnSpPr>
            <a:cxnSpLocks/>
          </p:cNvCxnSpPr>
          <p:nvPr/>
        </p:nvCxnSpPr>
        <p:spPr>
          <a:xfrm rot="10800000">
            <a:off x="3425972" y="3078338"/>
            <a:ext cx="1420387" cy="391826"/>
          </a:xfrm>
          <a:prstGeom prst="bentConnector3">
            <a:avLst>
              <a:gd name="adj1" fmla="val 43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89468727-50D5-1BBF-691F-3C332EF5F2EB}"/>
              </a:ext>
            </a:extLst>
          </p:cNvPr>
          <p:cNvSpPr txBox="1"/>
          <p:nvPr/>
        </p:nvSpPr>
        <p:spPr>
          <a:xfrm>
            <a:off x="3502116" y="2759585"/>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Tree>
    <p:extLst>
      <p:ext uri="{BB962C8B-B14F-4D97-AF65-F5344CB8AC3E}">
        <p14:creationId xmlns:p14="http://schemas.microsoft.com/office/powerpoint/2010/main" val="4040067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(responsabile)</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2E25FE3A-BB27-98A4-D897-3B3E9736B2F5}"/>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876724B4-F4E0-42CC-2FC2-6B5E3E0818DD}"/>
              </a:ext>
            </a:extLst>
          </p:cNvPr>
          <p:cNvSpPr txBox="1"/>
          <p:nvPr/>
        </p:nvSpPr>
        <p:spPr>
          <a:xfrm>
            <a:off x="206968" y="4951383"/>
            <a:ext cx="143137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Save assignment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13876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collaboratore</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0"/>
              </a:spcBef>
              <a:spcAft>
                <a:spcPts val="600"/>
              </a:spcAft>
              <a:buClr>
                <a:srgbClr val="000000"/>
              </a:buClr>
              <a:buSzPts val="1100"/>
            </a:pPr>
            <a:r>
              <a:rPr lang="en-US" sz="1500" kern="0" noProof="1">
                <a:solidFill>
                  <a:schemeClr val="tx1"/>
                </a:solidFill>
              </a:rPr>
              <a:t>UserDAO: autenticazione, recupero utenti ruoli.</a:t>
            </a:r>
          </a:p>
          <a:p>
            <a:pPr marL="285750" indent="-285750">
              <a:spcBef>
                <a:spcPts val="0"/>
              </a:spcBef>
              <a:spcAft>
                <a:spcPts val="600"/>
              </a:spcAft>
              <a:buClr>
                <a:srgbClr val="000000"/>
              </a:buClr>
              <a:buSzPts val="1100"/>
            </a:pPr>
            <a:r>
              <a:rPr lang="en-US" sz="1500" kern="0" noProof="1">
                <a:solidFill>
                  <a:schemeClr val="tx1"/>
                </a:solidFill>
              </a:rPr>
              <a:t>ProjectDAO: creazione progetto, recupero per amministratore/responsabile/collaboratore, cambio stato, controlli di assegnabilità e conclusione.</a:t>
            </a:r>
          </a:p>
          <a:p>
            <a:pPr marL="285750" indent="-285750">
              <a:spcBef>
                <a:spcPts val="0"/>
              </a:spcBef>
              <a:spcAft>
                <a:spcPts val="600"/>
              </a:spcAft>
              <a:buClr>
                <a:srgbClr val="000000"/>
              </a:buClr>
              <a:buSzPts val="1100"/>
            </a:pPr>
            <a:r>
              <a:rPr lang="en-US" sz="1500" kern="0" noProof="1">
                <a:solidFill>
                  <a:schemeClr val="tx1"/>
                </a:solidFill>
              </a:rPr>
              <a:t>WPDAO: creazione WP e recupero WP per progetto, amministratore, responsabile e collaboratore.</a:t>
            </a:r>
          </a:p>
          <a:p>
            <a:pPr marL="285750" indent="-285750">
              <a:spcBef>
                <a:spcPts val="0"/>
              </a:spcBef>
              <a:spcAft>
                <a:spcPts val="600"/>
              </a:spcAft>
              <a:buClr>
                <a:srgbClr val="000000"/>
              </a:buClr>
              <a:buSzPts val="1100"/>
            </a:pPr>
            <a:r>
              <a:rPr lang="en-US" sz="1500" kern="0" noProof="1">
                <a:solidFill>
                  <a:schemeClr val="tx1"/>
                </a:solidFill>
              </a:rPr>
              <a:t>TaskDAO: creazione task, recupero task assegnati o gestiti, gestione collaboratori assegnati ai task.</a:t>
            </a:r>
          </a:p>
          <a:p>
            <a:pPr marL="285750" indent="-285750">
              <a:spcBef>
                <a:spcPts val="0"/>
              </a:spcBef>
              <a:spcAft>
                <a:spcPts val="600"/>
              </a:spcAft>
              <a:buClr>
                <a:srgbClr val="000000"/>
              </a:buClr>
              <a:buSzPts val="1100"/>
            </a:pPr>
            <a:r>
              <a:rPr lang="en-US" sz="1500" kern="0" noProof="1">
                <a:solidFill>
                  <a:schemeClr val="tx1"/>
                </a:solidFill>
              </a:rPr>
              <a:t>TaskHoursDAO: lettura/scrittura ore previste e lavorate.</a:t>
            </a:r>
          </a:p>
          <a:p>
            <a:pPr marL="285750" indent="-285750">
              <a:spcBef>
                <a:spcPts val="0"/>
              </a:spcBef>
              <a:spcAft>
                <a:spcPts val="600"/>
              </a:spcAft>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0"/>
              </a:spcBef>
              <a:spcAft>
                <a:spcPts val="600"/>
              </a:spcAft>
              <a:buClr>
                <a:srgbClr val="000000"/>
              </a:buClr>
              <a:buSzPts val="1100"/>
            </a:pPr>
            <a:r>
              <a:rPr lang="en-US" sz="1500" kern="0" noProof="1">
                <a:solidFill>
                  <a:schemeClr val="tx1"/>
                </a:solidFill>
              </a:rPr>
              <a:t>AdminFilter: controllo autenticazione e ruolo admin.</a:t>
            </a:r>
          </a:p>
          <a:p>
            <a:pPr marL="285750" indent="-285750">
              <a:spcBef>
                <a:spcPts val="0"/>
              </a:spcBef>
              <a:spcAft>
                <a:spcPts val="600"/>
              </a:spcAft>
              <a:buClr>
                <a:srgbClr val="000000"/>
              </a:buClr>
              <a:buSzPts val="1100"/>
            </a:pPr>
            <a:r>
              <a:rPr lang="en-US" sz="1500" kern="0" noProof="1">
                <a:solidFill>
                  <a:schemeClr val="tx1"/>
                </a:solidFill>
              </a:rPr>
              <a:t>TechnicalFilter: controllo autenticazione e ruolo technical.</a:t>
            </a:r>
          </a:p>
          <a:p>
            <a:pPr marL="285750" indent="-285750">
              <a:spcBef>
                <a:spcPts val="0"/>
              </a:spcBef>
              <a:spcAft>
                <a:spcPts val="600"/>
              </a:spcAft>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34748"/>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906506"/>
            <a:ext cx="7986824" cy="5923403"/>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4ED49-B888-52AC-9CEB-16F19A7781B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5B5B354-EF21-9EE1-069E-07DD4F30ED3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Admin</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0327400C-258D-5238-FF2B-3FF3CF6D89B4}"/>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marR="0" lvl="0" indent="0" algn="just" defTabSz="914400" rtl="0" eaLnBrk="1" fontAlgn="auto" latinLnBrk="0" hangingPunct="1">
              <a:lnSpc>
                <a:spcPct val="100000"/>
              </a:lnSpc>
              <a:spcBef>
                <a:spcPts val="0"/>
              </a:spcBef>
              <a:spcAft>
                <a:spcPts val="1173"/>
              </a:spcAft>
              <a:buClr>
                <a:srgbClr val="000000"/>
              </a:buClr>
              <a:buSzPts val="1100"/>
              <a:buFont typeface="Arial"/>
              <a:buNone/>
              <a:tabLst/>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versione JavaScript estende e/o modifica le specifiche dell’interfaccia come segue:</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L’interfaccia </a:t>
            </a:r>
            <a:r>
              <a:rPr lang="en-US" sz="1500" kern="0" noProof="1">
                <a:solidFill>
                  <a:schemeClr val="tx1"/>
                </a:solidFill>
              </a:rPr>
              <a:t>deve</a:t>
            </a:r>
            <a:r>
              <a:rPr kumimoji="0" lang="en-US" sz="1500" b="0" i="0" u="none" strike="noStrike" kern="0" cap="none" spc="0" normalizeH="0" baseline="0" noProof="1">
                <a:ln>
                  <a:noFill/>
                </a:ln>
                <a:solidFill>
                  <a:schemeClr val="tx1"/>
                </a:solidFill>
                <a:effectLst/>
                <a:uLnTx/>
                <a:uFillTx/>
                <a:latin typeface="Calibri"/>
                <a:cs typeface="Calibri"/>
                <a:sym typeface="Calibri"/>
              </a:rPr>
              <a:t>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creazione completa di un progetto dei suoi WP e task deve avvenire inizialmente solo nel client. Quando l'inserimento di tutti i dati è completo (tutti i WP e task sono stati inseriti con tutti i loro attributi e le loro relazioni), un bottone SALVA permette la registrazione permanente del progetto e dei suoi WP e task nella base di dati.  Il tentativo di creare un progetto senza WP o un WP senza task comporta il fallimento del salvataggio, ma non la perdita dei dati inseriti a lato client fino a quel momento.</a:t>
            </a:r>
          </a:p>
          <a:p>
            <a:pPr marL="285750"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Dopo la creazione del progetto tramite form, la creazione di WP e task avviene mediante un bottone “+”.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progetto permette di aggiungere un WP in coda all’elenco di quelli esistenti (o di aggiungere il primo WP se non ne sono ancora stati creati). Il nuovo WP ha un titolo provvisorio (ad esempio “Titolo del WP”) e durata pari a quella del progetto (da mese 1 a mese N). Cliccando sul valore di ciascuno degli attributi del WP è possibile modificare il valore di default.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WP permette di aggiungere un task in coda all’elenco di quelli esistenti. Il nuovo task ha  un titolo provvisorio (ad esempio “Titolo del task”) e durata pari a quella del WP. Cliccando sul valore di ciascuno degli attributi del task è possibile modificare il  valore di default. </a:t>
            </a:r>
          </a:p>
          <a:p>
            <a:pPr marL="822183" lvl="1"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definizione del numero d’ordine di WP e task avviene in modo automatico.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Un bottone “-” accanto a un WP (o a un task) ne provoca la cancellazione. La cancellazione di un WP o di un task può richiedere la modifica automatica del numero d’ordine dei WP o dei task successivi. Se si elimina un WP, i task a lui figli devono essere eliminati in cascata.</a:t>
            </a:r>
          </a:p>
        </p:txBody>
      </p:sp>
    </p:spTree>
    <p:extLst>
      <p:ext uri="{BB962C8B-B14F-4D97-AF65-F5344CB8AC3E}">
        <p14:creationId xmlns:p14="http://schemas.microsoft.com/office/powerpoint/2010/main" val="11482053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FC387-6DF2-B34B-322F-8EA4B1D40DC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44876B9-2664-F3F2-3C44-148AC94F4D57}"/>
              </a:ext>
            </a:extLst>
          </p:cNvPr>
          <p:cNvSpPr txBox="1">
            <a:spLocks/>
          </p:cNvSpPr>
          <p:nvPr/>
        </p:nvSpPr>
        <p:spPr>
          <a:xfrm>
            <a:off x="226273" y="258833"/>
            <a:ext cx="11739453"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Responsabile e Collaboratore</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1273022D-0438-5D57-5B56-3F8646025BB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0" lvl="0" indent="0" algn="just">
              <a:spcBef>
                <a:spcPts val="0"/>
              </a:spcBef>
              <a:spcAft>
                <a:spcPts val="1173"/>
              </a:spcAft>
              <a:buClr>
                <a:srgbClr val="000000"/>
              </a:buClr>
              <a:buSzPts val="1100"/>
              <a:buNone/>
              <a:defRPr/>
            </a:pPr>
            <a:endParaRPr lang="en-US" sz="1500" kern="0" noProof="1">
              <a:solidFill>
                <a:schemeClr val="tx1"/>
              </a:solidFill>
            </a:endParaRP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lang="en-US" sz="1500" kern="0" noProof="1">
                <a:solidFill>
                  <a:schemeClr val="tx1"/>
                </a:solidFill>
              </a:rPr>
              <a:t>Il caricamento dei progetti, WP e task deve avvenire all’accesso alla pagina HOME COLLABORATORE e la selezione di un progetto non deve ricaricare i dati dal server.</a:t>
            </a:r>
          </a:p>
          <a:p>
            <a:pPr marL="285750" indent="-285750" algn="just">
              <a:spcBef>
                <a:spcPts val="0"/>
              </a:spcBef>
              <a:spcAft>
                <a:spcPts val="1173"/>
              </a:spcAft>
              <a:buClr>
                <a:srgbClr val="000000"/>
              </a:buClr>
              <a:buSzPts val="1100"/>
              <a:defRPr/>
            </a:pPr>
            <a:r>
              <a:rPr lang="en-US" sz="1500" kern="0" noProof="1">
                <a:solidFill>
                  <a:schemeClr val="tx1"/>
                </a:solidFill>
              </a:rPr>
              <a:t>La pagina HOME COLLABORATORE mostra l’elenco dei progetti per cui il collaboratore è assegnato ad almeno un task. Selezionando un progetto dall’elenco compare una tabella con la struttura mostrata di seguito. Le celle che riportano le ore lavorate sono modificabili. Cliccando sulla cella l'utente può editare un numero intero di ore lavorate. L’uscita del puntatore del mouse dalla cella provoca il salvataggio automatico del valore nella base di dati. Eventuali errori di inserimento (ad esempio l'inserimento di una valore negativo o non intero) producono un messaggio di errore e prevengono il salvataggio nella base di dati.</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10451998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5ED07-EDB5-8623-80B5-87FDBC4401B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DC86EB8-B8A5-5ADE-37B1-283F978E92E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Completamento delle specifiche Javascript</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4B90A310-6A58-58A4-1419-CE1FE0277E7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defRPr/>
            </a:pPr>
            <a:r>
              <a:rPr lang="en-US" sz="1500" kern="0" noProof="1">
                <a:solidFill>
                  <a:schemeClr val="tx1"/>
                </a:solidFill>
              </a:rPr>
              <a:t>Accesso all’applicazione: dopo il login, per gli utenti con ruolo tecnico, i link per la scelta dell'area operativa (Responsabile o Collaboratore) compaiono all'interno della stessa form di login, reindirizzando l'utente alle rispettive interfacce single page.</a:t>
            </a:r>
          </a:p>
          <a:p>
            <a:pPr marL="285750" indent="-285750">
              <a:spcBef>
                <a:spcPts val="0"/>
              </a:spcBef>
              <a:spcAft>
                <a:spcPts val="1173"/>
              </a:spcAft>
              <a:buClr>
                <a:srgbClr val="000000"/>
              </a:buClr>
              <a:buSzPts val="1100"/>
              <a:defRPr/>
            </a:pPr>
            <a:r>
              <a:rPr lang="en-US" sz="1500" kern="0" noProof="1">
                <a:solidFill>
                  <a:schemeClr val="tx1"/>
                </a:solidFill>
              </a:rPr>
              <a:t>Interfacce per ruolo: ogni area applicativa è realizzata come Single Page Application. L’invio di richieste al server è gestito in modo asincrono, provocando l’aggiornamento parziale dell’interfaccia senza mai richiedere il ricaricamento completo della pagina.</a:t>
            </a:r>
          </a:p>
          <a:p>
            <a:pPr marL="285750" indent="-285750">
              <a:spcBef>
                <a:spcPts val="0"/>
              </a:spcBef>
              <a:spcAft>
                <a:spcPts val="1173"/>
              </a:spcAft>
              <a:buClr>
                <a:srgbClr val="000000"/>
              </a:buClr>
              <a:buSzPts val="1100"/>
              <a:defRPr/>
            </a:pPr>
            <a:r>
              <a:rPr lang="en-US" sz="1500" kern="0" noProof="1">
                <a:solidFill>
                  <a:schemeClr val="tx1"/>
                </a:solidFill>
              </a:rPr>
              <a:t>Amministratore – struttura del progetto: la creazione dell'intero albero del progetto, con WP e task, avviene inizialmente solo lato client. L'amministratore può aggiungere, modificare ed eliminare i nodi della struttura in memoria locale.</a:t>
            </a:r>
          </a:p>
          <a:p>
            <a:pPr marL="285750" indent="-285750">
              <a:spcBef>
                <a:spcPts val="0"/>
              </a:spcBef>
              <a:spcAft>
                <a:spcPts val="1173"/>
              </a:spcAft>
              <a:buClr>
                <a:srgbClr val="000000"/>
              </a:buClr>
              <a:buSzPts val="1100"/>
              <a:defRPr/>
            </a:pPr>
            <a:r>
              <a:rPr lang="en-US" sz="1500" kern="0" noProof="1">
                <a:solidFill>
                  <a:schemeClr val="tx1"/>
                </a:solidFill>
              </a:rPr>
              <a:t>Amministratore – salvataggio definitivo: l'azione di salvataggio registra in modo permanente nel database l'intero progetto strutturato. Un progetto senza WP o un WP senza task non supera la validazione di salvataggio, ma la bozza lato client non viene persa e resta a disposizione per ulteriori modifiche.</a:t>
            </a:r>
          </a:p>
          <a:p>
            <a:pPr marL="285750" indent="-285750">
              <a:spcBef>
                <a:spcPts val="0"/>
              </a:spcBef>
              <a:spcAft>
                <a:spcPts val="1173"/>
              </a:spcAft>
              <a:buClr>
                <a:srgbClr val="000000"/>
              </a:buClr>
              <a:buSzPts val="1100"/>
              <a:defRPr/>
            </a:pPr>
            <a:r>
              <a:rPr lang="en-US" sz="1500" kern="0" noProof="1">
                <a:solidFill>
                  <a:schemeClr val="tx1"/>
                </a:solidFill>
              </a:rPr>
              <a:t>Amministratore – gestione post-salvataggio: coerentemente con la versione base, le operazioni di modifica, cancellazione e rinumerazione agiscono unicamente sulla struttura temporanea lato frontend. Una volta salvato, il progetto è persistito e non sono previsti endpoint di backend per modificarlo o eliminarlo successivamente.</a:t>
            </a:r>
          </a:p>
          <a:p>
            <a:pPr marL="285750" indent="-285750">
              <a:spcBef>
                <a:spcPts val="0"/>
              </a:spcBef>
              <a:spcAft>
                <a:spcPts val="1173"/>
              </a:spcAft>
              <a:buClr>
                <a:srgbClr val="000000"/>
              </a:buClr>
              <a:buSzPts val="1100"/>
              <a:defRPr/>
            </a:pPr>
            <a:r>
              <a:rPr lang="en-US" sz="1500" kern="0" noProof="1">
                <a:solidFill>
                  <a:schemeClr val="tx1"/>
                </a:solidFill>
              </a:rPr>
              <a:t>Amministratore – undo/redo: la cronologia delle operazioni è limitata alla manipolazione della bozza lato client in fase di costruzione.</a:t>
            </a:r>
          </a:p>
          <a:p>
            <a:pPr marL="285750" indent="-285750">
              <a:spcBef>
                <a:spcPts val="0"/>
              </a:spcBef>
              <a:spcAft>
                <a:spcPts val="1173"/>
              </a:spcAft>
              <a:buClr>
                <a:srgbClr val="000000"/>
              </a:buClr>
              <a:buSzPts val="1100"/>
              <a:defRPr/>
            </a:pPr>
            <a:r>
              <a:rPr lang="en-US" sz="1500" kern="0" noProof="1">
                <a:solidFill>
                  <a:schemeClr val="tx1"/>
                </a:solidFill>
              </a:rPr>
              <a:t>Collaboratore – caricamento dati: le gerarchie di progetti, WP e task vengono caricate all’accesso alla home collaboratore. Le selezioni successive all'interno dell'interfaccia filtrano e aggiornano solo la vista locale, senza effettuare ulteriori fetch dal server.</a:t>
            </a:r>
          </a:p>
          <a:p>
            <a:pPr marL="285750" indent="-285750">
              <a:spcBef>
                <a:spcPts val="0"/>
              </a:spcBef>
              <a:spcAft>
                <a:spcPts val="1173"/>
              </a:spcAft>
              <a:buClr>
                <a:srgbClr val="000000"/>
              </a:buClr>
              <a:buSzPts val="1100"/>
              <a:defRPr/>
            </a:pPr>
            <a:r>
              <a:rPr lang="en-US" sz="1500" kern="0" noProof="1">
                <a:solidFill>
                  <a:schemeClr val="tx1"/>
                </a:solidFill>
              </a:rPr>
              <a:t>Validazioni e usabilità: l'interfaccia client intercetta istantaneamente gli errori di inserimento (es. valori negativi o non interi) e previene il salvataggio tramite messaggi asincroni, pur lasciando al server la validazione autoritativa finale dei dati persistiti.</a:t>
            </a:r>
          </a:p>
        </p:txBody>
      </p:sp>
    </p:spTree>
    <p:extLst>
      <p:ext uri="{BB962C8B-B14F-4D97-AF65-F5344CB8AC3E}">
        <p14:creationId xmlns:p14="http://schemas.microsoft.com/office/powerpoint/2010/main" val="34675071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285B-305C-993C-E133-8155783F54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E14BE1B-9A27-36F6-5789-72F1B5E595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CE2F5976-D3CA-CF93-46E4-44B3723AF159}"/>
              </a:ext>
            </a:extLst>
          </p:cNvPr>
          <p:cNvSpPr/>
          <p:nvPr/>
        </p:nvSpPr>
        <p:spPr>
          <a:xfrm>
            <a:off x="600668" y="2258573"/>
            <a:ext cx="2830461" cy="426464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7FF04702-684E-461E-F487-BB6B35330408}"/>
              </a:ext>
            </a:extLst>
          </p:cNvPr>
          <p:cNvSpPr/>
          <p:nvPr/>
        </p:nvSpPr>
        <p:spPr>
          <a:xfrm>
            <a:off x="761177" y="2870369"/>
            <a:ext cx="2402248" cy="102080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a:p>
            <a:pPr algn="ctr"/>
            <a:r>
              <a:rPr lang="en-US" dirty="0">
                <a:solidFill>
                  <a:schemeClr val="tx1"/>
                </a:solidFill>
                <a:latin typeface="Calibri" panose="020F0502020204030204" pitchFamily="34" charset="0"/>
                <a:cs typeface="Calibri" panose="020F0502020204030204" pitchFamily="34" charset="0"/>
              </a:rPr>
              <a:t>[field: username</a:t>
            </a:r>
          </a:p>
          <a:p>
            <a:pPr algn="ctr"/>
            <a:r>
              <a:rPr lang="en-US" dirty="0">
                <a:solidFill>
                  <a:schemeClr val="tx1"/>
                </a:solidFill>
                <a:latin typeface="Calibri" panose="020F0502020204030204" pitchFamily="34" charset="0"/>
                <a:cs typeface="Calibri" panose="020F0502020204030204" pitchFamily="34" charset="0"/>
              </a:rPr>
              <a:t>field: password]</a:t>
            </a:r>
          </a:p>
        </p:txBody>
      </p:sp>
      <p:sp>
        <p:nvSpPr>
          <p:cNvPr id="11" name="Parallelogram 10">
            <a:extLst>
              <a:ext uri="{FF2B5EF4-FFF2-40B4-BE49-F238E27FC236}">
                <a16:creationId xmlns:a16="http://schemas.microsoft.com/office/drawing/2014/main" id="{A32CD9A2-EEF1-46E3-1D81-74F61CFC997E}"/>
              </a:ext>
            </a:extLst>
          </p:cNvPr>
          <p:cNvSpPr/>
          <p:nvPr/>
        </p:nvSpPr>
        <p:spPr>
          <a:xfrm>
            <a:off x="5335504" y="25987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67E9E2ED-375E-D371-8241-9675C28F0613}"/>
              </a:ext>
            </a:extLst>
          </p:cNvPr>
          <p:cNvSpPr/>
          <p:nvPr/>
        </p:nvSpPr>
        <p:spPr>
          <a:xfrm>
            <a:off x="2924017" y="274639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EF38B609-5D9E-061A-1219-39AC5CFAE9E1}"/>
              </a:ext>
            </a:extLst>
          </p:cNvPr>
          <p:cNvSpPr txBox="1"/>
          <p:nvPr/>
        </p:nvSpPr>
        <p:spPr>
          <a:xfrm>
            <a:off x="2219263" y="25957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554E0FBC-12BE-11FD-A496-59CA52A379AC}"/>
              </a:ext>
            </a:extLst>
          </p:cNvPr>
          <p:cNvCxnSpPr>
            <a:cxnSpLocks/>
          </p:cNvCxnSpPr>
          <p:nvPr/>
        </p:nvCxnSpPr>
        <p:spPr>
          <a:xfrm>
            <a:off x="3093177" y="2890413"/>
            <a:ext cx="232921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7B361CB-836A-1461-51E3-736BB95B0310}"/>
              </a:ext>
            </a:extLst>
          </p:cNvPr>
          <p:cNvCxnSpPr>
            <a:cxnSpLocks/>
            <a:stCxn id="11" idx="2"/>
          </p:cNvCxnSpPr>
          <p:nvPr/>
        </p:nvCxnSpPr>
        <p:spPr>
          <a:xfrm>
            <a:off x="6621861" y="2925921"/>
            <a:ext cx="1829141"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Rectangle 121">
            <a:extLst>
              <a:ext uri="{FF2B5EF4-FFF2-40B4-BE49-F238E27FC236}">
                <a16:creationId xmlns:a16="http://schemas.microsoft.com/office/drawing/2014/main" id="{5485F36D-43BA-D1E2-D2D1-11058D16044B}"/>
              </a:ext>
            </a:extLst>
          </p:cNvPr>
          <p:cNvSpPr/>
          <p:nvPr/>
        </p:nvSpPr>
        <p:spPr>
          <a:xfrm>
            <a:off x="8450073" y="2810346"/>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BCEE75D3-1A18-202E-78DC-44D5BA1AAACE}"/>
              </a:ext>
            </a:extLst>
          </p:cNvPr>
          <p:cNvSpPr/>
          <p:nvPr/>
        </p:nvSpPr>
        <p:spPr>
          <a:xfrm>
            <a:off x="10542396" y="264595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2C2965FC-9176-3B5A-616E-EE51647263F9}"/>
              </a:ext>
            </a:extLst>
          </p:cNvPr>
          <p:cNvSpPr txBox="1"/>
          <p:nvPr/>
        </p:nvSpPr>
        <p:spPr>
          <a:xfrm>
            <a:off x="9825321" y="2503212"/>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30" name="TextBox 129">
            <a:extLst>
              <a:ext uri="{FF2B5EF4-FFF2-40B4-BE49-F238E27FC236}">
                <a16:creationId xmlns:a16="http://schemas.microsoft.com/office/drawing/2014/main" id="{4E4102F9-7C9C-FCE6-0926-A6C909B85324}"/>
              </a:ext>
            </a:extLst>
          </p:cNvPr>
          <p:cNvSpPr txBox="1"/>
          <p:nvPr/>
        </p:nvSpPr>
        <p:spPr>
          <a:xfrm>
            <a:off x="5873920" y="4854516"/>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6C9E1C7E-E49A-4D17-DE4D-9F0F55628989}"/>
              </a:ext>
            </a:extLst>
          </p:cNvPr>
          <p:cNvCxnSpPr>
            <a:cxnSpLocks/>
            <a:stCxn id="125" idx="0"/>
            <a:endCxn id="2" idx="0"/>
          </p:cNvCxnSpPr>
          <p:nvPr/>
        </p:nvCxnSpPr>
        <p:spPr>
          <a:xfrm rot="16200000" flipV="1">
            <a:off x="6157467" y="-1882995"/>
            <a:ext cx="387378" cy="8670513"/>
          </a:xfrm>
          <a:prstGeom prst="bentConnector3">
            <a:avLst>
              <a:gd name="adj1" fmla="val 1590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C86918C5-CC9A-B75D-9785-23DFCDDA2E31}"/>
              </a:ext>
            </a:extLst>
          </p:cNvPr>
          <p:cNvCxnSpPr>
            <a:cxnSpLocks/>
            <a:stCxn id="129" idx="6"/>
            <a:endCxn id="2" idx="0"/>
          </p:cNvCxnSpPr>
          <p:nvPr/>
        </p:nvCxnSpPr>
        <p:spPr>
          <a:xfrm flipH="1" flipV="1">
            <a:off x="2015899" y="2258573"/>
            <a:ext cx="4846036" cy="2865606"/>
          </a:xfrm>
          <a:prstGeom prst="bentConnector4">
            <a:avLst>
              <a:gd name="adj1" fmla="val -84722"/>
              <a:gd name="adj2" fmla="val 113083"/>
            </a:avLst>
          </a:prstGeom>
          <a:ln>
            <a:tailEnd type="arrow"/>
          </a:ln>
        </p:spPr>
        <p:style>
          <a:lnRef idx="2">
            <a:schemeClr val="accent1"/>
          </a:lnRef>
          <a:fillRef idx="0">
            <a:schemeClr val="accent1"/>
          </a:fillRef>
          <a:effectRef idx="1">
            <a:schemeClr val="accent1"/>
          </a:effectRef>
          <a:fontRef idx="minor">
            <a:schemeClr val="tx1"/>
          </a:fontRef>
        </p:style>
      </p:cxnSp>
      <p:sp>
        <p:nvSpPr>
          <p:cNvPr id="153" name="TextBox 152">
            <a:extLst>
              <a:ext uri="{FF2B5EF4-FFF2-40B4-BE49-F238E27FC236}">
                <a16:creationId xmlns:a16="http://schemas.microsoft.com/office/drawing/2014/main" id="{66722EB9-03F9-6CF5-73BD-CC1CD130DDB4}"/>
              </a:ext>
            </a:extLst>
          </p:cNvPr>
          <p:cNvSpPr txBox="1"/>
          <p:nvPr/>
        </p:nvSpPr>
        <p:spPr>
          <a:xfrm>
            <a:off x="6892572" y="2631194"/>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4C6D814A-16F8-AD75-9ECE-C921B6220E68}"/>
              </a:ext>
            </a:extLst>
          </p:cNvPr>
          <p:cNvSpPr txBox="1"/>
          <p:nvPr/>
        </p:nvSpPr>
        <p:spPr>
          <a:xfrm>
            <a:off x="4771024" y="3806640"/>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9260D8C9-6A70-28B2-3949-A22911B24CA7}"/>
              </a:ext>
            </a:extLst>
          </p:cNvPr>
          <p:cNvSpPr txBox="1"/>
          <p:nvPr/>
        </p:nvSpPr>
        <p:spPr>
          <a:xfrm>
            <a:off x="6853749" y="2902691"/>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546F575B-5CD5-CBFC-006D-4D3360D68FF4}"/>
              </a:ext>
            </a:extLst>
          </p:cNvPr>
          <p:cNvSpPr txBox="1"/>
          <p:nvPr/>
        </p:nvSpPr>
        <p:spPr>
          <a:xfrm>
            <a:off x="3901083" y="4102316"/>
            <a:ext cx="2876428" cy="338554"/>
          </a:xfrm>
          <a:prstGeom prst="rect">
            <a:avLst/>
          </a:prstGeom>
          <a:noFill/>
        </p:spPr>
        <p:txBody>
          <a:bodyPr wrap="none" rtlCol="0">
            <a:spAutoFit/>
          </a:bodyPr>
          <a:lstStyle/>
          <a:p>
            <a:r>
              <a:rPr lang="en-US" sz="1600" dirty="0">
                <a:solidFill>
                  <a:prstClr val="black"/>
                </a:solidFill>
                <a:latin typeface="Calibri"/>
              </a:rPr>
              <a:t>show role links + 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cxnSp>
        <p:nvCxnSpPr>
          <p:cNvPr id="5" name="Elbow Connector 4">
            <a:extLst>
              <a:ext uri="{FF2B5EF4-FFF2-40B4-BE49-F238E27FC236}">
                <a16:creationId xmlns:a16="http://schemas.microsoft.com/office/drawing/2014/main" id="{CAC4651C-2F4D-81F6-DFB4-89A6CE46F1D3}"/>
              </a:ext>
            </a:extLst>
          </p:cNvPr>
          <p:cNvCxnSpPr>
            <a:cxnSpLocks/>
          </p:cNvCxnSpPr>
          <p:nvPr/>
        </p:nvCxnSpPr>
        <p:spPr>
          <a:xfrm rot="10800000" flipV="1">
            <a:off x="3449446" y="3252179"/>
            <a:ext cx="2923168" cy="851163"/>
          </a:xfrm>
          <a:prstGeom prst="bentConnector3">
            <a:avLst>
              <a:gd name="adj1" fmla="val 576"/>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249C6025-A9AA-B91E-49C4-22F0278A17E0}"/>
              </a:ext>
            </a:extLst>
          </p:cNvPr>
          <p:cNvSpPr/>
          <p:nvPr/>
        </p:nvSpPr>
        <p:spPr>
          <a:xfrm>
            <a:off x="760746" y="5376977"/>
            <a:ext cx="2402248" cy="8638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9" name="Oval 18">
            <a:extLst>
              <a:ext uri="{FF2B5EF4-FFF2-40B4-BE49-F238E27FC236}">
                <a16:creationId xmlns:a16="http://schemas.microsoft.com/office/drawing/2014/main" id="{8B24AB13-46D6-7D41-A3FB-C0B49BC9CEA9}"/>
              </a:ext>
            </a:extLst>
          </p:cNvPr>
          <p:cNvSpPr/>
          <p:nvPr/>
        </p:nvSpPr>
        <p:spPr>
          <a:xfrm>
            <a:off x="2987614" y="53248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CD64E53-DBFA-DADB-16D0-88ABE2721836}"/>
              </a:ext>
            </a:extLst>
          </p:cNvPr>
          <p:cNvSpPr txBox="1"/>
          <p:nvPr/>
        </p:nvSpPr>
        <p:spPr>
          <a:xfrm>
            <a:off x="1850175" y="5095289"/>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21" name="Oval 20">
            <a:extLst>
              <a:ext uri="{FF2B5EF4-FFF2-40B4-BE49-F238E27FC236}">
                <a16:creationId xmlns:a16="http://schemas.microsoft.com/office/drawing/2014/main" id="{B25D1E10-C4EE-B833-2601-6818C41C07B9}"/>
              </a:ext>
            </a:extLst>
          </p:cNvPr>
          <p:cNvSpPr/>
          <p:nvPr/>
        </p:nvSpPr>
        <p:spPr>
          <a:xfrm>
            <a:off x="2977804" y="60130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A3971466-EBF2-3442-25CB-3D1A19D7812D}"/>
              </a:ext>
            </a:extLst>
          </p:cNvPr>
          <p:cNvSpPr txBox="1"/>
          <p:nvPr/>
        </p:nvSpPr>
        <p:spPr>
          <a:xfrm>
            <a:off x="1847175" y="6160331"/>
            <a:ext cx="1241558" cy="338554"/>
          </a:xfrm>
          <a:prstGeom prst="rect">
            <a:avLst/>
          </a:prstGeom>
          <a:noFill/>
        </p:spPr>
        <p:txBody>
          <a:bodyPr wrap="none" rtlCol="0">
            <a:spAutoFit/>
          </a:bodyPr>
          <a:lstStyle/>
          <a:p>
            <a:r>
              <a:rPr lang="en-US" sz="1600" dirty="0" err="1">
                <a:solidFill>
                  <a:prstClr val="black"/>
                </a:solidFill>
                <a:latin typeface="Calibri" panose="020F0502020204030204" pitchFamily="34" charset="0"/>
                <a:cs typeface="Calibri" panose="020F0502020204030204" pitchFamily="34" charset="0"/>
              </a:rPr>
              <a:t>responsabile</a:t>
            </a:r>
            <a:endParaRPr lang="en-US" sz="1600" dirty="0">
              <a:solidFill>
                <a:prstClr val="black"/>
              </a:solidFill>
              <a:latin typeface="Calibri" panose="020F0502020204030204" pitchFamily="34" charset="0"/>
              <a:cs typeface="Calibri" panose="020F0502020204030204" pitchFamily="34" charset="0"/>
            </a:endParaRPr>
          </a:p>
        </p:txBody>
      </p:sp>
      <p:cxnSp>
        <p:nvCxnSpPr>
          <p:cNvPr id="23" name="Straight Connector 22">
            <a:extLst>
              <a:ext uri="{FF2B5EF4-FFF2-40B4-BE49-F238E27FC236}">
                <a16:creationId xmlns:a16="http://schemas.microsoft.com/office/drawing/2014/main" id="{00422D8E-722B-CD35-8ACC-3C62847B39A6}"/>
              </a:ext>
            </a:extLst>
          </p:cNvPr>
          <p:cNvCxnSpPr>
            <a:cxnSpLocks/>
            <a:endCxn id="25" idx="1"/>
          </p:cNvCxnSpPr>
          <p:nvPr/>
        </p:nvCxnSpPr>
        <p:spPr>
          <a:xfrm>
            <a:off x="3265836" y="5482303"/>
            <a:ext cx="14043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D41432D-0E3F-FF6F-7056-3DCE6FAEBC22}"/>
              </a:ext>
            </a:extLst>
          </p:cNvPr>
          <p:cNvCxnSpPr>
            <a:cxnSpLocks/>
          </p:cNvCxnSpPr>
          <p:nvPr/>
        </p:nvCxnSpPr>
        <p:spPr>
          <a:xfrm>
            <a:off x="3093177" y="6157062"/>
            <a:ext cx="1586807"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1A42E117-8F9A-BC30-F5BB-E78BF1B6A590}"/>
              </a:ext>
            </a:extLst>
          </p:cNvPr>
          <p:cNvSpPr/>
          <p:nvPr/>
        </p:nvSpPr>
        <p:spPr>
          <a:xfrm>
            <a:off x="4670175" y="515072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26" name="Rectangle 25">
            <a:extLst>
              <a:ext uri="{FF2B5EF4-FFF2-40B4-BE49-F238E27FC236}">
                <a16:creationId xmlns:a16="http://schemas.microsoft.com/office/drawing/2014/main" id="{D3418EAB-3758-F8AE-0CC3-8D5B36F46E74}"/>
              </a:ext>
            </a:extLst>
          </p:cNvPr>
          <p:cNvSpPr/>
          <p:nvPr/>
        </p:nvSpPr>
        <p:spPr>
          <a:xfrm>
            <a:off x="4670174" y="608034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t>
            </a:r>
            <a:r>
              <a:rPr lang="en-US" dirty="0" err="1">
                <a:latin typeface="Calibri" panose="020F0502020204030204" pitchFamily="34" charset="0"/>
                <a:cs typeface="Calibri" panose="020F0502020204030204" pitchFamily="34" charset="0"/>
              </a:rPr>
              <a:t>Responsabile</a:t>
            </a:r>
            <a:endParaRPr lang="en-US" dirty="0">
              <a:latin typeface="Calibri" panose="020F0502020204030204" pitchFamily="34" charset="0"/>
              <a:cs typeface="Calibri" panose="020F0502020204030204" pitchFamily="34" charset="0"/>
            </a:endParaRPr>
          </a:p>
        </p:txBody>
      </p:sp>
      <p:sp>
        <p:nvSpPr>
          <p:cNvPr id="30" name="Oval 29">
            <a:extLst>
              <a:ext uri="{FF2B5EF4-FFF2-40B4-BE49-F238E27FC236}">
                <a16:creationId xmlns:a16="http://schemas.microsoft.com/office/drawing/2014/main" id="{C5543132-0D84-6B7F-0A8D-EEA50D1E52B0}"/>
              </a:ext>
            </a:extLst>
          </p:cNvPr>
          <p:cNvSpPr/>
          <p:nvPr/>
        </p:nvSpPr>
        <p:spPr>
          <a:xfrm>
            <a:off x="6573903" y="588312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1" name="TextBox 30">
            <a:extLst>
              <a:ext uri="{FF2B5EF4-FFF2-40B4-BE49-F238E27FC236}">
                <a16:creationId xmlns:a16="http://schemas.microsoft.com/office/drawing/2014/main" id="{14AB843F-02F8-984C-6360-653D57D03D6C}"/>
              </a:ext>
            </a:extLst>
          </p:cNvPr>
          <p:cNvSpPr txBox="1"/>
          <p:nvPr/>
        </p:nvSpPr>
        <p:spPr>
          <a:xfrm>
            <a:off x="5883064" y="5784907"/>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0C6AA652-1887-715A-FEA8-9CE95D9447AC}"/>
              </a:ext>
            </a:extLst>
          </p:cNvPr>
          <p:cNvSpPr/>
          <p:nvPr/>
        </p:nvSpPr>
        <p:spPr>
          <a:xfrm>
            <a:off x="6573903" y="49801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2" name="Elbow Connector 31">
            <a:extLst>
              <a:ext uri="{FF2B5EF4-FFF2-40B4-BE49-F238E27FC236}">
                <a16:creationId xmlns:a16="http://schemas.microsoft.com/office/drawing/2014/main" id="{0B2234E1-C421-7BBF-C3A6-C9C6E79DAA6D}"/>
              </a:ext>
            </a:extLst>
          </p:cNvPr>
          <p:cNvCxnSpPr>
            <a:cxnSpLocks/>
            <a:stCxn id="30" idx="6"/>
            <a:endCxn id="2" idx="0"/>
          </p:cNvCxnSpPr>
          <p:nvPr/>
        </p:nvCxnSpPr>
        <p:spPr>
          <a:xfrm flipH="1" flipV="1">
            <a:off x="2015899" y="2258573"/>
            <a:ext cx="4846036" cy="3768565"/>
          </a:xfrm>
          <a:prstGeom prst="bentConnector4">
            <a:avLst>
              <a:gd name="adj1" fmla="val -90194"/>
              <a:gd name="adj2" fmla="val 11383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6" name="Elbow Connector 45">
            <a:extLst>
              <a:ext uri="{FF2B5EF4-FFF2-40B4-BE49-F238E27FC236}">
                <a16:creationId xmlns:a16="http://schemas.microsoft.com/office/drawing/2014/main" id="{32696338-CD38-576F-7D7A-BE058547B07C}"/>
              </a:ext>
            </a:extLst>
          </p:cNvPr>
          <p:cNvCxnSpPr>
            <a:cxnSpLocks/>
          </p:cNvCxnSpPr>
          <p:nvPr/>
        </p:nvCxnSpPr>
        <p:spPr>
          <a:xfrm rot="10800000" flipV="1">
            <a:off x="3449446" y="3255948"/>
            <a:ext cx="2016000" cy="384529"/>
          </a:xfrm>
          <a:prstGeom prst="bentConnector3">
            <a:avLst>
              <a:gd name="adj1" fmla="val 561"/>
            </a:avLst>
          </a:prstGeom>
          <a:ln>
            <a:tailEnd type="arrow"/>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DED596E-A40F-CF94-F8AC-292CB3B420E0}"/>
              </a:ext>
            </a:extLst>
          </p:cNvPr>
          <p:cNvSpPr txBox="1"/>
          <p:nvPr/>
        </p:nvSpPr>
        <p:spPr>
          <a:xfrm>
            <a:off x="3639641" y="3342748"/>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66" name="Google Shape;208;p33">
            <a:extLst>
              <a:ext uri="{FF2B5EF4-FFF2-40B4-BE49-F238E27FC236}">
                <a16:creationId xmlns:a16="http://schemas.microsoft.com/office/drawing/2014/main" id="{242C13B5-3875-7E3A-0DBB-646B2B34683A}"/>
              </a:ext>
            </a:extLst>
          </p:cNvPr>
          <p:cNvSpPr txBox="1"/>
          <p:nvPr/>
        </p:nvSpPr>
        <p:spPr>
          <a:xfrm>
            <a:off x="5678847" y="2224421"/>
            <a:ext cx="152341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200" dirty="0">
                <a:solidFill>
                  <a:schemeClr val="dk1"/>
                </a:solidFill>
                <a:latin typeface="Calibri"/>
                <a:ea typeface="Calibri"/>
                <a:cs typeface="Calibri"/>
                <a:sym typeface="Calibri"/>
              </a:rPr>
              <a:t>username, password</a:t>
            </a:r>
            <a:endParaRPr sz="1200" dirty="0">
              <a:solidFill>
                <a:schemeClr val="dk1"/>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17863891-EA95-EB3C-1A8B-E07AEB4D7821}"/>
              </a:ext>
            </a:extLst>
          </p:cNvPr>
          <p:cNvCxnSpPr>
            <a:cxnSpLocks/>
            <a:stCxn id="66" idx="2"/>
            <a:endCxn id="11" idx="1"/>
          </p:cNvCxnSpPr>
          <p:nvPr/>
        </p:nvCxnSpPr>
        <p:spPr>
          <a:xfrm flipH="1">
            <a:off x="6101375" y="2480078"/>
            <a:ext cx="339181" cy="118663"/>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726778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F927C-68D2-B979-1E14-1055B625362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82063CD-D62D-AA5E-2029-61642724E8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152" name="Parallelogram 151">
            <a:extLst>
              <a:ext uri="{FF2B5EF4-FFF2-40B4-BE49-F238E27FC236}">
                <a16:creationId xmlns:a16="http://schemas.microsoft.com/office/drawing/2014/main" id="{D260C455-5809-FE32-EDEC-AAF5ADBEF646}"/>
              </a:ext>
            </a:extLst>
          </p:cNvPr>
          <p:cNvSpPr/>
          <p:nvPr/>
        </p:nvSpPr>
        <p:spPr>
          <a:xfrm>
            <a:off x="9841321" y="443048"/>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Projects Structures</a:t>
            </a:r>
          </a:p>
        </p:txBody>
      </p:sp>
      <p:sp>
        <p:nvSpPr>
          <p:cNvPr id="153" name="Google Shape;208;p33">
            <a:extLst>
              <a:ext uri="{FF2B5EF4-FFF2-40B4-BE49-F238E27FC236}">
                <a16:creationId xmlns:a16="http://schemas.microsoft.com/office/drawing/2014/main" id="{5AFCAAFD-9115-9AE0-D86A-7DB1487AEDEE}"/>
              </a:ext>
            </a:extLst>
          </p:cNvPr>
          <p:cNvSpPr txBox="1"/>
          <p:nvPr/>
        </p:nvSpPr>
        <p:spPr>
          <a:xfrm>
            <a:off x="11115081" y="131178"/>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54" name="Straight Connector 153">
            <a:extLst>
              <a:ext uri="{FF2B5EF4-FFF2-40B4-BE49-F238E27FC236}">
                <a16:creationId xmlns:a16="http://schemas.microsoft.com/office/drawing/2014/main" id="{C4235989-F19B-B888-6B3E-322180EB2896}"/>
              </a:ext>
            </a:extLst>
          </p:cNvPr>
          <p:cNvCxnSpPr>
            <a:cxnSpLocks/>
          </p:cNvCxnSpPr>
          <p:nvPr/>
        </p:nvCxnSpPr>
        <p:spPr>
          <a:xfrm flipH="1">
            <a:off x="10745923" y="287584"/>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 name="Rectangle 1">
            <a:extLst>
              <a:ext uri="{FF2B5EF4-FFF2-40B4-BE49-F238E27FC236}">
                <a16:creationId xmlns:a16="http://schemas.microsoft.com/office/drawing/2014/main" id="{9CC13DD0-19C0-76CE-7DD1-1F84E91D3AC0}"/>
              </a:ext>
            </a:extLst>
          </p:cNvPr>
          <p:cNvSpPr/>
          <p:nvPr/>
        </p:nvSpPr>
        <p:spPr>
          <a:xfrm>
            <a:off x="265177" y="1465150"/>
            <a:ext cx="11500192" cy="4201131"/>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cxnSp>
        <p:nvCxnSpPr>
          <p:cNvPr id="75" name="Elbow Connector 74">
            <a:extLst>
              <a:ext uri="{FF2B5EF4-FFF2-40B4-BE49-F238E27FC236}">
                <a16:creationId xmlns:a16="http://schemas.microsoft.com/office/drawing/2014/main" id="{A69FBD64-1624-1CD8-9424-5F58D11DB366}"/>
              </a:ext>
            </a:extLst>
          </p:cNvPr>
          <p:cNvCxnSpPr>
            <a:cxnSpLocks/>
          </p:cNvCxnSpPr>
          <p:nvPr/>
        </p:nvCxnSpPr>
        <p:spPr>
          <a:xfrm flipV="1">
            <a:off x="3222624" y="5668021"/>
            <a:ext cx="484893" cy="51082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a:extLst>
              <a:ext uri="{FF2B5EF4-FFF2-40B4-BE49-F238E27FC236}">
                <a16:creationId xmlns:a16="http://schemas.microsoft.com/office/drawing/2014/main" id="{7BA82C80-C947-F4F7-A9EE-E62B0A7AD6F0}"/>
              </a:ext>
            </a:extLst>
          </p:cNvPr>
          <p:cNvSpPr/>
          <p:nvPr/>
        </p:nvSpPr>
        <p:spPr>
          <a:xfrm>
            <a:off x="1564024" y="3021474"/>
            <a:ext cx="2815939" cy="2371376"/>
          </a:xfrm>
          <a:prstGeom prst="roundRect">
            <a:avLst/>
          </a:prstGeom>
        </p:spPr>
        <p:style>
          <a:lnRef idx="2">
            <a:schemeClr val="accent3"/>
          </a:lnRef>
          <a:fillRef idx="1">
            <a:schemeClr val="lt1"/>
          </a:fillRef>
          <a:effectRef idx="0">
            <a:schemeClr val="accent3"/>
          </a:effectRef>
          <a:fontRef idx="minor">
            <a:schemeClr val="dk1"/>
          </a:fontRef>
        </p:style>
        <p:txBody>
          <a:bodyPr tIns="0" rtlCol="0" anchor="t"/>
          <a:lstStyle/>
          <a:p>
            <a:pPr algn="ctr"/>
            <a:r>
              <a:rPr lang="en-US" dirty="0">
                <a:solidFill>
                  <a:schemeClr val="tx1"/>
                </a:solidFill>
                <a:latin typeface="Calibri" panose="020F0502020204030204" pitchFamily="34" charset="0"/>
                <a:cs typeface="Calibri" panose="020F0502020204030204" pitchFamily="34" charset="0"/>
              </a:rPr>
              <a:t>Draft Project Structure</a:t>
            </a:r>
          </a:p>
        </p:txBody>
      </p:sp>
      <p:sp>
        <p:nvSpPr>
          <p:cNvPr id="3" name="Rounded Rectangle 2">
            <a:extLst>
              <a:ext uri="{FF2B5EF4-FFF2-40B4-BE49-F238E27FC236}">
                <a16:creationId xmlns:a16="http://schemas.microsoft.com/office/drawing/2014/main" id="{4EF5B99D-5C36-2913-6B0E-A9168B934BC5}"/>
              </a:ext>
            </a:extLst>
          </p:cNvPr>
          <p:cNvSpPr/>
          <p:nvPr/>
        </p:nvSpPr>
        <p:spPr>
          <a:xfrm>
            <a:off x="1868168" y="1792161"/>
            <a:ext cx="2298922" cy="67360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a:p>
            <a:pPr algn="ctr"/>
            <a:r>
              <a:rPr lang="en-US" dirty="0">
                <a:solidFill>
                  <a:schemeClr val="tx1"/>
                </a:solidFill>
                <a:latin typeface="Calibri" panose="020F0502020204030204" pitchFamily="34" charset="0"/>
                <a:cs typeface="Calibri" panose="020F0502020204030204" pitchFamily="34" charset="0"/>
              </a:rPr>
              <a:t>[title, duration, …]</a:t>
            </a:r>
          </a:p>
        </p:txBody>
      </p:sp>
      <p:cxnSp>
        <p:nvCxnSpPr>
          <p:cNvPr id="7" name="Elbow Connector 6">
            <a:extLst>
              <a:ext uri="{FF2B5EF4-FFF2-40B4-BE49-F238E27FC236}">
                <a16:creationId xmlns:a16="http://schemas.microsoft.com/office/drawing/2014/main" id="{AAC44C01-A861-6578-054D-B29362780ED6}"/>
              </a:ext>
            </a:extLst>
          </p:cNvPr>
          <p:cNvCxnSpPr>
            <a:cxnSpLocks/>
            <a:stCxn id="45" idx="6"/>
            <a:endCxn id="35" idx="0"/>
          </p:cNvCxnSpPr>
          <p:nvPr/>
        </p:nvCxnSpPr>
        <p:spPr>
          <a:xfrm flipH="1">
            <a:off x="2971994" y="2360680"/>
            <a:ext cx="1302466" cy="660794"/>
          </a:xfrm>
          <a:prstGeom prst="bentConnector4">
            <a:avLst>
              <a:gd name="adj1" fmla="val -17551"/>
              <a:gd name="adj2" fmla="val 77503"/>
            </a:avLst>
          </a:prstGeom>
          <a:ln>
            <a:tailEnd type="arrow"/>
          </a:ln>
        </p:spPr>
        <p:style>
          <a:lnRef idx="2">
            <a:schemeClr val="accent1"/>
          </a:lnRef>
          <a:fillRef idx="0">
            <a:schemeClr val="accent1"/>
          </a:fillRef>
          <a:effectRef idx="1">
            <a:schemeClr val="accent1"/>
          </a:effectRef>
          <a:fontRef idx="minor">
            <a:schemeClr val="tx1"/>
          </a:fontRef>
        </p:style>
      </p:cxnSp>
      <p:sp>
        <p:nvSpPr>
          <p:cNvPr id="38" name="Rounded Rectangle 37">
            <a:extLst>
              <a:ext uri="{FF2B5EF4-FFF2-40B4-BE49-F238E27FC236}">
                <a16:creationId xmlns:a16="http://schemas.microsoft.com/office/drawing/2014/main" id="{7E521C1F-0AD7-65A6-AF0E-29AF4DC62CFF}"/>
              </a:ext>
            </a:extLst>
          </p:cNvPr>
          <p:cNvSpPr/>
          <p:nvPr/>
        </p:nvSpPr>
        <p:spPr>
          <a:xfrm>
            <a:off x="1680977" y="4525648"/>
            <a:ext cx="2411676" cy="6675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Row [editable title, </a:t>
            </a:r>
            <a:r>
              <a:rPr lang="en-US" dirty="0" err="1">
                <a:solidFill>
                  <a:schemeClr val="tx1"/>
                </a:solidFill>
                <a:latin typeface="Calibri" panose="020F0502020204030204" pitchFamily="34" charset="0"/>
                <a:cs typeface="Calibri" panose="020F0502020204030204" pitchFamily="34" charset="0"/>
              </a:rPr>
              <a:t>descr</a:t>
            </a:r>
            <a:r>
              <a:rPr lang="en-US" dirty="0">
                <a:solidFill>
                  <a:schemeClr val="tx1"/>
                </a:solidFill>
                <a:latin typeface="Calibri" panose="020F0502020204030204" pitchFamily="34" charset="0"/>
                <a:cs typeface="Calibri" panose="020F0502020204030204" pitchFamily="34" charset="0"/>
              </a:rPr>
              <a:t>, …, -]</a:t>
            </a:r>
          </a:p>
        </p:txBody>
      </p:sp>
      <p:sp>
        <p:nvSpPr>
          <p:cNvPr id="45" name="Oval 44">
            <a:extLst>
              <a:ext uri="{FF2B5EF4-FFF2-40B4-BE49-F238E27FC236}">
                <a16:creationId xmlns:a16="http://schemas.microsoft.com/office/drawing/2014/main" id="{FA08F4FA-0284-C90A-5C56-BC2A974E8148}"/>
              </a:ext>
            </a:extLst>
          </p:cNvPr>
          <p:cNvSpPr/>
          <p:nvPr/>
        </p:nvSpPr>
        <p:spPr>
          <a:xfrm>
            <a:off x="3986428" y="22166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49DCBB70-BC07-B4AB-304F-D61669EC219F}"/>
              </a:ext>
            </a:extLst>
          </p:cNvPr>
          <p:cNvSpPr/>
          <p:nvPr/>
        </p:nvSpPr>
        <p:spPr>
          <a:xfrm>
            <a:off x="3974325" y="446904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473F7CF8-9179-8DAF-5CEE-A1A3D5C8BF6E}"/>
              </a:ext>
            </a:extLst>
          </p:cNvPr>
          <p:cNvSpPr/>
          <p:nvPr/>
        </p:nvSpPr>
        <p:spPr>
          <a:xfrm>
            <a:off x="3974325" y="491725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8023E628-C1B9-ABD8-5EA9-F2B7EA4652F6}"/>
              </a:ext>
            </a:extLst>
          </p:cNvPr>
          <p:cNvSpPr txBox="1"/>
          <p:nvPr/>
        </p:nvSpPr>
        <p:spPr>
          <a:xfrm>
            <a:off x="4217149" y="205885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33FCF658-5B5B-ABBF-8DD5-2475F9F89A76}"/>
              </a:ext>
            </a:extLst>
          </p:cNvPr>
          <p:cNvSpPr txBox="1"/>
          <p:nvPr/>
        </p:nvSpPr>
        <p:spPr>
          <a:xfrm>
            <a:off x="4594640" y="3515720"/>
            <a:ext cx="173182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89" name="Oval 88">
            <a:extLst>
              <a:ext uri="{FF2B5EF4-FFF2-40B4-BE49-F238E27FC236}">
                <a16:creationId xmlns:a16="http://schemas.microsoft.com/office/drawing/2014/main" id="{AD7B61D1-0FA3-8A56-1814-005124103965}"/>
              </a:ext>
            </a:extLst>
          </p:cNvPr>
          <p:cNvSpPr/>
          <p:nvPr/>
        </p:nvSpPr>
        <p:spPr>
          <a:xfrm>
            <a:off x="1866692" y="12945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7F3355C6-7A2E-BBFD-11D5-58D4125D19B7}"/>
              </a:ext>
            </a:extLst>
          </p:cNvPr>
          <p:cNvSpPr txBox="1"/>
          <p:nvPr/>
        </p:nvSpPr>
        <p:spPr>
          <a:xfrm>
            <a:off x="1158728" y="115135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8" name="Rounded Rectangle 97">
            <a:extLst>
              <a:ext uri="{FF2B5EF4-FFF2-40B4-BE49-F238E27FC236}">
                <a16:creationId xmlns:a16="http://schemas.microsoft.com/office/drawing/2014/main" id="{F1A95FA5-89D4-DDC6-7892-93FA468EDD1C}"/>
              </a:ext>
            </a:extLst>
          </p:cNvPr>
          <p:cNvSpPr/>
          <p:nvPr/>
        </p:nvSpPr>
        <p:spPr>
          <a:xfrm>
            <a:off x="8146914" y="2460287"/>
            <a:ext cx="3405981"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 [</a:t>
            </a:r>
            <a:r>
              <a:rPr lang="en-US" dirty="0" err="1">
                <a:latin typeface="Calibri" panose="020F0502020204030204" pitchFamily="34" charset="0"/>
                <a:cs typeface="Calibri" panose="020F0502020204030204" pitchFamily="34" charset="0"/>
              </a:rPr>
              <a:t>project.id</a:t>
            </a:r>
            <a:r>
              <a:rPr lang="en-US" dirty="0">
                <a:latin typeface="Calibri" panose="020F0502020204030204" pitchFamily="34" charset="0"/>
                <a:cs typeface="Calibri" panose="020F0502020204030204" pitchFamily="34" charset="0"/>
              </a:rPr>
              <a:t>, title]</a:t>
            </a:r>
            <a:endParaRPr lang="en-US" sz="1600" dirty="0">
              <a:solidFill>
                <a:schemeClr val="tx1"/>
              </a:solidFill>
              <a:latin typeface="Calibri" panose="020F0502020204030204" pitchFamily="34" charset="0"/>
              <a:cs typeface="Calibri" panose="020F0502020204030204" pitchFamily="34" charset="0"/>
            </a:endParaRPr>
          </a:p>
        </p:txBody>
      </p:sp>
      <p:sp>
        <p:nvSpPr>
          <p:cNvPr id="17" name="Oval 16">
            <a:extLst>
              <a:ext uri="{FF2B5EF4-FFF2-40B4-BE49-F238E27FC236}">
                <a16:creationId xmlns:a16="http://schemas.microsoft.com/office/drawing/2014/main" id="{98F0E041-3B00-08A0-3A54-D87B5753776D}"/>
              </a:ext>
            </a:extLst>
          </p:cNvPr>
          <p:cNvSpPr/>
          <p:nvPr/>
        </p:nvSpPr>
        <p:spPr>
          <a:xfrm>
            <a:off x="9604054" y="1321134"/>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0" name="Straight Connector 19">
            <a:extLst>
              <a:ext uri="{FF2B5EF4-FFF2-40B4-BE49-F238E27FC236}">
                <a16:creationId xmlns:a16="http://schemas.microsoft.com/office/drawing/2014/main" id="{6ECC7E3F-CACC-FA4C-575B-4F3E04D0B839}"/>
              </a:ext>
            </a:extLst>
          </p:cNvPr>
          <p:cNvCxnSpPr>
            <a:cxnSpLocks/>
            <a:stCxn id="17" idx="7"/>
            <a:endCxn id="152" idx="4"/>
          </p:cNvCxnSpPr>
          <p:nvPr/>
        </p:nvCxnSpPr>
        <p:spPr>
          <a:xfrm flipV="1">
            <a:off x="9849905" y="1097407"/>
            <a:ext cx="926139" cy="26590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72C0EE35-973C-A4D4-DE05-DF0420E5BEBF}"/>
              </a:ext>
            </a:extLst>
          </p:cNvPr>
          <p:cNvSpPr/>
          <p:nvPr/>
        </p:nvSpPr>
        <p:spPr>
          <a:xfrm>
            <a:off x="1694817" y="3588011"/>
            <a:ext cx="2387349" cy="66079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WP Row [editable title, start, end, + task, -]</a:t>
            </a:r>
          </a:p>
        </p:txBody>
      </p:sp>
      <p:sp>
        <p:nvSpPr>
          <p:cNvPr id="51" name="Oval 50">
            <a:extLst>
              <a:ext uri="{FF2B5EF4-FFF2-40B4-BE49-F238E27FC236}">
                <a16:creationId xmlns:a16="http://schemas.microsoft.com/office/drawing/2014/main" id="{EA9797FD-E283-7512-BA47-231C53EC2FB9}"/>
              </a:ext>
            </a:extLst>
          </p:cNvPr>
          <p:cNvSpPr/>
          <p:nvPr/>
        </p:nvSpPr>
        <p:spPr>
          <a:xfrm>
            <a:off x="3991319" y="354967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2" name="Oval 51">
            <a:extLst>
              <a:ext uri="{FF2B5EF4-FFF2-40B4-BE49-F238E27FC236}">
                <a16:creationId xmlns:a16="http://schemas.microsoft.com/office/drawing/2014/main" id="{258293AD-4F10-C471-3E6F-67DB92BCA96F}"/>
              </a:ext>
            </a:extLst>
          </p:cNvPr>
          <p:cNvSpPr/>
          <p:nvPr/>
        </p:nvSpPr>
        <p:spPr>
          <a:xfrm>
            <a:off x="3991319" y="39978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6" name="TextBox 55">
            <a:extLst>
              <a:ext uri="{FF2B5EF4-FFF2-40B4-BE49-F238E27FC236}">
                <a16:creationId xmlns:a16="http://schemas.microsoft.com/office/drawing/2014/main" id="{5524E1A4-C674-5447-F9BD-2B0C47F97837}"/>
              </a:ext>
            </a:extLst>
          </p:cNvPr>
          <p:cNvSpPr txBox="1"/>
          <p:nvPr/>
        </p:nvSpPr>
        <p:spPr>
          <a:xfrm>
            <a:off x="4594640" y="3981158"/>
            <a:ext cx="1691745"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57" name="TextBox 56">
            <a:extLst>
              <a:ext uri="{FF2B5EF4-FFF2-40B4-BE49-F238E27FC236}">
                <a16:creationId xmlns:a16="http://schemas.microsoft.com/office/drawing/2014/main" id="{71EB2C79-166D-1CF2-798D-00BFACDD9C05}"/>
              </a:ext>
            </a:extLst>
          </p:cNvPr>
          <p:cNvSpPr txBox="1"/>
          <p:nvPr/>
        </p:nvSpPr>
        <p:spPr>
          <a:xfrm>
            <a:off x="4559844" y="4472463"/>
            <a:ext cx="186948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 update draft</a:t>
            </a:r>
          </a:p>
        </p:txBody>
      </p:sp>
      <p:sp>
        <p:nvSpPr>
          <p:cNvPr id="61" name="TextBox 60">
            <a:extLst>
              <a:ext uri="{FF2B5EF4-FFF2-40B4-BE49-F238E27FC236}">
                <a16:creationId xmlns:a16="http://schemas.microsoft.com/office/drawing/2014/main" id="{5DDC5A6E-FE6E-19C6-69C2-39100E767A73}"/>
              </a:ext>
            </a:extLst>
          </p:cNvPr>
          <p:cNvSpPr txBox="1"/>
          <p:nvPr/>
        </p:nvSpPr>
        <p:spPr>
          <a:xfrm>
            <a:off x="4563318" y="4876930"/>
            <a:ext cx="182941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 update draft</a:t>
            </a:r>
          </a:p>
        </p:txBody>
      </p:sp>
      <p:sp>
        <p:nvSpPr>
          <p:cNvPr id="68" name="Oval 67">
            <a:extLst>
              <a:ext uri="{FF2B5EF4-FFF2-40B4-BE49-F238E27FC236}">
                <a16:creationId xmlns:a16="http://schemas.microsoft.com/office/drawing/2014/main" id="{384468EC-4BD7-B3A8-98D3-FB6737056A7C}"/>
              </a:ext>
            </a:extLst>
          </p:cNvPr>
          <p:cNvSpPr/>
          <p:nvPr/>
        </p:nvSpPr>
        <p:spPr>
          <a:xfrm>
            <a:off x="2510062" y="52609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9" name="Elbow Connector 68">
            <a:extLst>
              <a:ext uri="{FF2B5EF4-FFF2-40B4-BE49-F238E27FC236}">
                <a16:creationId xmlns:a16="http://schemas.microsoft.com/office/drawing/2014/main" id="{E1D1258D-AB3C-88AA-622E-34D4C1412C38}"/>
              </a:ext>
            </a:extLst>
          </p:cNvPr>
          <p:cNvCxnSpPr>
            <a:cxnSpLocks/>
            <a:stCxn id="68" idx="4"/>
            <a:endCxn id="74" idx="0"/>
          </p:cNvCxnSpPr>
          <p:nvPr/>
        </p:nvCxnSpPr>
        <p:spPr>
          <a:xfrm rot="5400000">
            <a:off x="2356734" y="5552585"/>
            <a:ext cx="300909" cy="29378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E705089F-929E-94BC-6BD5-7E586EDA5436}"/>
              </a:ext>
            </a:extLst>
          </p:cNvPr>
          <p:cNvSpPr txBox="1"/>
          <p:nvPr/>
        </p:nvSpPr>
        <p:spPr>
          <a:xfrm>
            <a:off x="2746331" y="5334475"/>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74" name="Parallelogram 73">
            <a:extLst>
              <a:ext uri="{FF2B5EF4-FFF2-40B4-BE49-F238E27FC236}">
                <a16:creationId xmlns:a16="http://schemas.microsoft.com/office/drawing/2014/main" id="{2EF4BFAD-9F44-8F0D-67AE-7614D6BB485A}"/>
              </a:ext>
            </a:extLst>
          </p:cNvPr>
          <p:cNvSpPr/>
          <p:nvPr/>
        </p:nvSpPr>
        <p:spPr>
          <a:xfrm>
            <a:off x="1425574" y="58499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Save Project Structure</a:t>
            </a:r>
          </a:p>
        </p:txBody>
      </p:sp>
      <p:sp>
        <p:nvSpPr>
          <p:cNvPr id="83" name="TextBox 82">
            <a:extLst>
              <a:ext uri="{FF2B5EF4-FFF2-40B4-BE49-F238E27FC236}">
                <a16:creationId xmlns:a16="http://schemas.microsoft.com/office/drawing/2014/main" id="{9CB97B2D-637B-3DC5-4FB0-9A573D2753D1}"/>
              </a:ext>
            </a:extLst>
          </p:cNvPr>
          <p:cNvSpPr txBox="1"/>
          <p:nvPr/>
        </p:nvSpPr>
        <p:spPr>
          <a:xfrm>
            <a:off x="4863805" y="6270136"/>
            <a:ext cx="4580999"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saved, reloads Projects List and resets draft structure</a:t>
            </a:r>
          </a:p>
        </p:txBody>
      </p:sp>
      <p:cxnSp>
        <p:nvCxnSpPr>
          <p:cNvPr id="109" name="Elbow Connector 108">
            <a:extLst>
              <a:ext uri="{FF2B5EF4-FFF2-40B4-BE49-F238E27FC236}">
                <a16:creationId xmlns:a16="http://schemas.microsoft.com/office/drawing/2014/main" id="{1D39FFBA-DB47-6FF6-CF47-4508C6A3803D}"/>
              </a:ext>
            </a:extLst>
          </p:cNvPr>
          <p:cNvCxnSpPr>
            <a:cxnSpLocks/>
            <a:endCxn id="35" idx="3"/>
          </p:cNvCxnSpPr>
          <p:nvPr/>
        </p:nvCxnSpPr>
        <p:spPr>
          <a:xfrm>
            <a:off x="4216223" y="4147646"/>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5" name="Elbow Connector 114">
            <a:extLst>
              <a:ext uri="{FF2B5EF4-FFF2-40B4-BE49-F238E27FC236}">
                <a16:creationId xmlns:a16="http://schemas.microsoft.com/office/drawing/2014/main" id="{2A465D22-5772-62BB-A72F-0CC14C65088F}"/>
              </a:ext>
            </a:extLst>
          </p:cNvPr>
          <p:cNvCxnSpPr>
            <a:cxnSpLocks/>
          </p:cNvCxnSpPr>
          <p:nvPr/>
        </p:nvCxnSpPr>
        <p:spPr>
          <a:xfrm>
            <a:off x="4222291" y="3670702"/>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6" name="Elbow Connector 115">
            <a:extLst>
              <a:ext uri="{FF2B5EF4-FFF2-40B4-BE49-F238E27FC236}">
                <a16:creationId xmlns:a16="http://schemas.microsoft.com/office/drawing/2014/main" id="{515C5F17-F99C-5DBA-1D45-33914639EF0D}"/>
              </a:ext>
            </a:extLst>
          </p:cNvPr>
          <p:cNvCxnSpPr>
            <a:cxnSpLocks/>
          </p:cNvCxnSpPr>
          <p:nvPr/>
        </p:nvCxnSpPr>
        <p:spPr>
          <a:xfrm>
            <a:off x="4222291" y="4629639"/>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0E6F0FFB-9CA4-1E66-7851-2CE515C1799A}"/>
              </a:ext>
            </a:extLst>
          </p:cNvPr>
          <p:cNvCxnSpPr>
            <a:cxnSpLocks/>
          </p:cNvCxnSpPr>
          <p:nvPr/>
        </p:nvCxnSpPr>
        <p:spPr>
          <a:xfrm>
            <a:off x="4195215" y="5031508"/>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5D579A4-8330-BC62-E5F8-4FD62F9AFB4F}"/>
              </a:ext>
            </a:extLst>
          </p:cNvPr>
          <p:cNvSpPr txBox="1"/>
          <p:nvPr/>
        </p:nvSpPr>
        <p:spPr>
          <a:xfrm>
            <a:off x="2697004" y="2583570"/>
            <a:ext cx="119603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render draft</a:t>
            </a:r>
          </a:p>
        </p:txBody>
      </p:sp>
      <p:sp>
        <p:nvSpPr>
          <p:cNvPr id="138" name="Rounded Rectangle 137">
            <a:extLst>
              <a:ext uri="{FF2B5EF4-FFF2-40B4-BE49-F238E27FC236}">
                <a16:creationId xmlns:a16="http://schemas.microsoft.com/office/drawing/2014/main" id="{1F6F6349-BE6F-AF3A-1089-C188FB43DEC2}"/>
              </a:ext>
            </a:extLst>
          </p:cNvPr>
          <p:cNvSpPr/>
          <p:nvPr/>
        </p:nvSpPr>
        <p:spPr>
          <a:xfrm>
            <a:off x="7590699" y="3106853"/>
            <a:ext cx="3962196" cy="60725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t>Selected Project Structure</a:t>
            </a:r>
          </a:p>
          <a:p>
            <a:pPr algn="ctr"/>
            <a:r>
              <a:rPr lang="en-US" dirty="0"/>
              <a:t>[read-only project / WP / task tree]</a:t>
            </a:r>
            <a:endParaRPr lang="en-US" sz="1600" dirty="0">
              <a:solidFill>
                <a:schemeClr val="tx1"/>
              </a:solidFill>
              <a:latin typeface="Calibri" panose="020F0502020204030204" pitchFamily="34" charset="0"/>
              <a:cs typeface="Calibri" panose="020F0502020204030204" pitchFamily="34" charset="0"/>
            </a:endParaRPr>
          </a:p>
        </p:txBody>
      </p:sp>
      <p:sp>
        <p:nvSpPr>
          <p:cNvPr id="141" name="Google Shape;208;p33">
            <a:extLst>
              <a:ext uri="{FF2B5EF4-FFF2-40B4-BE49-F238E27FC236}">
                <a16:creationId xmlns:a16="http://schemas.microsoft.com/office/drawing/2014/main" id="{2C530CCF-5797-0DF3-AB6A-572BB7A34F5A}"/>
              </a:ext>
            </a:extLst>
          </p:cNvPr>
          <p:cNvSpPr txBox="1"/>
          <p:nvPr/>
        </p:nvSpPr>
        <p:spPr>
          <a:xfrm>
            <a:off x="268662" y="6562511"/>
            <a:ext cx="4175322"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 title, duration, …, wp title, start, …, task title, descr, …</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E761B91C-6037-18AB-7934-2A554C028EA7}"/>
              </a:ext>
            </a:extLst>
          </p:cNvPr>
          <p:cNvCxnSpPr>
            <a:cxnSpLocks/>
            <a:endCxn id="74" idx="5"/>
          </p:cNvCxnSpPr>
          <p:nvPr/>
        </p:nvCxnSpPr>
        <p:spPr>
          <a:xfrm flipV="1">
            <a:off x="595245" y="6177110"/>
            <a:ext cx="912124" cy="382592"/>
          </a:xfrm>
          <a:prstGeom prst="line">
            <a:avLst/>
          </a:prstGeom>
        </p:spPr>
        <p:style>
          <a:lnRef idx="2">
            <a:schemeClr val="dk1"/>
          </a:lnRef>
          <a:fillRef idx="0">
            <a:schemeClr val="dk1"/>
          </a:fillRef>
          <a:effectRef idx="1">
            <a:schemeClr val="dk1"/>
          </a:effectRef>
          <a:fontRef idx="minor">
            <a:schemeClr val="tx1"/>
          </a:fontRef>
        </p:style>
      </p:cxnSp>
      <p:sp>
        <p:nvSpPr>
          <p:cNvPr id="145" name="Oval 144">
            <a:extLst>
              <a:ext uri="{FF2B5EF4-FFF2-40B4-BE49-F238E27FC236}">
                <a16:creationId xmlns:a16="http://schemas.microsoft.com/office/drawing/2014/main" id="{5A2F7168-9B27-FA7A-0E03-FD732DF3D69F}"/>
              </a:ext>
            </a:extLst>
          </p:cNvPr>
          <p:cNvSpPr/>
          <p:nvPr/>
        </p:nvSpPr>
        <p:spPr>
          <a:xfrm>
            <a:off x="8002898" y="239697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46" name="Elbow Connector 145">
            <a:extLst>
              <a:ext uri="{FF2B5EF4-FFF2-40B4-BE49-F238E27FC236}">
                <a16:creationId xmlns:a16="http://schemas.microsoft.com/office/drawing/2014/main" id="{096DF2EF-CFD6-7677-22C1-1205EE91A484}"/>
              </a:ext>
            </a:extLst>
          </p:cNvPr>
          <p:cNvCxnSpPr>
            <a:cxnSpLocks/>
            <a:stCxn id="145" idx="2"/>
            <a:endCxn id="138" idx="1"/>
          </p:cNvCxnSpPr>
          <p:nvPr/>
        </p:nvCxnSpPr>
        <p:spPr>
          <a:xfrm rot="10800000" flipV="1">
            <a:off x="7590700" y="2540986"/>
            <a:ext cx="412199" cy="869496"/>
          </a:xfrm>
          <a:prstGeom prst="bentConnector3">
            <a:avLst>
              <a:gd name="adj1" fmla="val 155459"/>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0649BF8-45A7-41FE-1426-3B710370F29C}"/>
              </a:ext>
            </a:extLst>
          </p:cNvPr>
          <p:cNvCxnSpPr>
            <a:cxnSpLocks/>
          </p:cNvCxnSpPr>
          <p:nvPr/>
        </p:nvCxnSpPr>
        <p:spPr>
          <a:xfrm>
            <a:off x="11027664" y="1097407"/>
            <a:ext cx="0" cy="136288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FA53E988-66B7-65AD-A9A2-5BCDF1A71C98}"/>
              </a:ext>
            </a:extLst>
          </p:cNvPr>
          <p:cNvSpPr txBox="1"/>
          <p:nvPr/>
        </p:nvSpPr>
        <p:spPr>
          <a:xfrm>
            <a:off x="6729997" y="2218549"/>
            <a:ext cx="131144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 project</a:t>
            </a:r>
          </a:p>
        </p:txBody>
      </p:sp>
      <p:cxnSp>
        <p:nvCxnSpPr>
          <p:cNvPr id="171" name="Elbow Connector 170">
            <a:extLst>
              <a:ext uri="{FF2B5EF4-FFF2-40B4-BE49-F238E27FC236}">
                <a16:creationId xmlns:a16="http://schemas.microsoft.com/office/drawing/2014/main" id="{F76709A9-75FA-95D8-B3D2-078F1FEA8298}"/>
              </a:ext>
            </a:extLst>
          </p:cNvPr>
          <p:cNvCxnSpPr>
            <a:cxnSpLocks/>
            <a:endCxn id="2" idx="2"/>
          </p:cNvCxnSpPr>
          <p:nvPr/>
        </p:nvCxnSpPr>
        <p:spPr>
          <a:xfrm flipV="1">
            <a:off x="3194937" y="5666281"/>
            <a:ext cx="2820336" cy="62055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79" name="TextBox 178">
            <a:extLst>
              <a:ext uri="{FF2B5EF4-FFF2-40B4-BE49-F238E27FC236}">
                <a16:creationId xmlns:a16="http://schemas.microsoft.com/office/drawing/2014/main" id="{13F54064-9B29-6F2E-8BF1-B446519B7165}"/>
              </a:ext>
            </a:extLst>
          </p:cNvPr>
          <p:cNvSpPr txBox="1"/>
          <p:nvPr/>
        </p:nvSpPr>
        <p:spPr>
          <a:xfrm>
            <a:off x="3670138" y="5843647"/>
            <a:ext cx="1471621"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validation error</a:t>
            </a:r>
          </a:p>
        </p:txBody>
      </p:sp>
      <p:cxnSp>
        <p:nvCxnSpPr>
          <p:cNvPr id="192" name="Elbow Connector 191">
            <a:extLst>
              <a:ext uri="{FF2B5EF4-FFF2-40B4-BE49-F238E27FC236}">
                <a16:creationId xmlns:a16="http://schemas.microsoft.com/office/drawing/2014/main" id="{4A170849-CABC-AF27-6DEA-845EA3978A67}"/>
              </a:ext>
            </a:extLst>
          </p:cNvPr>
          <p:cNvCxnSpPr>
            <a:cxnSpLocks/>
          </p:cNvCxnSpPr>
          <p:nvPr/>
        </p:nvCxnSpPr>
        <p:spPr>
          <a:xfrm rot="10800000" flipH="1" flipV="1">
            <a:off x="1553050" y="3424631"/>
            <a:ext cx="21946" cy="208675"/>
          </a:xfrm>
          <a:prstGeom prst="bentConnector3">
            <a:avLst>
              <a:gd name="adj1" fmla="val -1041648"/>
            </a:avLst>
          </a:prstGeom>
          <a:ln>
            <a:tailEnd type="arrow"/>
          </a:ln>
        </p:spPr>
        <p:style>
          <a:lnRef idx="2">
            <a:schemeClr val="accent1"/>
          </a:lnRef>
          <a:fillRef idx="0">
            <a:schemeClr val="accent1"/>
          </a:fillRef>
          <a:effectRef idx="1">
            <a:schemeClr val="accent1"/>
          </a:effectRef>
          <a:fontRef idx="minor">
            <a:schemeClr val="tx1"/>
          </a:fontRef>
        </p:style>
      </p:cxnSp>
      <p:sp>
        <p:nvSpPr>
          <p:cNvPr id="194" name="TextBox 193">
            <a:extLst>
              <a:ext uri="{FF2B5EF4-FFF2-40B4-BE49-F238E27FC236}">
                <a16:creationId xmlns:a16="http://schemas.microsoft.com/office/drawing/2014/main" id="{9A551B43-6AED-3742-0648-D01B7D50B59F}"/>
              </a:ext>
            </a:extLst>
          </p:cNvPr>
          <p:cNvSpPr txBox="1"/>
          <p:nvPr/>
        </p:nvSpPr>
        <p:spPr>
          <a:xfrm>
            <a:off x="252539" y="3371590"/>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undo/redo,</a:t>
            </a:r>
          </a:p>
          <a:p>
            <a:r>
              <a:rPr lang="en-US" sz="1600" dirty="0">
                <a:solidFill>
                  <a:prstClr val="black"/>
                </a:solidFill>
                <a:latin typeface="Calibri" panose="020F0502020204030204" pitchFamily="34" charset="0"/>
                <a:cs typeface="Calibri" panose="020F0502020204030204" pitchFamily="34" charset="0"/>
              </a:rPr>
              <a:t>update draft</a:t>
            </a:r>
          </a:p>
        </p:txBody>
      </p:sp>
      <p:cxnSp>
        <p:nvCxnSpPr>
          <p:cNvPr id="196" name="Elbow Connector 195">
            <a:extLst>
              <a:ext uri="{FF2B5EF4-FFF2-40B4-BE49-F238E27FC236}">
                <a16:creationId xmlns:a16="http://schemas.microsoft.com/office/drawing/2014/main" id="{709B7CFE-8B97-8A6C-F4BC-9F07B43E4E3F}"/>
              </a:ext>
            </a:extLst>
          </p:cNvPr>
          <p:cNvCxnSpPr>
            <a:cxnSpLocks/>
          </p:cNvCxnSpPr>
          <p:nvPr/>
        </p:nvCxnSpPr>
        <p:spPr>
          <a:xfrm rot="16200000" flipV="1">
            <a:off x="1362464" y="4658467"/>
            <a:ext cx="520159" cy="110887"/>
          </a:xfrm>
          <a:prstGeom prst="bentConnector4">
            <a:avLst>
              <a:gd name="adj1" fmla="val 973"/>
              <a:gd name="adj2" fmla="val 306156"/>
            </a:avLst>
          </a:prstGeom>
          <a:ln>
            <a:tailEnd type="arrow"/>
          </a:ln>
        </p:spPr>
        <p:style>
          <a:lnRef idx="2">
            <a:schemeClr val="accent1"/>
          </a:lnRef>
          <a:fillRef idx="0">
            <a:schemeClr val="accent1"/>
          </a:fillRef>
          <a:effectRef idx="1">
            <a:schemeClr val="accent1"/>
          </a:effectRef>
          <a:fontRef idx="minor">
            <a:schemeClr val="tx1"/>
          </a:fontRef>
        </p:style>
      </p:cxnSp>
      <p:sp>
        <p:nvSpPr>
          <p:cNvPr id="200" name="TextBox 199">
            <a:extLst>
              <a:ext uri="{FF2B5EF4-FFF2-40B4-BE49-F238E27FC236}">
                <a16:creationId xmlns:a16="http://schemas.microsoft.com/office/drawing/2014/main" id="{474BCBDB-05AC-4320-06B0-667D83867731}"/>
              </a:ext>
            </a:extLst>
          </p:cNvPr>
          <p:cNvSpPr txBox="1"/>
          <p:nvPr/>
        </p:nvSpPr>
        <p:spPr>
          <a:xfrm>
            <a:off x="194056" y="4368569"/>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drag task,</a:t>
            </a:r>
          </a:p>
          <a:p>
            <a:r>
              <a:rPr lang="en-US" sz="1600" dirty="0">
                <a:solidFill>
                  <a:prstClr val="black"/>
                </a:solidFill>
                <a:latin typeface="Calibri" panose="020F0502020204030204" pitchFamily="34" charset="0"/>
                <a:cs typeface="Calibri" panose="020F0502020204030204" pitchFamily="34" charset="0"/>
              </a:rPr>
              <a:t>update draft</a:t>
            </a:r>
          </a:p>
        </p:txBody>
      </p:sp>
    </p:spTree>
    <p:extLst>
      <p:ext uri="{BB962C8B-B14F-4D97-AF65-F5344CB8AC3E}">
        <p14:creationId xmlns:p14="http://schemas.microsoft.com/office/powerpoint/2010/main" val="4330102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F82F-20B5-BDD7-9786-96EFE26D871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04E45527-921C-814B-9AE8-F1026409493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(responsabile)</a:t>
            </a:r>
          </a:p>
        </p:txBody>
      </p:sp>
      <p:sp>
        <p:nvSpPr>
          <p:cNvPr id="2" name="Rectangle 1">
            <a:extLst>
              <a:ext uri="{FF2B5EF4-FFF2-40B4-BE49-F238E27FC236}">
                <a16:creationId xmlns:a16="http://schemas.microsoft.com/office/drawing/2014/main" id="{141E8DF8-B68E-021E-C8B7-C7CD3712B2B3}"/>
              </a:ext>
            </a:extLst>
          </p:cNvPr>
          <p:cNvSpPr/>
          <p:nvPr/>
        </p:nvSpPr>
        <p:spPr>
          <a:xfrm>
            <a:off x="2329302" y="1353592"/>
            <a:ext cx="7682918" cy="412962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B3E9BC0-11B5-3E66-0D4A-C75E3B0AF8C9}"/>
              </a:ext>
            </a:extLst>
          </p:cNvPr>
          <p:cNvSpPr/>
          <p:nvPr/>
        </p:nvSpPr>
        <p:spPr>
          <a:xfrm>
            <a:off x="3063420" y="2251662"/>
            <a:ext cx="2242527" cy="87284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Managed Tasks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wp.id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task.id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task.name</a:t>
            </a:r>
            <a:r>
              <a:rPr lang="en-US" sz="16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8AC82959-0898-A731-B548-3956382535CF}"/>
              </a:ext>
            </a:extLst>
          </p:cNvPr>
          <p:cNvSpPr/>
          <p:nvPr/>
        </p:nvSpPr>
        <p:spPr>
          <a:xfrm>
            <a:off x="10790382" y="1367843"/>
            <a:ext cx="1394540"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Projects</a:t>
            </a:r>
          </a:p>
        </p:txBody>
      </p:sp>
      <p:sp>
        <p:nvSpPr>
          <p:cNvPr id="37" name="Rounded Rectangle 36">
            <a:extLst>
              <a:ext uri="{FF2B5EF4-FFF2-40B4-BE49-F238E27FC236}">
                <a16:creationId xmlns:a16="http://schemas.microsoft.com/office/drawing/2014/main" id="{88C233E5-ABF8-A102-C672-E9BF4DFD754E}"/>
              </a:ext>
            </a:extLst>
          </p:cNvPr>
          <p:cNvSpPr/>
          <p:nvPr/>
        </p:nvSpPr>
        <p:spPr>
          <a:xfrm>
            <a:off x="3120915" y="4175444"/>
            <a:ext cx="2693775" cy="85554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Task Assignment Form</a:t>
            </a:r>
          </a:p>
          <a:p>
            <a:pPr algn="ctr"/>
            <a:r>
              <a:rPr lang="en-US" sz="1600" dirty="0">
                <a:solidFill>
                  <a:schemeClr val="tx1"/>
                </a:solidFill>
                <a:latin typeface="Calibri" panose="020F0502020204030204" pitchFamily="34" charset="0"/>
                <a:cs typeface="Calibri" panose="020F0502020204030204" pitchFamily="34" charset="0"/>
              </a:rPr>
              <a:t>[selected task, collaborators, planned hours]</a:t>
            </a:r>
          </a:p>
        </p:txBody>
      </p:sp>
      <p:sp>
        <p:nvSpPr>
          <p:cNvPr id="45" name="Oval 44">
            <a:extLst>
              <a:ext uri="{FF2B5EF4-FFF2-40B4-BE49-F238E27FC236}">
                <a16:creationId xmlns:a16="http://schemas.microsoft.com/office/drawing/2014/main" id="{9D94C63D-62B5-12AB-2F07-FCDF6B79A120}"/>
              </a:ext>
            </a:extLst>
          </p:cNvPr>
          <p:cNvSpPr/>
          <p:nvPr/>
        </p:nvSpPr>
        <p:spPr>
          <a:xfrm>
            <a:off x="2976899" y="2107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43AD456-06DD-0C83-2EF9-C2E11C4F29CA}"/>
              </a:ext>
            </a:extLst>
          </p:cNvPr>
          <p:cNvSpPr/>
          <p:nvPr/>
        </p:nvSpPr>
        <p:spPr>
          <a:xfrm>
            <a:off x="3033193" y="40797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9" name="Parallelogram 58">
            <a:extLst>
              <a:ext uri="{FF2B5EF4-FFF2-40B4-BE49-F238E27FC236}">
                <a16:creationId xmlns:a16="http://schemas.microsoft.com/office/drawing/2014/main" id="{D537FC25-5FB2-78F4-EB5B-1C212820F6ED}"/>
              </a:ext>
            </a:extLst>
          </p:cNvPr>
          <p:cNvSpPr/>
          <p:nvPr/>
        </p:nvSpPr>
        <p:spPr>
          <a:xfrm>
            <a:off x="278217" y="4787852"/>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DC8F8C23-C53A-D63A-6C51-9A601E690AB8}"/>
              </a:ext>
            </a:extLst>
          </p:cNvPr>
          <p:cNvCxnSpPr>
            <a:cxnSpLocks/>
            <a:stCxn id="59" idx="2"/>
          </p:cNvCxnSpPr>
          <p:nvPr/>
        </p:nvCxnSpPr>
        <p:spPr>
          <a:xfrm>
            <a:off x="1564574" y="5115032"/>
            <a:ext cx="755443" cy="8446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D00CF518-AAF9-D2C0-DEB7-E46CDC013719}"/>
              </a:ext>
            </a:extLst>
          </p:cNvPr>
          <p:cNvSpPr txBox="1"/>
          <p:nvPr/>
        </p:nvSpPr>
        <p:spPr>
          <a:xfrm>
            <a:off x="3198943" y="1986266"/>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66" name="TextBox 65">
            <a:extLst>
              <a:ext uri="{FF2B5EF4-FFF2-40B4-BE49-F238E27FC236}">
                <a16:creationId xmlns:a16="http://schemas.microsoft.com/office/drawing/2014/main" id="{7552ED9D-57AD-3BA2-7BCA-1D9B245C5667}"/>
              </a:ext>
            </a:extLst>
          </p:cNvPr>
          <p:cNvSpPr txBox="1"/>
          <p:nvPr/>
        </p:nvSpPr>
        <p:spPr>
          <a:xfrm>
            <a:off x="3255238" y="3885591"/>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9" name="Oval 88">
            <a:extLst>
              <a:ext uri="{FF2B5EF4-FFF2-40B4-BE49-F238E27FC236}">
                <a16:creationId xmlns:a16="http://schemas.microsoft.com/office/drawing/2014/main" id="{26531297-8C4D-6F3E-BBA4-F6A28B7725A5}"/>
              </a:ext>
            </a:extLst>
          </p:cNvPr>
          <p:cNvSpPr/>
          <p:nvPr/>
        </p:nvSpPr>
        <p:spPr>
          <a:xfrm>
            <a:off x="9857586" y="121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E75B08B9-CDBE-B06C-DA24-41E70F44F2DF}"/>
              </a:ext>
            </a:extLst>
          </p:cNvPr>
          <p:cNvSpPr txBox="1"/>
          <p:nvPr/>
        </p:nvSpPr>
        <p:spPr>
          <a:xfrm>
            <a:off x="10106406" y="1116422"/>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22BC2AEE-CF32-C177-0AE8-C7F669850B38}"/>
              </a:ext>
            </a:extLst>
          </p:cNvPr>
          <p:cNvSpPr/>
          <p:nvPr/>
        </p:nvSpPr>
        <p:spPr>
          <a:xfrm>
            <a:off x="6889985" y="1564388"/>
            <a:ext cx="2514621" cy="588064"/>
          </a:xfrm>
          <a:prstGeom prst="roundRect">
            <a:avLst/>
          </a:prstGeom>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en-US" sz="1600" dirty="0">
                <a:latin typeface="Calibri" panose="020F0502020204030204" pitchFamily="34" charset="0"/>
                <a:cs typeface="Calibri" panose="020F0502020204030204" pitchFamily="34" charset="0"/>
              </a:rPr>
              <a:t>Managed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project.name</a:t>
            </a:r>
            <a:r>
              <a:rPr lang="en-US" sz="1600" dirty="0">
                <a:solidFill>
                  <a:schemeClr val="tx1"/>
                </a:solidFill>
                <a:latin typeface="Calibri" panose="020F0502020204030204" pitchFamily="34" charset="0"/>
                <a:cs typeface="Calibri" panose="020F0502020204030204" pitchFamily="34" charset="0"/>
              </a:rPr>
              <a:t>, …]</a:t>
            </a:r>
          </a:p>
        </p:txBody>
      </p:sp>
      <p:sp>
        <p:nvSpPr>
          <p:cNvPr id="98" name="Rounded Rectangle 97">
            <a:extLst>
              <a:ext uri="{FF2B5EF4-FFF2-40B4-BE49-F238E27FC236}">
                <a16:creationId xmlns:a16="http://schemas.microsoft.com/office/drawing/2014/main" id="{D8810078-559E-C4B0-28AE-54883B8B4F2A}"/>
              </a:ext>
            </a:extLst>
          </p:cNvPr>
          <p:cNvSpPr/>
          <p:nvPr/>
        </p:nvSpPr>
        <p:spPr>
          <a:xfrm>
            <a:off x="6565297" y="2743627"/>
            <a:ext cx="2402248"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Project Monthly Report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a:t>
            </a:r>
          </a:p>
        </p:txBody>
      </p:sp>
      <p:sp>
        <p:nvSpPr>
          <p:cNvPr id="94" name="Oval 93">
            <a:extLst>
              <a:ext uri="{FF2B5EF4-FFF2-40B4-BE49-F238E27FC236}">
                <a16:creationId xmlns:a16="http://schemas.microsoft.com/office/drawing/2014/main" id="{C5F2F35C-CC3D-861A-C2BE-4BEF95289843}"/>
              </a:ext>
            </a:extLst>
          </p:cNvPr>
          <p:cNvSpPr/>
          <p:nvPr/>
        </p:nvSpPr>
        <p:spPr>
          <a:xfrm>
            <a:off x="6752875" y="20051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51508D83-0E13-3C49-BB64-48849612515B}"/>
              </a:ext>
            </a:extLst>
          </p:cNvPr>
          <p:cNvSpPr txBox="1"/>
          <p:nvPr/>
        </p:nvSpPr>
        <p:spPr>
          <a:xfrm>
            <a:off x="6967842" y="2113516"/>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96" name="Straight Connector 95">
            <a:extLst>
              <a:ext uri="{FF2B5EF4-FFF2-40B4-BE49-F238E27FC236}">
                <a16:creationId xmlns:a16="http://schemas.microsoft.com/office/drawing/2014/main" id="{E7AED253-58F0-11D7-9C13-CB8253C8DAAE}"/>
              </a:ext>
            </a:extLst>
          </p:cNvPr>
          <p:cNvCxnSpPr>
            <a:cxnSpLocks/>
            <a:stCxn id="109" idx="6"/>
            <a:endCxn id="21" idx="5"/>
          </p:cNvCxnSpPr>
          <p:nvPr/>
        </p:nvCxnSpPr>
        <p:spPr>
          <a:xfrm flipV="1">
            <a:off x="10163848" y="1695023"/>
            <a:ext cx="708329" cy="11758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Parallelogram 8">
            <a:extLst>
              <a:ext uri="{FF2B5EF4-FFF2-40B4-BE49-F238E27FC236}">
                <a16:creationId xmlns:a16="http://schemas.microsoft.com/office/drawing/2014/main" id="{237488F6-271D-C493-ACA3-BA1AF00B3884}"/>
              </a:ext>
            </a:extLst>
          </p:cNvPr>
          <p:cNvSpPr/>
          <p:nvPr/>
        </p:nvSpPr>
        <p:spPr>
          <a:xfrm>
            <a:off x="10453201" y="4459861"/>
            <a:ext cx="1701493" cy="654359"/>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dirty="0">
                <a:latin typeface="Calibri" panose="020F0502020204030204" pitchFamily="34" charset="0"/>
                <a:cs typeface="Calibri" panose="020F0502020204030204" pitchFamily="34" charset="0"/>
              </a:rPr>
              <a:t>Get Collaborators</a:t>
            </a:r>
          </a:p>
        </p:txBody>
      </p:sp>
      <p:sp>
        <p:nvSpPr>
          <p:cNvPr id="19" name="Rounded Rectangle 18">
            <a:extLst>
              <a:ext uri="{FF2B5EF4-FFF2-40B4-BE49-F238E27FC236}">
                <a16:creationId xmlns:a16="http://schemas.microsoft.com/office/drawing/2014/main" id="{86441F28-82F5-FC2C-6D5C-6C48E7BA2355}"/>
              </a:ext>
            </a:extLst>
          </p:cNvPr>
          <p:cNvSpPr/>
          <p:nvPr/>
        </p:nvSpPr>
        <p:spPr>
          <a:xfrm>
            <a:off x="6725048" y="3932899"/>
            <a:ext cx="2402248" cy="58661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Collaborators </a:t>
            </a:r>
            <a:r>
              <a:rPr lang="en-US" sz="1600" dirty="0">
                <a:solidFill>
                  <a:schemeClr val="tx1"/>
                </a:solidFill>
                <a:latin typeface="Calibri" panose="020F0502020204030204" pitchFamily="34" charset="0"/>
                <a:cs typeface="Calibri" panose="020F0502020204030204" pitchFamily="34" charset="0"/>
              </a:rPr>
              <a:t>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collaborator.id</a:t>
            </a:r>
            <a:r>
              <a:rPr lang="en-US" sz="1600" dirty="0">
                <a:solidFill>
                  <a:schemeClr val="tx1"/>
                </a:solidFill>
                <a:latin typeface="Calibri" panose="020F0502020204030204" pitchFamily="34" charset="0"/>
                <a:cs typeface="Calibri" panose="020F0502020204030204" pitchFamily="34" charset="0"/>
              </a:rPr>
              <a:t>, name]</a:t>
            </a:r>
          </a:p>
        </p:txBody>
      </p:sp>
      <p:sp>
        <p:nvSpPr>
          <p:cNvPr id="20" name="Rounded Rectangle 19">
            <a:extLst>
              <a:ext uri="{FF2B5EF4-FFF2-40B4-BE49-F238E27FC236}">
                <a16:creationId xmlns:a16="http://schemas.microsoft.com/office/drawing/2014/main" id="{837E03C0-1596-03FD-5F2E-3E5E835F17D4}"/>
              </a:ext>
            </a:extLst>
          </p:cNvPr>
          <p:cNvSpPr/>
          <p:nvPr/>
        </p:nvSpPr>
        <p:spPr>
          <a:xfrm>
            <a:off x="6517547" y="4969442"/>
            <a:ext cx="2964807" cy="36296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Collaborator Hours Report</a:t>
            </a:r>
            <a:endParaRPr lang="en-US" sz="1400" dirty="0">
              <a:solidFill>
                <a:schemeClr val="tx1"/>
              </a:solidFill>
              <a:latin typeface="Calibri" panose="020F0502020204030204" pitchFamily="34" charset="0"/>
              <a:cs typeface="Calibri" panose="020F0502020204030204" pitchFamily="34" charset="0"/>
            </a:endParaRPr>
          </a:p>
        </p:txBody>
      </p:sp>
      <p:cxnSp>
        <p:nvCxnSpPr>
          <p:cNvPr id="26" name="Elbow Connector 25">
            <a:extLst>
              <a:ext uri="{FF2B5EF4-FFF2-40B4-BE49-F238E27FC236}">
                <a16:creationId xmlns:a16="http://schemas.microsoft.com/office/drawing/2014/main" id="{ABFD1D15-DA53-5719-C815-E1C773B723AA}"/>
              </a:ext>
            </a:extLst>
          </p:cNvPr>
          <p:cNvCxnSpPr>
            <a:cxnSpLocks/>
            <a:stCxn id="9" idx="3"/>
          </p:cNvCxnSpPr>
          <p:nvPr/>
        </p:nvCxnSpPr>
        <p:spPr>
          <a:xfrm rot="5400000">
            <a:off x="10459855" y="4666586"/>
            <a:ext cx="314664" cy="120993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098AEA98-9482-EF07-FC2F-F3D7CABD53B5}"/>
              </a:ext>
            </a:extLst>
          </p:cNvPr>
          <p:cNvSpPr txBox="1"/>
          <p:nvPr/>
        </p:nvSpPr>
        <p:spPr>
          <a:xfrm>
            <a:off x="205707" y="4802047"/>
            <a:ext cx="143137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Save assignment</a:t>
            </a:r>
          </a:p>
        </p:txBody>
      </p:sp>
      <p:sp>
        <p:nvSpPr>
          <p:cNvPr id="93" name="Parallelogram 92">
            <a:extLst>
              <a:ext uri="{FF2B5EF4-FFF2-40B4-BE49-F238E27FC236}">
                <a16:creationId xmlns:a16="http://schemas.microsoft.com/office/drawing/2014/main" id="{7FF36B08-2BD6-3A52-40C1-D8DBE881B265}"/>
              </a:ext>
            </a:extLst>
          </p:cNvPr>
          <p:cNvSpPr/>
          <p:nvPr/>
        </p:nvSpPr>
        <p:spPr>
          <a:xfrm>
            <a:off x="10315477" y="301537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Conclude Project</a:t>
            </a:r>
          </a:p>
        </p:txBody>
      </p:sp>
      <p:sp>
        <p:nvSpPr>
          <p:cNvPr id="102" name="Oval 101">
            <a:extLst>
              <a:ext uri="{FF2B5EF4-FFF2-40B4-BE49-F238E27FC236}">
                <a16:creationId xmlns:a16="http://schemas.microsoft.com/office/drawing/2014/main" id="{B4E3FC8C-D206-8F3D-36A8-056C5CF85F2A}"/>
              </a:ext>
            </a:extLst>
          </p:cNvPr>
          <p:cNvSpPr/>
          <p:nvPr/>
        </p:nvSpPr>
        <p:spPr>
          <a:xfrm>
            <a:off x="8852581" y="2570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08E5DFB-DD42-1F7D-A2E0-FB5D05556802}"/>
              </a:ext>
            </a:extLst>
          </p:cNvPr>
          <p:cNvSpPr txBox="1"/>
          <p:nvPr/>
        </p:nvSpPr>
        <p:spPr>
          <a:xfrm>
            <a:off x="9116276" y="242016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conclude</a:t>
            </a:r>
          </a:p>
        </p:txBody>
      </p:sp>
      <p:cxnSp>
        <p:nvCxnSpPr>
          <p:cNvPr id="105" name="Straight Connector 104">
            <a:extLst>
              <a:ext uri="{FF2B5EF4-FFF2-40B4-BE49-F238E27FC236}">
                <a16:creationId xmlns:a16="http://schemas.microsoft.com/office/drawing/2014/main" id="{648F5F9C-DE19-2C77-B58C-3ABCBAB9C1D4}"/>
              </a:ext>
            </a:extLst>
          </p:cNvPr>
          <p:cNvCxnSpPr>
            <a:cxnSpLocks/>
          </p:cNvCxnSpPr>
          <p:nvPr/>
        </p:nvCxnSpPr>
        <p:spPr>
          <a:xfrm flipH="1">
            <a:off x="10005446" y="351964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795951-6891-A2C9-34EC-0ADBDEC44B7E}"/>
              </a:ext>
            </a:extLst>
          </p:cNvPr>
          <p:cNvCxnSpPr>
            <a:cxnSpLocks/>
            <a:endCxn id="93" idx="5"/>
          </p:cNvCxnSpPr>
          <p:nvPr/>
        </p:nvCxnSpPr>
        <p:spPr>
          <a:xfrm>
            <a:off x="9139185" y="2721995"/>
            <a:ext cx="1258087" cy="62055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 name="Parallelogram 9">
            <a:extLst>
              <a:ext uri="{FF2B5EF4-FFF2-40B4-BE49-F238E27FC236}">
                <a16:creationId xmlns:a16="http://schemas.microsoft.com/office/drawing/2014/main" id="{6450A6EF-B099-9D82-E658-C76275B571C1}"/>
              </a:ext>
            </a:extLst>
          </p:cNvPr>
          <p:cNvSpPr/>
          <p:nvPr/>
        </p:nvSpPr>
        <p:spPr>
          <a:xfrm>
            <a:off x="148760" y="2505446"/>
            <a:ext cx="1941218"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Managed Tasks</a:t>
            </a:r>
          </a:p>
        </p:txBody>
      </p:sp>
      <p:cxnSp>
        <p:nvCxnSpPr>
          <p:cNvPr id="16" name="Straight Connector 15">
            <a:extLst>
              <a:ext uri="{FF2B5EF4-FFF2-40B4-BE49-F238E27FC236}">
                <a16:creationId xmlns:a16="http://schemas.microsoft.com/office/drawing/2014/main" id="{8C1C20B3-DBE1-CDD7-9A43-F7E1AEB83F4D}"/>
              </a:ext>
            </a:extLst>
          </p:cNvPr>
          <p:cNvCxnSpPr>
            <a:cxnSpLocks/>
          </p:cNvCxnSpPr>
          <p:nvPr/>
        </p:nvCxnSpPr>
        <p:spPr>
          <a:xfrm flipH="1">
            <a:off x="408167" y="2337653"/>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7" name="Oval 26">
            <a:extLst>
              <a:ext uri="{FF2B5EF4-FFF2-40B4-BE49-F238E27FC236}">
                <a16:creationId xmlns:a16="http://schemas.microsoft.com/office/drawing/2014/main" id="{9ABD67AB-6156-62A5-51A5-8FD8F22E8A9B}"/>
              </a:ext>
            </a:extLst>
          </p:cNvPr>
          <p:cNvSpPr/>
          <p:nvPr/>
        </p:nvSpPr>
        <p:spPr>
          <a:xfrm>
            <a:off x="2150795" y="2064021"/>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8" name="Straight Connector 27">
            <a:extLst>
              <a:ext uri="{FF2B5EF4-FFF2-40B4-BE49-F238E27FC236}">
                <a16:creationId xmlns:a16="http://schemas.microsoft.com/office/drawing/2014/main" id="{75177F0A-B18F-A6BB-87EF-768D5EBB21E8}"/>
              </a:ext>
            </a:extLst>
          </p:cNvPr>
          <p:cNvCxnSpPr>
            <a:cxnSpLocks/>
            <a:stCxn id="27" idx="2"/>
            <a:endCxn id="10" idx="1"/>
          </p:cNvCxnSpPr>
          <p:nvPr/>
        </p:nvCxnSpPr>
        <p:spPr>
          <a:xfrm flipH="1">
            <a:off x="1201164" y="2208037"/>
            <a:ext cx="949631" cy="297409"/>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35ABA6D-FF63-FD08-5F6B-ECED51DD7C41}"/>
              </a:ext>
            </a:extLst>
          </p:cNvPr>
          <p:cNvCxnSpPr>
            <a:cxnSpLocks/>
          </p:cNvCxnSpPr>
          <p:nvPr/>
        </p:nvCxnSpPr>
        <p:spPr>
          <a:xfrm flipH="1">
            <a:off x="532667" y="5453620"/>
            <a:ext cx="438770" cy="268870"/>
          </a:xfrm>
          <a:prstGeom prst="line">
            <a:avLst/>
          </a:prstGeom>
        </p:spPr>
        <p:style>
          <a:lnRef idx="2">
            <a:schemeClr val="dk1"/>
          </a:lnRef>
          <a:fillRef idx="0">
            <a:schemeClr val="dk1"/>
          </a:fillRef>
          <a:effectRef idx="1">
            <a:schemeClr val="dk1"/>
          </a:effectRef>
          <a:fontRef idx="minor">
            <a:schemeClr val="tx1"/>
          </a:fontRef>
        </p:style>
      </p:cxnSp>
      <p:sp>
        <p:nvSpPr>
          <p:cNvPr id="15" name="Google Shape;208;p33">
            <a:extLst>
              <a:ext uri="{FF2B5EF4-FFF2-40B4-BE49-F238E27FC236}">
                <a16:creationId xmlns:a16="http://schemas.microsoft.com/office/drawing/2014/main" id="{6F1747B3-8B08-3F3A-83BB-DADD5A5D06E0}"/>
              </a:ext>
            </a:extLst>
          </p:cNvPr>
          <p:cNvSpPr txBox="1"/>
          <p:nvPr/>
        </p:nvSpPr>
        <p:spPr>
          <a:xfrm>
            <a:off x="313267" y="2089215"/>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48" name="Elbow Connector 47">
            <a:extLst>
              <a:ext uri="{FF2B5EF4-FFF2-40B4-BE49-F238E27FC236}">
                <a16:creationId xmlns:a16="http://schemas.microsoft.com/office/drawing/2014/main" id="{EF67BEF8-FE97-6A47-0D3D-3F51AA178273}"/>
              </a:ext>
            </a:extLst>
          </p:cNvPr>
          <p:cNvCxnSpPr>
            <a:cxnSpLocks/>
            <a:stCxn id="45" idx="2"/>
            <a:endCxn id="37" idx="0"/>
          </p:cNvCxnSpPr>
          <p:nvPr/>
        </p:nvCxnSpPr>
        <p:spPr>
          <a:xfrm rot="10800000" flipH="1" flipV="1">
            <a:off x="2976899" y="2251662"/>
            <a:ext cx="1490904" cy="1923782"/>
          </a:xfrm>
          <a:prstGeom prst="bentConnector4">
            <a:avLst>
              <a:gd name="adj1" fmla="val -15333"/>
              <a:gd name="adj2" fmla="val 5374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Elbow Connector 50">
            <a:extLst>
              <a:ext uri="{FF2B5EF4-FFF2-40B4-BE49-F238E27FC236}">
                <a16:creationId xmlns:a16="http://schemas.microsoft.com/office/drawing/2014/main" id="{1D208CE8-932D-F6AB-F4D4-280E32F6ED63}"/>
              </a:ext>
            </a:extLst>
          </p:cNvPr>
          <p:cNvCxnSpPr>
            <a:cxnSpLocks/>
            <a:stCxn id="10" idx="3"/>
          </p:cNvCxnSpPr>
          <p:nvPr/>
        </p:nvCxnSpPr>
        <p:spPr>
          <a:xfrm rot="16200000" flipH="1">
            <a:off x="1554550" y="2642829"/>
            <a:ext cx="257776" cy="129172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Elbow Connector 57">
            <a:extLst>
              <a:ext uri="{FF2B5EF4-FFF2-40B4-BE49-F238E27FC236}">
                <a16:creationId xmlns:a16="http://schemas.microsoft.com/office/drawing/2014/main" id="{4A343977-C6A5-AFB6-3218-84EA70BCD52F}"/>
              </a:ext>
            </a:extLst>
          </p:cNvPr>
          <p:cNvCxnSpPr>
            <a:cxnSpLocks/>
            <a:stCxn id="46" idx="2"/>
            <a:endCxn id="53" idx="0"/>
          </p:cNvCxnSpPr>
          <p:nvPr/>
        </p:nvCxnSpPr>
        <p:spPr>
          <a:xfrm rot="10800000" flipV="1">
            <a:off x="921397" y="4223739"/>
            <a:ext cx="2111797" cy="57830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8AFA8955-4161-5FCC-3891-B602B9520A39}"/>
              </a:ext>
            </a:extLst>
          </p:cNvPr>
          <p:cNvSpPr/>
          <p:nvPr/>
        </p:nvSpPr>
        <p:spPr>
          <a:xfrm>
            <a:off x="2993145" y="484510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8" name="TextBox 67">
            <a:extLst>
              <a:ext uri="{FF2B5EF4-FFF2-40B4-BE49-F238E27FC236}">
                <a16:creationId xmlns:a16="http://schemas.microsoft.com/office/drawing/2014/main" id="{376247B4-DC07-CF8A-30E3-1FF6EBFCA31A}"/>
              </a:ext>
            </a:extLst>
          </p:cNvPr>
          <p:cNvSpPr txBox="1"/>
          <p:nvPr/>
        </p:nvSpPr>
        <p:spPr>
          <a:xfrm>
            <a:off x="3244111" y="4964692"/>
            <a:ext cx="692818"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assign</a:t>
            </a:r>
          </a:p>
        </p:txBody>
      </p:sp>
      <p:cxnSp>
        <p:nvCxnSpPr>
          <p:cNvPr id="69" name="Elbow Connector 68">
            <a:extLst>
              <a:ext uri="{FF2B5EF4-FFF2-40B4-BE49-F238E27FC236}">
                <a16:creationId xmlns:a16="http://schemas.microsoft.com/office/drawing/2014/main" id="{C78C77BE-0421-1B47-2CF8-786463BD9FDF}"/>
              </a:ext>
            </a:extLst>
          </p:cNvPr>
          <p:cNvCxnSpPr>
            <a:cxnSpLocks/>
            <a:stCxn id="67" idx="4"/>
            <a:endCxn id="71" idx="0"/>
          </p:cNvCxnSpPr>
          <p:nvPr/>
        </p:nvCxnSpPr>
        <p:spPr>
          <a:xfrm rot="16200000" flipH="1">
            <a:off x="3197172" y="5073128"/>
            <a:ext cx="502581" cy="62260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1" name="Parallelogram 70">
            <a:extLst>
              <a:ext uri="{FF2B5EF4-FFF2-40B4-BE49-F238E27FC236}">
                <a16:creationId xmlns:a16="http://schemas.microsoft.com/office/drawing/2014/main" id="{B6C81D1F-EB1A-B946-052E-0AB217F2A113}"/>
              </a:ext>
            </a:extLst>
          </p:cNvPr>
          <p:cNvSpPr/>
          <p:nvPr/>
        </p:nvSpPr>
        <p:spPr>
          <a:xfrm>
            <a:off x="3075688" y="56357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72" name="TextBox 71">
            <a:extLst>
              <a:ext uri="{FF2B5EF4-FFF2-40B4-BE49-F238E27FC236}">
                <a16:creationId xmlns:a16="http://schemas.microsoft.com/office/drawing/2014/main" id="{51FB537C-82F0-C9A0-E1EF-62AE6A1E9A7D}"/>
              </a:ext>
            </a:extLst>
          </p:cNvPr>
          <p:cNvSpPr txBox="1"/>
          <p:nvPr/>
        </p:nvSpPr>
        <p:spPr>
          <a:xfrm>
            <a:off x="3075687" y="5649916"/>
            <a:ext cx="1368152"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Assign Project</a:t>
            </a:r>
          </a:p>
        </p:txBody>
      </p:sp>
      <p:sp>
        <p:nvSpPr>
          <p:cNvPr id="42" name="Google Shape;208;p33">
            <a:extLst>
              <a:ext uri="{FF2B5EF4-FFF2-40B4-BE49-F238E27FC236}">
                <a16:creationId xmlns:a16="http://schemas.microsoft.com/office/drawing/2014/main" id="{5586DD1F-2074-DCAD-ADB0-54646475C802}"/>
              </a:ext>
            </a:extLst>
          </p:cNvPr>
          <p:cNvSpPr txBox="1"/>
          <p:nvPr/>
        </p:nvSpPr>
        <p:spPr>
          <a:xfrm>
            <a:off x="21694" y="5700147"/>
            <a:ext cx="2547770" cy="64633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collaboratorIds[]</a:t>
            </a:r>
          </a:p>
          <a:p>
            <a:pPr lvl="0" algn="ctr"/>
            <a:r>
              <a:rPr lang="es-419" sz="1200" dirty="0">
                <a:solidFill>
                  <a:schemeClr val="dk1"/>
                </a:solidFill>
                <a:latin typeface="Calibri"/>
                <a:ea typeface="Calibri"/>
                <a:cs typeface="Calibri"/>
                <a:sym typeface="Calibri"/>
              </a:rPr>
              <a:t>plannedHoursByMonth[month, hours]</a:t>
            </a:r>
          </a:p>
        </p:txBody>
      </p:sp>
      <p:sp>
        <p:nvSpPr>
          <p:cNvPr id="76" name="Google Shape;208;p33">
            <a:extLst>
              <a:ext uri="{FF2B5EF4-FFF2-40B4-BE49-F238E27FC236}">
                <a16:creationId xmlns:a16="http://schemas.microsoft.com/office/drawing/2014/main" id="{074155D5-DEDE-ADB5-F065-2132C25B89C6}"/>
              </a:ext>
            </a:extLst>
          </p:cNvPr>
          <p:cNvSpPr txBox="1"/>
          <p:nvPr/>
        </p:nvSpPr>
        <p:spPr>
          <a:xfrm>
            <a:off x="1865734" y="6474339"/>
            <a:ext cx="797343" cy="26887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project.id</a:t>
            </a:r>
          </a:p>
        </p:txBody>
      </p:sp>
      <p:cxnSp>
        <p:nvCxnSpPr>
          <p:cNvPr id="78" name="Straight Connector 77">
            <a:extLst>
              <a:ext uri="{FF2B5EF4-FFF2-40B4-BE49-F238E27FC236}">
                <a16:creationId xmlns:a16="http://schemas.microsoft.com/office/drawing/2014/main" id="{846662AB-D41A-C0CA-09F9-E69758D01BD1}"/>
              </a:ext>
            </a:extLst>
          </p:cNvPr>
          <p:cNvCxnSpPr>
            <a:cxnSpLocks/>
          </p:cNvCxnSpPr>
          <p:nvPr/>
        </p:nvCxnSpPr>
        <p:spPr>
          <a:xfrm flipH="1">
            <a:off x="2651050" y="6212043"/>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79" name="Elbow Connector 78">
            <a:extLst>
              <a:ext uri="{FF2B5EF4-FFF2-40B4-BE49-F238E27FC236}">
                <a16:creationId xmlns:a16="http://schemas.microsoft.com/office/drawing/2014/main" id="{287E1C9F-A17B-3EA2-A1B9-84AE69B767C4}"/>
              </a:ext>
            </a:extLst>
          </p:cNvPr>
          <p:cNvCxnSpPr>
            <a:cxnSpLocks/>
            <a:stCxn id="71" idx="2"/>
          </p:cNvCxnSpPr>
          <p:nvPr/>
        </p:nvCxnSpPr>
        <p:spPr>
          <a:xfrm flipV="1">
            <a:off x="4362045" y="5504408"/>
            <a:ext cx="392835" cy="45849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40B82CEF-B824-139F-8B67-80BD3CF90E17}"/>
              </a:ext>
            </a:extLst>
          </p:cNvPr>
          <p:cNvSpPr/>
          <p:nvPr/>
        </p:nvSpPr>
        <p:spPr>
          <a:xfrm>
            <a:off x="9875816" y="166859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17" name="Straight Connector 116">
            <a:extLst>
              <a:ext uri="{FF2B5EF4-FFF2-40B4-BE49-F238E27FC236}">
                <a16:creationId xmlns:a16="http://schemas.microsoft.com/office/drawing/2014/main" id="{D3EE85DE-1D18-9C8C-4C13-4FDEBF1F8872}"/>
              </a:ext>
            </a:extLst>
          </p:cNvPr>
          <p:cNvCxnSpPr>
            <a:cxnSpLocks/>
          </p:cNvCxnSpPr>
          <p:nvPr/>
        </p:nvCxnSpPr>
        <p:spPr>
          <a:xfrm flipH="1">
            <a:off x="11401725" y="1216987"/>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18" name="Google Shape;208;p33">
            <a:extLst>
              <a:ext uri="{FF2B5EF4-FFF2-40B4-BE49-F238E27FC236}">
                <a16:creationId xmlns:a16="http://schemas.microsoft.com/office/drawing/2014/main" id="{FD40AD30-9CE8-AEF0-F840-79E89F2CF165}"/>
              </a:ext>
            </a:extLst>
          </p:cNvPr>
          <p:cNvSpPr txBox="1"/>
          <p:nvPr/>
        </p:nvSpPr>
        <p:spPr>
          <a:xfrm>
            <a:off x="11306825" y="968549"/>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20" name="Elbow Connector 119">
            <a:extLst>
              <a:ext uri="{FF2B5EF4-FFF2-40B4-BE49-F238E27FC236}">
                <a16:creationId xmlns:a16="http://schemas.microsoft.com/office/drawing/2014/main" id="{F7019BBB-9D97-2D69-B533-1FC92D16FA0E}"/>
              </a:ext>
            </a:extLst>
          </p:cNvPr>
          <p:cNvCxnSpPr>
            <a:cxnSpLocks/>
            <a:stCxn id="21" idx="3"/>
          </p:cNvCxnSpPr>
          <p:nvPr/>
        </p:nvCxnSpPr>
        <p:spPr>
          <a:xfrm rot="5400000">
            <a:off x="10656470" y="1377953"/>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5C90947-8EAD-D3C7-73CF-5599BF83E1EF}"/>
              </a:ext>
            </a:extLst>
          </p:cNvPr>
          <p:cNvCxnSpPr>
            <a:cxnSpLocks/>
            <a:stCxn id="124" idx="6"/>
            <a:endCxn id="9" idx="5"/>
          </p:cNvCxnSpPr>
          <p:nvPr/>
        </p:nvCxnSpPr>
        <p:spPr>
          <a:xfrm>
            <a:off x="10148428" y="4617148"/>
            <a:ext cx="386568" cy="169893"/>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4" name="Oval 123">
            <a:extLst>
              <a:ext uri="{FF2B5EF4-FFF2-40B4-BE49-F238E27FC236}">
                <a16:creationId xmlns:a16="http://schemas.microsoft.com/office/drawing/2014/main" id="{09E95531-6BAE-C99C-8D03-FFF16CAE24FA}"/>
              </a:ext>
            </a:extLst>
          </p:cNvPr>
          <p:cNvSpPr/>
          <p:nvPr/>
        </p:nvSpPr>
        <p:spPr>
          <a:xfrm>
            <a:off x="9860396" y="447313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31" name="Straight Connector 130">
            <a:extLst>
              <a:ext uri="{FF2B5EF4-FFF2-40B4-BE49-F238E27FC236}">
                <a16:creationId xmlns:a16="http://schemas.microsoft.com/office/drawing/2014/main" id="{E060C403-AC93-99BF-66B7-71E4D8244319}"/>
              </a:ext>
            </a:extLst>
          </p:cNvPr>
          <p:cNvCxnSpPr>
            <a:cxnSpLocks/>
          </p:cNvCxnSpPr>
          <p:nvPr/>
        </p:nvCxnSpPr>
        <p:spPr>
          <a:xfrm flipH="1">
            <a:off x="11194436" y="4313821"/>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32" name="Google Shape;208;p33">
            <a:extLst>
              <a:ext uri="{FF2B5EF4-FFF2-40B4-BE49-F238E27FC236}">
                <a16:creationId xmlns:a16="http://schemas.microsoft.com/office/drawing/2014/main" id="{2EF389AB-70C4-3219-B373-AD61899644CD}"/>
              </a:ext>
            </a:extLst>
          </p:cNvPr>
          <p:cNvSpPr txBox="1"/>
          <p:nvPr/>
        </p:nvSpPr>
        <p:spPr>
          <a:xfrm>
            <a:off x="11099536" y="4065383"/>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sp>
        <p:nvSpPr>
          <p:cNvPr id="135" name="Oval 134">
            <a:extLst>
              <a:ext uri="{FF2B5EF4-FFF2-40B4-BE49-F238E27FC236}">
                <a16:creationId xmlns:a16="http://schemas.microsoft.com/office/drawing/2014/main" id="{7AD7BFB1-4EE9-CAA4-96F6-500DD17923E9}"/>
              </a:ext>
            </a:extLst>
          </p:cNvPr>
          <p:cNvSpPr/>
          <p:nvPr/>
        </p:nvSpPr>
        <p:spPr>
          <a:xfrm>
            <a:off x="6579285" y="434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6" name="TextBox 135">
            <a:extLst>
              <a:ext uri="{FF2B5EF4-FFF2-40B4-BE49-F238E27FC236}">
                <a16:creationId xmlns:a16="http://schemas.microsoft.com/office/drawing/2014/main" id="{432AA3ED-7192-9FCA-0C59-D1ABCD379D53}"/>
              </a:ext>
            </a:extLst>
          </p:cNvPr>
          <p:cNvSpPr txBox="1"/>
          <p:nvPr/>
        </p:nvSpPr>
        <p:spPr>
          <a:xfrm>
            <a:off x="6794252" y="445097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137" name="Elbow Connector 136">
            <a:extLst>
              <a:ext uri="{FF2B5EF4-FFF2-40B4-BE49-F238E27FC236}">
                <a16:creationId xmlns:a16="http://schemas.microsoft.com/office/drawing/2014/main" id="{2A6E38AA-E47A-E02F-3961-537FBB31B2F2}"/>
              </a:ext>
            </a:extLst>
          </p:cNvPr>
          <p:cNvCxnSpPr>
            <a:cxnSpLocks/>
            <a:stCxn id="135" idx="4"/>
            <a:endCxn id="20" idx="0"/>
          </p:cNvCxnSpPr>
          <p:nvPr/>
        </p:nvCxnSpPr>
        <p:spPr>
          <a:xfrm rot="16200000" flipH="1">
            <a:off x="7192244" y="4161735"/>
            <a:ext cx="338764" cy="127665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1" name="Elbow Connector 140">
            <a:extLst>
              <a:ext uri="{FF2B5EF4-FFF2-40B4-BE49-F238E27FC236}">
                <a16:creationId xmlns:a16="http://schemas.microsoft.com/office/drawing/2014/main" id="{A673F850-E1F1-EF71-7CAD-B85292BF54C9}"/>
              </a:ext>
            </a:extLst>
          </p:cNvPr>
          <p:cNvCxnSpPr>
            <a:cxnSpLocks/>
            <a:stCxn id="94" idx="4"/>
            <a:endCxn id="98" idx="0"/>
          </p:cNvCxnSpPr>
          <p:nvPr/>
        </p:nvCxnSpPr>
        <p:spPr>
          <a:xfrm rot="16200000" flipH="1">
            <a:off x="7106451" y="2083656"/>
            <a:ext cx="450411" cy="86953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91BB143-9A8F-B55E-E611-C8A24A24F8B4}"/>
              </a:ext>
            </a:extLst>
          </p:cNvPr>
          <p:cNvCxnSpPr>
            <a:cxnSpLocks/>
          </p:cNvCxnSpPr>
          <p:nvPr/>
        </p:nvCxnSpPr>
        <p:spPr>
          <a:xfrm flipH="1">
            <a:off x="11275348" y="2851045"/>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48" name="Google Shape;208;p33">
            <a:extLst>
              <a:ext uri="{FF2B5EF4-FFF2-40B4-BE49-F238E27FC236}">
                <a16:creationId xmlns:a16="http://schemas.microsoft.com/office/drawing/2014/main" id="{B4AB09E5-FE0E-5E18-4F14-38343FE615D4}"/>
              </a:ext>
            </a:extLst>
          </p:cNvPr>
          <p:cNvSpPr txBox="1"/>
          <p:nvPr/>
        </p:nvSpPr>
        <p:spPr>
          <a:xfrm>
            <a:off x="10872178" y="2454519"/>
            <a:ext cx="958558" cy="40374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254121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7DA04-B738-40EB-335A-03053426EB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634CCE4-F17D-3B50-7B5A-A55B997E555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collaboratore</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3946A559-A6EA-F254-F913-051445C7E24E}"/>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88971D17-E615-A226-7352-EE745D283FDE}"/>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Assigned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project.title</a:t>
            </a:r>
            <a:r>
              <a:rPr lang="en-US" sz="16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E2F149F0-FBF5-76D1-206F-D18334D1BD34}"/>
              </a:ext>
            </a:extLst>
          </p:cNvPr>
          <p:cNvSpPr/>
          <p:nvPr/>
        </p:nvSpPr>
        <p:spPr>
          <a:xfrm>
            <a:off x="7832102" y="1787794"/>
            <a:ext cx="254738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Assigned Projects Structure</a:t>
            </a:r>
          </a:p>
        </p:txBody>
      </p:sp>
      <p:sp>
        <p:nvSpPr>
          <p:cNvPr id="45" name="Oval 44">
            <a:extLst>
              <a:ext uri="{FF2B5EF4-FFF2-40B4-BE49-F238E27FC236}">
                <a16:creationId xmlns:a16="http://schemas.microsoft.com/office/drawing/2014/main" id="{1EAD0873-2602-77FF-F0D2-4626F499C3AF}"/>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D80A1097-9A12-3DA1-2807-4977F169D115}"/>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E832E99A-C4EB-2C61-5073-B991F8AAFCD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8FE9A81A-E06E-5967-F73D-903432240E71}"/>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37CFECB2-C0F8-192E-B5B1-9CD30D3FEC35}"/>
              </a:ext>
            </a:extLst>
          </p:cNvPr>
          <p:cNvSpPr/>
          <p:nvPr/>
        </p:nvSpPr>
        <p:spPr>
          <a:xfrm>
            <a:off x="2222370" y="5139871"/>
            <a:ext cx="3613038" cy="76303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Task Timesheet</a:t>
            </a:r>
          </a:p>
          <a:p>
            <a:pPr algn="ctr"/>
            <a:r>
              <a:rPr lang="en-US" sz="1600" dirty="0">
                <a:solidFill>
                  <a:schemeClr val="tx1"/>
                </a:solidFill>
                <a:latin typeface="Calibri" panose="020F0502020204030204" pitchFamily="34" charset="0"/>
                <a:cs typeface="Calibri" panose="020F0502020204030204" pitchFamily="34" charset="0"/>
              </a:rPr>
              <a:t>[project, WP, task, months, planned hours, worked hours]</a:t>
            </a:r>
          </a:p>
        </p:txBody>
      </p:sp>
      <p:sp>
        <p:nvSpPr>
          <p:cNvPr id="27" name="TextBox 26">
            <a:extLst>
              <a:ext uri="{FF2B5EF4-FFF2-40B4-BE49-F238E27FC236}">
                <a16:creationId xmlns:a16="http://schemas.microsoft.com/office/drawing/2014/main" id="{1F22420E-66FC-B22E-AB4C-D1409660319B}"/>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EB72A284-D5E9-5349-209D-9426368B55C9}"/>
              </a:ext>
            </a:extLst>
          </p:cNvPr>
          <p:cNvCxnSpPr>
            <a:cxnSpLocks/>
            <a:stCxn id="7" idx="6"/>
            <a:endCxn id="21" idx="5"/>
          </p:cNvCxnSpPr>
          <p:nvPr/>
        </p:nvCxnSpPr>
        <p:spPr>
          <a:xfrm flipV="1">
            <a:off x="7186627" y="2114974"/>
            <a:ext cx="727270" cy="11758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8C3201CA-045E-AC60-5C86-41EDBE286527}"/>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58256338-801D-D575-D0E8-AD3D194FF24A}"/>
              </a:ext>
            </a:extLst>
          </p:cNvPr>
          <p:cNvCxnSpPr>
            <a:cxnSpLocks/>
          </p:cNvCxnSpPr>
          <p:nvPr/>
        </p:nvCxnSpPr>
        <p:spPr>
          <a:xfrm flipH="1">
            <a:off x="8424504" y="163693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AF440D25-700A-32C6-336C-EC427E220648}"/>
              </a:ext>
            </a:extLst>
          </p:cNvPr>
          <p:cNvSpPr txBox="1"/>
          <p:nvPr/>
        </p:nvSpPr>
        <p:spPr>
          <a:xfrm>
            <a:off x="8329604" y="1388500"/>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00E04DA6-1BE3-241C-83DB-CB4A8543288E}"/>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67062AB4-BB5A-75B9-38FA-ACF396A24112}"/>
              </a:ext>
            </a:extLst>
          </p:cNvPr>
          <p:cNvCxnSpPr>
            <a:cxnSpLocks/>
            <a:stCxn id="45" idx="2"/>
            <a:endCxn id="19" idx="0"/>
          </p:cNvCxnSpPr>
          <p:nvPr/>
        </p:nvCxnSpPr>
        <p:spPr>
          <a:xfrm rot="10800000" flipH="1" flipV="1">
            <a:off x="2078353" y="2407079"/>
            <a:ext cx="1950535" cy="2732791"/>
          </a:xfrm>
          <a:prstGeom prst="bentConnector4">
            <a:avLst>
              <a:gd name="adj1" fmla="val -11720"/>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sp>
        <p:nvSpPr>
          <p:cNvPr id="52" name="Parallelogram 51">
            <a:extLst>
              <a:ext uri="{FF2B5EF4-FFF2-40B4-BE49-F238E27FC236}">
                <a16:creationId xmlns:a16="http://schemas.microsoft.com/office/drawing/2014/main" id="{6E0F1611-4F1F-1FB0-62DD-BA7D123CFFA7}"/>
              </a:ext>
            </a:extLst>
          </p:cNvPr>
          <p:cNvSpPr/>
          <p:nvPr/>
        </p:nvSpPr>
        <p:spPr>
          <a:xfrm>
            <a:off x="7832102" y="5248210"/>
            <a:ext cx="1472736" cy="549558"/>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 Hours</a:t>
            </a:r>
          </a:p>
        </p:txBody>
      </p:sp>
      <p:cxnSp>
        <p:nvCxnSpPr>
          <p:cNvPr id="53" name="Straight Connector 52">
            <a:extLst>
              <a:ext uri="{FF2B5EF4-FFF2-40B4-BE49-F238E27FC236}">
                <a16:creationId xmlns:a16="http://schemas.microsoft.com/office/drawing/2014/main" id="{69BAD65C-7747-1349-E2AF-D1591CE3A353}"/>
              </a:ext>
            </a:extLst>
          </p:cNvPr>
          <p:cNvCxnSpPr>
            <a:cxnSpLocks/>
            <a:stCxn id="61" idx="6"/>
            <a:endCxn id="52" idx="5"/>
          </p:cNvCxnSpPr>
          <p:nvPr/>
        </p:nvCxnSpPr>
        <p:spPr>
          <a:xfrm>
            <a:off x="5974042" y="5123709"/>
            <a:ext cx="1926755" cy="39928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103D53CE-730E-8AC2-172F-3733641CF959}"/>
              </a:ext>
            </a:extLst>
          </p:cNvPr>
          <p:cNvCxnSpPr>
            <a:cxnSpLocks/>
          </p:cNvCxnSpPr>
          <p:nvPr/>
        </p:nvCxnSpPr>
        <p:spPr>
          <a:xfrm flipH="1">
            <a:off x="8424504" y="5090273"/>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6F9F57B5-02CD-A8FF-C2F2-1961B8D39C2F}"/>
              </a:ext>
            </a:extLst>
          </p:cNvPr>
          <p:cNvSpPr txBox="1"/>
          <p:nvPr/>
        </p:nvSpPr>
        <p:spPr>
          <a:xfrm>
            <a:off x="8329604" y="4292277"/>
            <a:ext cx="103078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8F99DBE7-34BF-012B-E132-23AB4F74A444}"/>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BB90FE6-786A-28EC-1BAC-9E9477836FB1}"/>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19614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19657-F0C9-9CBD-0E56-F7AE8E64362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8E7E2B1-C6BC-F0D9-A213-E36E445C0E2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(login)</a:t>
            </a:r>
          </a:p>
        </p:txBody>
      </p:sp>
      <p:graphicFrame>
        <p:nvGraphicFramePr>
          <p:cNvPr id="2" name="Table 1">
            <a:extLst>
              <a:ext uri="{FF2B5EF4-FFF2-40B4-BE49-F238E27FC236}">
                <a16:creationId xmlns:a16="http://schemas.microsoft.com/office/drawing/2014/main" id="{C80C05BD-27DA-E71F-84DC-83565E808616}"/>
              </a:ext>
            </a:extLst>
          </p:cNvPr>
          <p:cNvGraphicFramePr>
            <a:graphicFrameLocks noGrp="1"/>
          </p:cNvGraphicFramePr>
          <p:nvPr>
            <p:extLst>
              <p:ext uri="{D42A27DB-BD31-4B8C-83A1-F6EECF244321}">
                <p14:modId xmlns:p14="http://schemas.microsoft.com/office/powerpoint/2010/main" val="2823957511"/>
              </p:ext>
            </p:extLst>
          </p:nvPr>
        </p:nvGraphicFramePr>
        <p:xfrm>
          <a:off x="426630" y="1401833"/>
          <a:ext cx="11338736" cy="2579863"/>
        </p:xfrm>
        <a:graphic>
          <a:graphicData uri="http://schemas.openxmlformats.org/drawingml/2006/table">
            <a:tbl>
              <a:tblPr firstRow="1" bandRow="1">
                <a:tableStyleId>{00A15C55-8517-42AA-B614-E9B94910E393}</a:tableStyleId>
              </a:tblPr>
              <a:tblGrid>
                <a:gridCol w="2834684">
                  <a:extLst>
                    <a:ext uri="{9D8B030D-6E8A-4147-A177-3AD203B41FA5}">
                      <a16:colId xmlns:a16="http://schemas.microsoft.com/office/drawing/2014/main" val="235445318"/>
                    </a:ext>
                  </a:extLst>
                </a:gridCol>
                <a:gridCol w="2834684">
                  <a:extLst>
                    <a:ext uri="{9D8B030D-6E8A-4147-A177-3AD203B41FA5}">
                      <a16:colId xmlns:a16="http://schemas.microsoft.com/office/drawing/2014/main" val="2807583141"/>
                    </a:ext>
                  </a:extLst>
                </a:gridCol>
                <a:gridCol w="2834684">
                  <a:extLst>
                    <a:ext uri="{9D8B030D-6E8A-4147-A177-3AD203B41FA5}">
                      <a16:colId xmlns:a16="http://schemas.microsoft.com/office/drawing/2014/main" val="3946285172"/>
                    </a:ext>
                  </a:extLst>
                </a:gridCol>
                <a:gridCol w="2834684">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552293">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campi</a:t>
                      </a:r>
                      <a:r>
                        <a:rPr lang="en-US" sz="1200" dirty="0">
                          <a:effectLst/>
                          <a:latin typeface="Calibri" panose="020F0502020204030204" pitchFamily="34" charset="0"/>
                          <a:cs typeface="Calibri" panose="020F0502020204030204" pitchFamily="34" charset="0"/>
                        </a:rPr>
                        <a:t> non </a:t>
                      </a:r>
                      <a:r>
                        <a:rPr lang="en-US" sz="1200" dirty="0" err="1">
                          <a:effectLst/>
                          <a:latin typeface="Calibri" panose="020F0502020204030204" pitchFamily="34" charset="0"/>
                          <a:cs typeface="Calibri" panose="020F0502020204030204" pitchFamily="34" charset="0"/>
                        </a:rPr>
                        <a:t>vuoti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invio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sessione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ruolo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80942">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Collaborator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258899326"/>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err="1">
                          <a:solidFill>
                            <a:srgbClr val="FF0000"/>
                          </a:solidFill>
                          <a:effectLst/>
                          <a:latin typeface="Calibri" panose="020F0502020204030204" pitchFamily="34" charset="0"/>
                          <a:cs typeface="Calibri" panose="020F0502020204030204" pitchFamily="34" charset="0"/>
                        </a:rPr>
                        <a:t>responsabile</a:t>
                      </a: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a:t>
                      </a:r>
                      <a:r>
                        <a:rPr lang="en-US" sz="1200" dirty="0" err="1">
                          <a:effectLst/>
                          <a:latin typeface="Calibri" panose="020F0502020204030204" pitchFamily="34" charset="0"/>
                          <a:cs typeface="Calibri" panose="020F0502020204030204" pitchFamily="34" charset="0"/>
                        </a:rPr>
                        <a:t>Responsabile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11202458"/>
                  </a:ext>
                </a:extLst>
              </a:tr>
              <a:tr h="465386">
                <a:tc>
                  <a:txBody>
                    <a:bodyPr/>
                    <a:lstStyle/>
                    <a:p>
                      <a:r>
                        <a:rPr lang="en-US" sz="1200" dirty="0">
                          <a:latin typeface="Calibri" panose="020F0502020204030204" pitchFamily="34" charset="0"/>
                          <a:cs typeface="Calibri" panose="020F0502020204030204" pitchFamily="34" charset="0"/>
                        </a:rPr>
                        <a:t>Logout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redirect alla login view</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Invalidazione</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sessione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538357848"/>
                  </a:ext>
                </a:extLst>
              </a:tr>
            </a:tbl>
          </a:graphicData>
        </a:graphic>
      </p:graphicFrame>
    </p:spTree>
    <p:extLst>
      <p:ext uri="{BB962C8B-B14F-4D97-AF65-F5344CB8AC3E}">
        <p14:creationId xmlns:p14="http://schemas.microsoft.com/office/powerpoint/2010/main" val="2412029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7DA77-5B5D-72C7-6446-1F6BF1FEB9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8DA22C9-3C00-5EAE-28E9-118D3885877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(admin)</a:t>
            </a:r>
          </a:p>
        </p:txBody>
      </p:sp>
      <p:graphicFrame>
        <p:nvGraphicFramePr>
          <p:cNvPr id="2" name="Table 1">
            <a:extLst>
              <a:ext uri="{FF2B5EF4-FFF2-40B4-BE49-F238E27FC236}">
                <a16:creationId xmlns:a16="http://schemas.microsoft.com/office/drawing/2014/main" id="{287629BF-0313-6568-2F09-BD1749F555AC}"/>
              </a:ext>
            </a:extLst>
          </p:cNvPr>
          <p:cNvGraphicFramePr>
            <a:graphicFrameLocks noGrp="1"/>
          </p:cNvGraphicFramePr>
          <p:nvPr>
            <p:extLst>
              <p:ext uri="{D42A27DB-BD31-4B8C-83A1-F6EECF244321}">
                <p14:modId xmlns:p14="http://schemas.microsoft.com/office/powerpoint/2010/main" val="722839102"/>
              </p:ext>
            </p:extLst>
          </p:nvPr>
        </p:nvGraphicFramePr>
        <p:xfrm>
          <a:off x="426632" y="1192603"/>
          <a:ext cx="11338736" cy="5665397"/>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Admin Home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area draft e verify</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Create Project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submit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Crea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lato client, </a:t>
                      </a:r>
                      <a:r>
                        <a:rPr lang="en-US" sz="1200" dirty="0" err="1">
                          <a:effectLst/>
                          <a:latin typeface="Calibri" panose="020F0502020204030204" pitchFamily="34" charset="0"/>
                          <a:cs typeface="Calibri" panose="020F0502020204030204" pitchFamily="34" charset="0"/>
                        </a:rPr>
                        <a:t>renderizza</a:t>
                      </a:r>
                      <a:r>
                        <a:rPr lang="en-US" sz="1200" dirty="0">
                          <a:effectLst/>
                          <a:latin typeface="Calibri" panose="020F0502020204030204" pitchFamily="34" charset="0"/>
                          <a:cs typeface="Calibri" panose="020F0502020204030204" pitchFamily="34" charset="0"/>
                        </a:rPr>
                        <a:t> draft structure</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WP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WP e task </a:t>
                      </a:r>
                      <a:r>
                        <a:rPr lang="en-US" sz="1200" dirty="0" err="1">
                          <a:effectLst/>
                          <a:latin typeface="Calibri" panose="020F0502020204030204" pitchFamily="34" charset="0"/>
                          <a:cs typeface="Calibri" panose="020F0502020204030204" pitchFamily="34" charset="0"/>
                        </a:rPr>
                        <a:t>figli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task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 attribute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titolo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descrizione</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precedente</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successivo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Sposta task </a:t>
                      </a:r>
                      <a:r>
                        <a:rPr lang="en-US" sz="1200" dirty="0" err="1">
                          <a:effectLst/>
                          <a:latin typeface="Calibri" panose="020F0502020204030204" pitchFamily="34" charset="0"/>
                          <a:cs typeface="Calibri" panose="020F0502020204030204" pitchFamily="34" charset="0"/>
                        </a:rPr>
                        <a:t>tra</a:t>
                      </a:r>
                      <a:r>
                        <a:rPr lang="en-US" sz="1200" dirty="0">
                          <a:effectLst/>
                          <a:latin typeface="Calibri" panose="020F0502020204030204" pitchFamily="34" charset="0"/>
                          <a:cs typeface="Calibri" panose="020F0502020204030204" pitchFamily="34" charset="0"/>
                        </a:rPr>
                        <a:t> WP, </a:t>
                      </a:r>
                      <a:r>
                        <a:rPr lang="en-US" sz="1200" dirty="0" err="1">
                          <a:effectLst/>
                          <a:latin typeface="Calibri" panose="020F0502020204030204" pitchFamily="34" charset="0"/>
                          <a:cs typeface="Calibri" panose="020F0502020204030204" pitchFamily="34" charset="0"/>
                        </a:rPr>
                        <a:t>valida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durata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rinumera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 wp[],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380942">
                <a:tc>
                  <a:txBody>
                    <a:bodyPr/>
                    <a:lstStyle/>
                    <a:p>
                      <a:pPr fontAlgn="t">
                        <a:buNone/>
                      </a:pPr>
                      <a:r>
                        <a:rPr lang="en-US" sz="1200" dirty="0">
                          <a:effectLst/>
                          <a:latin typeface="Calibri" panose="020F0502020204030204" pitchFamily="34" charset="0"/>
                          <a:cs typeface="Calibri" panose="020F0502020204030204" pitchFamily="34" charset="0"/>
                        </a:rPr>
                        <a:t>Save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Reset draft,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258899326"/>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read-only </a:t>
                      </a:r>
                      <a:r>
                        <a:rPr lang="en-US" sz="1200" dirty="0" err="1">
                          <a:effectLst/>
                          <a:latin typeface="Calibri" panose="020F0502020204030204" pitchFamily="34" charset="0"/>
                          <a:cs typeface="Calibri" panose="020F0502020204030204" pitchFamily="34" charset="0"/>
                        </a:rPr>
                        <a:t>dai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già</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9645794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00B3F-DF0A-AE42-E171-C5583FB0ED7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CED1F99-71FA-75DF-ADDB-EE041903404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(responsabile)</a:t>
            </a:r>
          </a:p>
        </p:txBody>
      </p:sp>
      <p:graphicFrame>
        <p:nvGraphicFramePr>
          <p:cNvPr id="2" name="Table 1">
            <a:extLst>
              <a:ext uri="{FF2B5EF4-FFF2-40B4-BE49-F238E27FC236}">
                <a16:creationId xmlns:a16="http://schemas.microsoft.com/office/drawing/2014/main" id="{27DB0BD1-1AA6-1DED-6A52-B10E3655ADE3}"/>
              </a:ext>
            </a:extLst>
          </p:cNvPr>
          <p:cNvGraphicFramePr>
            <a:graphicFrameLocks noGrp="1"/>
          </p:cNvGraphicFramePr>
          <p:nvPr>
            <p:extLst>
              <p:ext uri="{D42A27DB-BD31-4B8C-83A1-F6EECF244321}">
                <p14:modId xmlns:p14="http://schemas.microsoft.com/office/powerpoint/2010/main" val="1392153557"/>
              </p:ext>
            </p:extLst>
          </p:nvPr>
        </p:nvGraphicFramePr>
        <p:xfrm>
          <a:off x="426632" y="1192603"/>
          <a:ext cx="11338736" cy="5665397"/>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154432009"/>
                  </a:ext>
                </a:extLst>
              </a:tr>
              <a:tr h="223598">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640082781"/>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180485815"/>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26845777"/>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350050692"/>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380942">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258899326"/>
                  </a:ext>
                </a:extLst>
              </a:tr>
              <a:tr h="287234">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7085005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75FC9-3DC7-6F01-AF7D-D76F1AFF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DBD4E7-A6BD-3E94-64DA-24E22E9EE7C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(collaboratore)</a:t>
            </a:r>
          </a:p>
        </p:txBody>
      </p:sp>
      <p:graphicFrame>
        <p:nvGraphicFramePr>
          <p:cNvPr id="2" name="Table 1">
            <a:extLst>
              <a:ext uri="{FF2B5EF4-FFF2-40B4-BE49-F238E27FC236}">
                <a16:creationId xmlns:a16="http://schemas.microsoft.com/office/drawing/2014/main" id="{F05564B9-40EC-39FA-7292-3AE65DAB253A}"/>
              </a:ext>
            </a:extLst>
          </p:cNvPr>
          <p:cNvGraphicFramePr>
            <a:graphicFrameLocks noGrp="1"/>
          </p:cNvGraphicFramePr>
          <p:nvPr>
            <p:extLst>
              <p:ext uri="{D42A27DB-BD31-4B8C-83A1-F6EECF244321}">
                <p14:modId xmlns:p14="http://schemas.microsoft.com/office/powerpoint/2010/main" val="1747996246"/>
              </p:ext>
            </p:extLst>
          </p:nvPr>
        </p:nvGraphicFramePr>
        <p:xfrm>
          <a:off x="426632" y="1192603"/>
          <a:ext cx="11338736" cy="5665397"/>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154432009"/>
                  </a:ext>
                </a:extLst>
              </a:tr>
              <a:tr h="223598">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640082781"/>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180485815"/>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26845777"/>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350050692"/>
                  </a:ext>
                </a:extLst>
              </a:tr>
              <a:tr h="0">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380942">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258899326"/>
                  </a:ext>
                </a:extLst>
              </a:tr>
              <a:tr h="287234">
                <a:tc>
                  <a:txBody>
                    <a:bodyPr/>
                    <a:lstStyle/>
                    <a:p>
                      <a:pPr fontAlgn="t">
                        <a:buNone/>
                      </a:pPr>
                      <a:endParaRPr lang="en-US" sz="1200" dirty="0">
                        <a:solidFill>
                          <a:srgbClr val="FF0000"/>
                        </a:solidFill>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42587668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1327</TotalTime>
  <Words>4062</Words>
  <Application>Microsoft Macintosh PowerPoint</Application>
  <PresentationFormat>Widescreen</PresentationFormat>
  <Paragraphs>504</Paragraphs>
  <Slides>36</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46</cp:revision>
  <dcterms:created xsi:type="dcterms:W3CDTF">2026-05-27T11:53:25Z</dcterms:created>
  <dcterms:modified xsi:type="dcterms:W3CDTF">2026-06-01T16:46:40Z</dcterms:modified>
</cp:coreProperties>
</file>