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274" r:id="rId15"/>
    <p:sldId id="279" r:id="rId16"/>
    <p:sldId id="278" r:id="rId17"/>
    <p:sldId id="280" r:id="rId18"/>
    <p:sldId id="272" r:id="rId19"/>
    <p:sldId id="276" r:id="rId20"/>
    <p:sldId id="273" r:id="rId21"/>
    <p:sldId id="281" r:id="rId22"/>
    <p:sldId id="282" r:id="rId23"/>
    <p:sldId id="283" r:id="rId24"/>
    <p:sldId id="285" r:id="rId25"/>
    <p:sldId id="286"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626"/>
    <p:restoredTop sz="94631"/>
  </p:normalViewPr>
  <p:slideViewPr>
    <p:cSldViewPr snapToGrid="0">
      <p:cViewPr>
        <p:scale>
          <a:sx n="149" d="100"/>
          <a:sy n="149" d="100"/>
        </p:scale>
        <p:origin x="8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5/30/26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5/30/26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5/30/26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Admin</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Admin</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lgn="just">
              <a:spcBef>
                <a:spcPts val="0"/>
              </a:spcBef>
              <a:spcAft>
                <a:spcPts val="1173"/>
              </a:spcAft>
              <a:buClr>
                <a:srgbClr val="000000"/>
              </a:buClr>
              <a:buSzPts val="1100"/>
            </a:pPr>
            <a:r>
              <a:rPr lang="en-US" sz="1500" kern="0" noProof="1">
                <a:solidFill>
                  <a:schemeClr val="tx1"/>
                </a:solidFill>
              </a:rPr>
              <a:t>Amministratore – struttura del progetto: nella versione HTML puro, un work package senza task è considerato un caso estremo valido e viene mostrato tramite messaggio di stato vuoto.</a:t>
            </a:r>
          </a:p>
          <a:p>
            <a:pPr marL="285750" indent="-285750" algn="just">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lgn="just">
              <a:spcBef>
                <a:spcPts val="0"/>
              </a:spcBef>
              <a:spcAft>
                <a:spcPts val="1173"/>
              </a:spcAft>
              <a:buClr>
                <a:srgbClr val="000000"/>
              </a:buClr>
              <a:buSzPts val="1100"/>
            </a:pPr>
            <a:r>
              <a:rPr lang="en-US" sz="1500" kern="0" noProof="1">
                <a:solidFill>
                  <a:schemeClr val="tx1"/>
                </a:solidFill>
              </a:rPr>
              <a:t>Amministratore – HOME AMMINISTRATORE: alla creazione di un task, le ore previste e lavorate iniziali pari a 0 non vengono inserite nel database. L’assenza del valore è interpretata come 0.</a:t>
            </a:r>
          </a:p>
          <a:p>
            <a:pPr marL="285750" indent="-285750" algn="just">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il progetto in stato created più recente tra quelli creati dall’amministratore corrente, individuato tramite l’id più grande.</a:t>
            </a:r>
          </a:p>
          <a:p>
            <a:pPr marL="285750" indent="-285750" algn="just">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lgn="just">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a:p>
            <a:pPr marL="285750" indent="-285750" algn="just">
              <a:spcBef>
                <a:spcPts val="0"/>
              </a:spcBef>
              <a:spcAft>
                <a:spcPts val="1173"/>
              </a:spcAft>
              <a:buClr>
                <a:srgbClr val="000000"/>
              </a:buClr>
              <a:buSzPts val="1100"/>
            </a:pPr>
            <a:r>
              <a:rPr lang="en-US" sz="1500" kern="0" noProof="1">
                <a:solidFill>
                  <a:schemeClr val="tx1"/>
                </a:solidFill>
              </a:rPr>
              <a:t>Instradamento utenti technical: dopo il login, gli utenti con ruolo technical accedono a una pagina intermedia HOME TECNICO, dalla quale possono scegliere se entrare nell’area Responsabile o nell’area Collaboratore.</a:t>
            </a:r>
          </a:p>
          <a:p>
            <a:pPr marL="285750" indent="-285750" algn="just">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err="1">
                <a:solidFill>
                  <a:schemeClr val="tx1"/>
                </a:solidFill>
                <a:latin typeface="Calibri" panose="020F0502020204030204" pitchFamily="34" charset="0"/>
                <a:cs typeface="Calibri" panose="020F0502020204030204" pitchFamily="34" charset="0"/>
              </a:rPr>
              <a:t>LoginForm</a:t>
            </a:r>
            <a:endParaRPr lang="en-US" dirty="0">
              <a:solidFill>
                <a:schemeClr val="tx1"/>
              </a:solidFill>
              <a:latin typeface="Calibri" panose="020F0502020204030204" pitchFamily="34" charset="0"/>
              <a:cs typeface="Calibri" panose="020F0502020204030204" pitchFamily="34" charset="0"/>
            </a:endParaRP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flipV="1">
            <a:off x="5140533" y="3786525"/>
            <a:ext cx="1782492" cy="1722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54333" y="4406891"/>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2" idx="0"/>
          </p:cNvCxnSpPr>
          <p:nvPr/>
        </p:nvCxnSpPr>
        <p:spPr>
          <a:xfrm rot="16200000" flipV="1">
            <a:off x="5571053" y="-777769"/>
            <a:ext cx="78879" cy="7189185"/>
          </a:xfrm>
          <a:prstGeom prst="bentConnector3">
            <a:avLst>
              <a:gd name="adj1" fmla="val 38981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129" idx="6"/>
            <a:endCxn id="2" idx="0"/>
          </p:cNvCxnSpPr>
          <p:nvPr/>
        </p:nvCxnSpPr>
        <p:spPr>
          <a:xfrm flipH="1" flipV="1">
            <a:off x="2015899" y="2777384"/>
            <a:ext cx="6726449" cy="1899170"/>
          </a:xfrm>
          <a:prstGeom prst="bentConnector4">
            <a:avLst>
              <a:gd name="adj1" fmla="val -13055"/>
              <a:gd name="adj2" fmla="val 125986"/>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73253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166724" y="4125592"/>
            <a:ext cx="1507144" cy="369332"/>
          </a:xfrm>
          <a:prstGeom prst="rect">
            <a:avLst/>
          </a:prstGeom>
          <a:noFill/>
        </p:spPr>
        <p:txBody>
          <a:bodyPr wrap="none" rtlCol="0">
            <a:spAutoFit/>
          </a:bodyPr>
          <a:lstStyle/>
          <a:p>
            <a:r>
              <a:rPr lang="en-US" dirty="0">
                <a:solidFill>
                  <a:prstClr val="black"/>
                </a:solidFill>
                <a:latin typeface="Calibri"/>
              </a:rPr>
              <a:t>admin == true</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366762" y="5486255"/>
            <a:ext cx="1547540" cy="369332"/>
          </a:xfrm>
          <a:prstGeom prst="rect">
            <a:avLst/>
          </a:prstGeom>
          <a:noFill/>
        </p:spPr>
        <p:txBody>
          <a:bodyPr wrap="none" rtlCol="0">
            <a:spAutoFit/>
          </a:bodyPr>
          <a:lstStyle/>
          <a:p>
            <a:r>
              <a:rPr lang="en-US" dirty="0">
                <a:solidFill>
                  <a:prstClr val="black"/>
                </a:solidFill>
                <a:latin typeface="Calibri"/>
              </a:rPr>
              <a:t>admin == false</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604927" cy="369332"/>
          </a:xfrm>
          <a:prstGeom prst="rect">
            <a:avLst/>
          </a:prstGeom>
          <a:noFill/>
        </p:spPr>
        <p:txBody>
          <a:bodyPr wrap="none" rtlCol="0">
            <a:spAutoFit/>
          </a:bodyPr>
          <a:lstStyle/>
          <a:p>
            <a:r>
              <a:rPr lang="en-US" dirty="0">
                <a:solidFill>
                  <a:prstClr val="black"/>
                </a:solidFill>
                <a:latin typeface="Calibri"/>
              </a:rPr>
              <a:t>user </a:t>
            </a:r>
            <a:r>
              <a:rPr lang="en-US" dirty="0">
                <a:solidFill>
                  <a:prstClr val="black"/>
                </a:solidFill>
                <a:latin typeface="Calibri"/>
                <a:sym typeface="Wingdings" panose="05000000000000000000" pitchFamily="2" charset="2"/>
              </a:rPr>
              <a:t> session</a:t>
            </a:r>
            <a:endParaRPr lang="en-US"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338069" y="5219124"/>
            <a:ext cx="1604927" cy="369332"/>
          </a:xfrm>
          <a:prstGeom prst="rect">
            <a:avLst/>
          </a:prstGeom>
          <a:noFill/>
        </p:spPr>
        <p:txBody>
          <a:bodyPr wrap="none" rtlCol="0">
            <a:spAutoFit/>
          </a:bodyPr>
          <a:lstStyle/>
          <a:p>
            <a:r>
              <a:rPr lang="en-US" dirty="0">
                <a:solidFill>
                  <a:prstClr val="black"/>
                </a:solidFill>
                <a:latin typeface="Calibri"/>
              </a:rPr>
              <a:t>user </a:t>
            </a:r>
            <a:r>
              <a:rPr lang="en-US" dirty="0">
                <a:solidFill>
                  <a:prstClr val="black"/>
                </a:solidFill>
                <a:latin typeface="Calibri"/>
                <a:sym typeface="Wingdings" panose="05000000000000000000" pitchFamily="2" charset="2"/>
              </a:rPr>
              <a:t> session</a:t>
            </a:r>
            <a:endParaRPr lang="en-US"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5058461"/>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Collaborator Home</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60065"/>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Manager Home</a:t>
            </a:r>
          </a:p>
        </p:txBody>
      </p:sp>
    </p:spTree>
    <p:extLst>
      <p:ext uri="{BB962C8B-B14F-4D97-AF65-F5344CB8AC3E}">
        <p14:creationId xmlns:p14="http://schemas.microsoft.com/office/powerpoint/2010/main" val="4040067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(responsabile)</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2E25FE3A-BB27-98A4-D897-3B3E9736B2F5}"/>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876724B4-F4E0-42CC-2FC2-6B5E3E0818DD}"/>
              </a:ext>
            </a:extLst>
          </p:cNvPr>
          <p:cNvSpPr txBox="1"/>
          <p:nvPr/>
        </p:nvSpPr>
        <p:spPr>
          <a:xfrm>
            <a:off x="206968" y="4951383"/>
            <a:ext cx="1431377"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rPr>
              <a:t>Save assignment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13876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collaboratore</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0"/>
              </a:spcBef>
              <a:spcAft>
                <a:spcPts val="600"/>
              </a:spcAft>
              <a:buClr>
                <a:srgbClr val="000000"/>
              </a:buClr>
              <a:buSzPts val="1100"/>
            </a:pPr>
            <a:r>
              <a:rPr lang="en-US" sz="1500" kern="0" noProof="1">
                <a:solidFill>
                  <a:schemeClr val="tx1"/>
                </a:solidFill>
              </a:rPr>
              <a:t>UserDAO: autenticazione, recupero utenti ruoli.</a:t>
            </a:r>
          </a:p>
          <a:p>
            <a:pPr marL="285750" indent="-285750">
              <a:spcBef>
                <a:spcPts val="0"/>
              </a:spcBef>
              <a:spcAft>
                <a:spcPts val="600"/>
              </a:spcAft>
              <a:buClr>
                <a:srgbClr val="000000"/>
              </a:buClr>
              <a:buSzPts val="1100"/>
            </a:pPr>
            <a:r>
              <a:rPr lang="en-US" sz="1500" kern="0" noProof="1">
                <a:solidFill>
                  <a:schemeClr val="tx1"/>
                </a:solidFill>
              </a:rPr>
              <a:t>ProjectDAO: creazione progetto, recupero per amministratore/responsabile/collaboratore, cambio stato, controlli di assegnabilità e conclusione.</a:t>
            </a:r>
          </a:p>
          <a:p>
            <a:pPr marL="285750" indent="-285750">
              <a:spcBef>
                <a:spcPts val="0"/>
              </a:spcBef>
              <a:spcAft>
                <a:spcPts val="600"/>
              </a:spcAft>
              <a:buClr>
                <a:srgbClr val="000000"/>
              </a:buClr>
              <a:buSzPts val="1100"/>
            </a:pPr>
            <a:r>
              <a:rPr lang="en-US" sz="1500" kern="0" noProof="1">
                <a:solidFill>
                  <a:schemeClr val="tx1"/>
                </a:solidFill>
              </a:rPr>
              <a:t>WPDAO: creazione WP e recupero WP per progetto, amministratore, responsabile e collaboratore.</a:t>
            </a:r>
          </a:p>
          <a:p>
            <a:pPr marL="285750" indent="-285750">
              <a:spcBef>
                <a:spcPts val="0"/>
              </a:spcBef>
              <a:spcAft>
                <a:spcPts val="600"/>
              </a:spcAft>
              <a:buClr>
                <a:srgbClr val="000000"/>
              </a:buClr>
              <a:buSzPts val="1100"/>
            </a:pPr>
            <a:r>
              <a:rPr lang="en-US" sz="1500" kern="0" noProof="1">
                <a:solidFill>
                  <a:schemeClr val="tx1"/>
                </a:solidFill>
              </a:rPr>
              <a:t>TaskDAO: creazione task, recupero task assegnati o gestiti, gestione collaboratori assegnati ai task.</a:t>
            </a:r>
          </a:p>
          <a:p>
            <a:pPr marL="285750" indent="-285750">
              <a:spcBef>
                <a:spcPts val="0"/>
              </a:spcBef>
              <a:spcAft>
                <a:spcPts val="600"/>
              </a:spcAft>
              <a:buClr>
                <a:srgbClr val="000000"/>
              </a:buClr>
              <a:buSzPts val="1100"/>
            </a:pPr>
            <a:r>
              <a:rPr lang="en-US" sz="1500" kern="0" noProof="1">
                <a:solidFill>
                  <a:schemeClr val="tx1"/>
                </a:solidFill>
              </a:rPr>
              <a:t>TaskHoursDAO: lettura/scrittura ore previste e lavorate.</a:t>
            </a:r>
          </a:p>
          <a:p>
            <a:pPr marL="285750" indent="-285750">
              <a:spcBef>
                <a:spcPts val="0"/>
              </a:spcBef>
              <a:spcAft>
                <a:spcPts val="600"/>
              </a:spcAft>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0"/>
              </a:spcBef>
              <a:spcAft>
                <a:spcPts val="600"/>
              </a:spcAft>
              <a:buClr>
                <a:srgbClr val="000000"/>
              </a:buClr>
              <a:buSzPts val="1100"/>
            </a:pPr>
            <a:r>
              <a:rPr lang="en-US" sz="1500" kern="0" noProof="1">
                <a:solidFill>
                  <a:schemeClr val="tx1"/>
                </a:solidFill>
              </a:rPr>
              <a:t>AdminFilter: controllo autenticazione e ruolo admin.</a:t>
            </a:r>
          </a:p>
          <a:p>
            <a:pPr marL="285750" indent="-285750">
              <a:spcBef>
                <a:spcPts val="0"/>
              </a:spcBef>
              <a:spcAft>
                <a:spcPts val="600"/>
              </a:spcAft>
              <a:buClr>
                <a:srgbClr val="000000"/>
              </a:buClr>
              <a:buSzPts val="1100"/>
            </a:pPr>
            <a:r>
              <a:rPr lang="en-US" sz="1500" kern="0" noProof="1">
                <a:solidFill>
                  <a:schemeClr val="tx1"/>
                </a:solidFill>
              </a:rPr>
              <a:t>TechnicalFilter: controllo autenticazione e ruolo technical.</a:t>
            </a:r>
          </a:p>
          <a:p>
            <a:pPr marL="285750" indent="-285750">
              <a:spcBef>
                <a:spcPts val="0"/>
              </a:spcBef>
              <a:spcAft>
                <a:spcPts val="600"/>
              </a:spcAft>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8791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1065534"/>
            <a:ext cx="7772399" cy="5764375"/>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955</TotalTime>
  <Words>2457</Words>
  <Application>Microsoft Macintosh PowerPoint</Application>
  <PresentationFormat>Widescreen</PresentationFormat>
  <Paragraphs>279</Paragraphs>
  <Slides>25</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28</cp:revision>
  <dcterms:created xsi:type="dcterms:W3CDTF">2026-05-27T11:53:25Z</dcterms:created>
  <dcterms:modified xsi:type="dcterms:W3CDTF">2026-05-30T16:34:45Z</dcterms:modified>
</cp:coreProperties>
</file>