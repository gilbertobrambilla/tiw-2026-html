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303" r:id="rId15"/>
    <p:sldId id="274" r:id="rId16"/>
    <p:sldId id="279" r:id="rId17"/>
    <p:sldId id="278" r:id="rId18"/>
    <p:sldId id="280" r:id="rId19"/>
    <p:sldId id="272" r:id="rId20"/>
    <p:sldId id="276" r:id="rId21"/>
    <p:sldId id="273" r:id="rId22"/>
    <p:sldId id="281" r:id="rId23"/>
    <p:sldId id="282" r:id="rId24"/>
    <p:sldId id="283" r:id="rId25"/>
    <p:sldId id="285" r:id="rId26"/>
    <p:sldId id="286" r:id="rId27"/>
    <p:sldId id="287" r:id="rId28"/>
    <p:sldId id="288" r:id="rId29"/>
    <p:sldId id="289" r:id="rId30"/>
    <p:sldId id="295" r:id="rId31"/>
    <p:sldId id="296" r:id="rId32"/>
    <p:sldId id="297" r:id="rId33"/>
    <p:sldId id="298" r:id="rId34"/>
    <p:sldId id="310" r:id="rId35"/>
    <p:sldId id="318" r:id="rId36"/>
    <p:sldId id="319" r:id="rId37"/>
    <p:sldId id="320" r:id="rId38"/>
    <p:sldId id="308" r:id="rId39"/>
    <p:sldId id="312" r:id="rId40"/>
    <p:sldId id="313" r:id="rId41"/>
    <p:sldId id="314" r:id="rId42"/>
    <p:sldId id="304" r:id="rId43"/>
    <p:sldId id="315" r:id="rId44"/>
    <p:sldId id="302" r:id="rId45"/>
    <p:sldId id="305" r:id="rId46"/>
    <p:sldId id="300" r:id="rId47"/>
    <p:sldId id="306" r:id="rId48"/>
    <p:sldId id="299" r:id="rId49"/>
    <p:sldId id="307"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500"/>
    <p:restoredTop sz="94538"/>
  </p:normalViewPr>
  <p:slideViewPr>
    <p:cSldViewPr snapToGrid="0">
      <p:cViewPr varScale="1">
        <p:scale>
          <a:sx n="210" d="100"/>
          <a:sy n="210" d="100"/>
        </p:scale>
        <p:origin x="3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Manca get collaborators per create project</a:t>
            </a:r>
          </a:p>
        </p:txBody>
      </p:sp>
      <p:sp>
        <p:nvSpPr>
          <p:cNvPr id="4" name="Slide Number Placeholder 3"/>
          <p:cNvSpPr>
            <a:spLocks noGrp="1"/>
          </p:cNvSpPr>
          <p:nvPr>
            <p:ph type="sldNum" sz="quarter" idx="5"/>
          </p:nvPr>
        </p:nvSpPr>
        <p:spPr/>
        <p:txBody>
          <a:bodyPr/>
          <a:lstStyle/>
          <a:p>
            <a:fld id="{5322EEB5-FD20-934D-84BD-F405B85148F3}" type="slidenum">
              <a:rPr lang="en-US" smtClean="0"/>
              <a:t>31</a:t>
            </a:fld>
            <a:endParaRPr lang="en-US"/>
          </a:p>
        </p:txBody>
      </p:sp>
    </p:spTree>
    <p:extLst>
      <p:ext uri="{BB962C8B-B14F-4D97-AF65-F5344CB8AC3E}">
        <p14:creationId xmlns:p14="http://schemas.microsoft.com/office/powerpoint/2010/main" val="5225125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38</a:t>
            </a:fld>
            <a:endParaRPr lang="en-US"/>
          </a:p>
        </p:txBody>
      </p:sp>
    </p:spTree>
    <p:extLst>
      <p:ext uri="{BB962C8B-B14F-4D97-AF65-F5344CB8AC3E}">
        <p14:creationId xmlns:p14="http://schemas.microsoft.com/office/powerpoint/2010/main" val="3215046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CAB41-20C3-1624-567E-5CB5C6023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687D5-7247-1C01-3E01-6C080C3BC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B0576D-AC4E-156B-C033-37A3F662A6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6A4135-4010-5EBD-956A-EB98246F4864}"/>
              </a:ext>
            </a:extLst>
          </p:cNvPr>
          <p:cNvSpPr>
            <a:spLocks noGrp="1"/>
          </p:cNvSpPr>
          <p:nvPr>
            <p:ph type="sldNum" sz="quarter" idx="5"/>
          </p:nvPr>
        </p:nvSpPr>
        <p:spPr/>
        <p:txBody>
          <a:bodyPr/>
          <a:lstStyle/>
          <a:p>
            <a:fld id="{5322EEB5-FD20-934D-84BD-F405B85148F3}" type="slidenum">
              <a:rPr lang="en-US" smtClean="0"/>
              <a:t>39</a:t>
            </a:fld>
            <a:endParaRPr lang="en-US"/>
          </a:p>
        </p:txBody>
      </p:sp>
    </p:spTree>
    <p:extLst>
      <p:ext uri="{BB962C8B-B14F-4D97-AF65-F5344CB8AC3E}">
        <p14:creationId xmlns:p14="http://schemas.microsoft.com/office/powerpoint/2010/main" val="3840608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1613A-0CFC-7D2D-D89C-4F56B726DA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0226A-33FA-165C-C2E6-B9F6222256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7D1E01-6F42-DA58-89B5-10058403C9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F1F531-9C63-AE0A-477E-6651A4EFFE44}"/>
              </a:ext>
            </a:extLst>
          </p:cNvPr>
          <p:cNvSpPr>
            <a:spLocks noGrp="1"/>
          </p:cNvSpPr>
          <p:nvPr>
            <p:ph type="sldNum" sz="quarter" idx="5"/>
          </p:nvPr>
        </p:nvSpPr>
        <p:spPr/>
        <p:txBody>
          <a:bodyPr/>
          <a:lstStyle/>
          <a:p>
            <a:fld id="{5322EEB5-FD20-934D-84BD-F405B85148F3}" type="slidenum">
              <a:rPr lang="en-US" smtClean="0"/>
              <a:t>40</a:t>
            </a:fld>
            <a:endParaRPr lang="en-US"/>
          </a:p>
        </p:txBody>
      </p:sp>
    </p:spTree>
    <p:extLst>
      <p:ext uri="{BB962C8B-B14F-4D97-AF65-F5344CB8AC3E}">
        <p14:creationId xmlns:p14="http://schemas.microsoft.com/office/powerpoint/2010/main" val="1636758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39125-6495-8BAD-846E-58BC21881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E5B84-E4DB-54DB-1BEA-40593A9F7D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9A2F3A-69B1-B113-8A41-08C09A8D99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070B01-4A59-6F9B-85D0-45576DD0D573}"/>
              </a:ext>
            </a:extLst>
          </p:cNvPr>
          <p:cNvSpPr>
            <a:spLocks noGrp="1"/>
          </p:cNvSpPr>
          <p:nvPr>
            <p:ph type="sldNum" sz="quarter" idx="5"/>
          </p:nvPr>
        </p:nvSpPr>
        <p:spPr/>
        <p:txBody>
          <a:bodyPr/>
          <a:lstStyle/>
          <a:p>
            <a:fld id="{5322EEB5-FD20-934D-84BD-F405B85148F3}" type="slidenum">
              <a:rPr lang="en-US" smtClean="0"/>
              <a:t>41</a:t>
            </a:fld>
            <a:endParaRPr lang="en-US"/>
          </a:p>
        </p:txBody>
      </p:sp>
    </p:spTree>
    <p:extLst>
      <p:ext uri="{BB962C8B-B14F-4D97-AF65-F5344CB8AC3E}">
        <p14:creationId xmlns:p14="http://schemas.microsoft.com/office/powerpoint/2010/main" val="2203510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43</a:t>
            </a:fld>
            <a:endParaRPr lang="en-US"/>
          </a:p>
        </p:txBody>
      </p:sp>
    </p:spTree>
    <p:extLst>
      <p:ext uri="{BB962C8B-B14F-4D97-AF65-F5344CB8AC3E}">
        <p14:creationId xmlns:p14="http://schemas.microsoft.com/office/powerpoint/2010/main" val="12849376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6/12/26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6/12/26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non vengono inserite righe iniziali per le ore previste o lavorate. L’assenza delle ore previste indica un dato non ancora definito, mentre un valore pari a 0 è valido solo se salvato esplicitamente; per le ore lavorate, invece, l’assenza del dato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se presente,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76AEE-091D-F42F-33B0-CC31F553C28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8AE0A92-B370-41FD-1F8D-8461D33C8F5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7EAF3D0F-9DFD-B31D-77D0-BC411C9F7523}"/>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tecnico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a:p>
            <a:pPr marL="285750" indent="-285750">
              <a:spcBef>
                <a:spcPts val="0"/>
              </a:spcBef>
              <a:buClr>
                <a:srgbClr val="000000"/>
              </a:buClr>
              <a:buSzPts val="1100"/>
            </a:pPr>
            <a:r>
              <a:rPr lang="en-US" sz="1500" kern="0" noProof="1">
                <a:solidFill>
                  <a:schemeClr val="tx1"/>
                </a:solidFill>
              </a:rPr>
              <a:t>Per coerenza con il design applicativo, da questa sezione in poi i ruoli della specifica vengono indicati con naming inglese.</a:t>
            </a:r>
          </a:p>
          <a:p>
            <a:pPr marL="822183" lvl="1" indent="-285750">
              <a:spcBef>
                <a:spcPts val="0"/>
              </a:spcBef>
              <a:buClr>
                <a:srgbClr val="000000"/>
              </a:buClr>
              <a:buSzPts val="1100"/>
            </a:pPr>
            <a:r>
              <a:rPr lang="en-US" sz="1500" kern="0" noProof="1">
                <a:solidFill>
                  <a:schemeClr val="tx1"/>
                </a:solidFill>
              </a:rPr>
              <a:t>Amministratore: admin</a:t>
            </a:r>
          </a:p>
          <a:p>
            <a:pPr marL="822183" lvl="1" indent="-285750">
              <a:spcBef>
                <a:spcPts val="0"/>
              </a:spcBef>
              <a:buClr>
                <a:srgbClr val="000000"/>
              </a:buClr>
              <a:buSzPts val="1100"/>
            </a:pPr>
            <a:r>
              <a:rPr lang="en-US" sz="1500" kern="0" noProof="1">
                <a:solidFill>
                  <a:schemeClr val="tx1"/>
                </a:solidFill>
              </a:rPr>
              <a:t>Tecnico: technical</a:t>
            </a:r>
          </a:p>
          <a:p>
            <a:pPr marL="822183" lvl="1" indent="-285750">
              <a:spcBef>
                <a:spcPts val="0"/>
              </a:spcBef>
              <a:buClr>
                <a:srgbClr val="000000"/>
              </a:buClr>
              <a:buSzPts val="1100"/>
            </a:pPr>
            <a:r>
              <a:rPr lang="en-US" sz="1500" kern="0" noProof="1">
                <a:solidFill>
                  <a:schemeClr val="tx1"/>
                </a:solidFill>
              </a:rPr>
              <a:t>Collaboratore: collaborator</a:t>
            </a:r>
          </a:p>
          <a:p>
            <a:pPr marL="822183" lvl="1" indent="-285750">
              <a:spcBef>
                <a:spcPts val="0"/>
              </a:spcBef>
              <a:buClr>
                <a:srgbClr val="000000"/>
              </a:buClr>
              <a:buSzPts val="1100"/>
            </a:pPr>
            <a:r>
              <a:rPr lang="en-US" sz="1500" kern="0" noProof="1">
                <a:solidFill>
                  <a:schemeClr val="tx1"/>
                </a:solidFill>
              </a:rPr>
              <a:t>Responsabile: manager</a:t>
            </a:r>
          </a:p>
        </p:txBody>
      </p:sp>
    </p:spTree>
    <p:extLst>
      <p:ext uri="{BB962C8B-B14F-4D97-AF65-F5344CB8AC3E}">
        <p14:creationId xmlns:p14="http://schemas.microsoft.com/office/powerpoint/2010/main" val="1806273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69831" y="4383644"/>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5" idx="2"/>
          </p:cNvCxnSpPr>
          <p:nvPr/>
        </p:nvCxnSpPr>
        <p:spPr>
          <a:xfrm rot="16200000" flipV="1">
            <a:off x="7831618" y="1482797"/>
            <a:ext cx="475242" cy="22716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5" idx="5"/>
            <a:endCxn id="2" idx="0"/>
          </p:cNvCxnSpPr>
          <p:nvPr/>
        </p:nvCxnSpPr>
        <p:spPr>
          <a:xfrm rot="10800000" flipV="1">
            <a:off x="2015900" y="2381020"/>
            <a:ext cx="3712933" cy="39636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4856987"/>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98810"/>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5" name="Parallelogram 4">
            <a:extLst>
              <a:ext uri="{FF2B5EF4-FFF2-40B4-BE49-F238E27FC236}">
                <a16:creationId xmlns:a16="http://schemas.microsoft.com/office/drawing/2014/main" id="{60D9C668-7258-2BA5-4420-B8294D8C0FFF}"/>
              </a:ext>
            </a:extLst>
          </p:cNvPr>
          <p:cNvSpPr/>
          <p:nvPr/>
        </p:nvSpPr>
        <p:spPr>
          <a:xfrm>
            <a:off x="5647037" y="20538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6" name="Elbow Connector 5">
            <a:extLst>
              <a:ext uri="{FF2B5EF4-FFF2-40B4-BE49-F238E27FC236}">
                <a16:creationId xmlns:a16="http://schemas.microsoft.com/office/drawing/2014/main" id="{E31AB979-49F6-9DFE-D52B-CAB69628BE59}"/>
              </a:ext>
            </a:extLst>
          </p:cNvPr>
          <p:cNvCxnSpPr>
            <a:cxnSpLocks/>
            <a:stCxn id="129" idx="6"/>
            <a:endCxn id="5" idx="2"/>
          </p:cNvCxnSpPr>
          <p:nvPr/>
        </p:nvCxnSpPr>
        <p:spPr>
          <a:xfrm flipH="1" flipV="1">
            <a:off x="6933394" y="2381021"/>
            <a:ext cx="1808954" cy="2295533"/>
          </a:xfrm>
          <a:prstGeom prst="bentConnector3">
            <a:avLst>
              <a:gd name="adj1" fmla="val -48621"/>
            </a:avLst>
          </a:prstGeom>
          <a:ln>
            <a:tailEnd type="arrow"/>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DD3DBC69-7DCD-52E4-7CAB-4D11ACEBDBF9}"/>
              </a:ext>
            </a:extLst>
          </p:cNvPr>
          <p:cNvSpPr/>
          <p:nvPr/>
        </p:nvSpPr>
        <p:spPr>
          <a:xfrm>
            <a:off x="11903968" y="470271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D3E302DA-B607-87F2-71E4-16A38DAAE3E8}"/>
              </a:ext>
            </a:extLst>
          </p:cNvPr>
          <p:cNvSpPr txBox="1"/>
          <p:nvPr/>
        </p:nvSpPr>
        <p:spPr>
          <a:xfrm>
            <a:off x="11219483" y="4553823"/>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Oval 18">
            <a:extLst>
              <a:ext uri="{FF2B5EF4-FFF2-40B4-BE49-F238E27FC236}">
                <a16:creationId xmlns:a16="http://schemas.microsoft.com/office/drawing/2014/main" id="{B62FD96B-A95D-F68C-6325-7C89A6B2362E}"/>
              </a:ext>
            </a:extLst>
          </p:cNvPr>
          <p:cNvSpPr/>
          <p:nvPr/>
        </p:nvSpPr>
        <p:spPr>
          <a:xfrm>
            <a:off x="11903968" y="572430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694855D1-3982-8B34-78F9-A9BFA6F88DC6}"/>
              </a:ext>
            </a:extLst>
          </p:cNvPr>
          <p:cNvSpPr txBox="1"/>
          <p:nvPr/>
        </p:nvSpPr>
        <p:spPr>
          <a:xfrm>
            <a:off x="11219483" y="5575409"/>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21" name="Elbow Connector 20">
            <a:extLst>
              <a:ext uri="{FF2B5EF4-FFF2-40B4-BE49-F238E27FC236}">
                <a16:creationId xmlns:a16="http://schemas.microsoft.com/office/drawing/2014/main" id="{F99C069F-718B-A08C-C8C6-80373CD9D681}"/>
              </a:ext>
            </a:extLst>
          </p:cNvPr>
          <p:cNvCxnSpPr>
            <a:cxnSpLocks/>
            <a:stCxn id="17" idx="0"/>
            <a:endCxn id="5" idx="2"/>
          </p:cNvCxnSpPr>
          <p:nvPr/>
        </p:nvCxnSpPr>
        <p:spPr>
          <a:xfrm rot="16200000" flipV="1">
            <a:off x="8329841" y="984574"/>
            <a:ext cx="2321696"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Elbow Connector 23">
            <a:extLst>
              <a:ext uri="{FF2B5EF4-FFF2-40B4-BE49-F238E27FC236}">
                <a16:creationId xmlns:a16="http://schemas.microsoft.com/office/drawing/2014/main" id="{17F0662D-9516-D45D-C446-0B12C6BF884D}"/>
              </a:ext>
            </a:extLst>
          </p:cNvPr>
          <p:cNvCxnSpPr>
            <a:cxnSpLocks/>
            <a:stCxn id="19" idx="0"/>
            <a:endCxn id="5" idx="2"/>
          </p:cNvCxnSpPr>
          <p:nvPr/>
        </p:nvCxnSpPr>
        <p:spPr>
          <a:xfrm rot="16200000" flipV="1">
            <a:off x="7819048" y="1495367"/>
            <a:ext cx="3343282"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06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Home</a:t>
            </a:r>
            <a:endParaRPr lang="en-US" dirty="0">
              <a:latin typeface="Calibri" panose="020F0502020204030204" pitchFamily="34" charset="0"/>
              <a:cs typeface="Calibri" panose="020F0502020204030204" pitchFamily="34" charset="0"/>
            </a:endParaRP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61400" y="464126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stCxn id="46" idx="2"/>
            <a:endCxn id="59" idx="0"/>
          </p:cNvCxnSpPr>
          <p:nvPr/>
        </p:nvCxnSpPr>
        <p:spPr>
          <a:xfrm rot="10800000" flipV="1">
            <a:off x="834954" y="4785281"/>
            <a:ext cx="1226447" cy="2447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Elbow Connector 59">
            <a:extLst>
              <a:ext uri="{FF2B5EF4-FFF2-40B4-BE49-F238E27FC236}">
                <a16:creationId xmlns:a16="http://schemas.microsoft.com/office/drawing/2014/main" id="{2E25FE3A-BB27-98A4-D897-3B3E9736B2F5}"/>
              </a:ext>
            </a:extLst>
          </p:cNvPr>
          <p:cNvCxnSpPr>
            <a:cxnSpLocks/>
            <a:stCxn id="59" idx="4"/>
          </p:cNvCxnSpPr>
          <p:nvPr/>
        </p:nvCxnSpPr>
        <p:spPr>
          <a:xfrm rot="16200000" flipH="1">
            <a:off x="1225628" y="5367188"/>
            <a:ext cx="464598" cy="124594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04877" y="4495997"/>
            <a:ext cx="129817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(save)</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804" y="5030059"/>
            <a:ext cx="1668297" cy="72780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solidFill>
                  <a:prstClr val="black"/>
                </a:solidFill>
                <a:latin typeface="Calibri" panose="020F0502020204030204" pitchFamily="34" charset="0"/>
                <a:cs typeface="Calibri" panose="020F0502020204030204" pitchFamily="34" charset="0"/>
              </a:rPr>
              <a:t>Save Assignment / </a:t>
            </a:r>
          </a:p>
          <a:p>
            <a:pPr algn="ctr"/>
            <a:r>
              <a:rPr lang="en-US" sz="1400" dirty="0">
                <a:latin typeface="Calibri" panose="020F0502020204030204" pitchFamily="34" charset="0"/>
                <a:cs typeface="Calibri" panose="020F0502020204030204" pitchFamily="34" charset="0"/>
              </a:rPr>
              <a:t>Assign Project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0" name="Oval 29">
            <a:extLst>
              <a:ext uri="{FF2B5EF4-FFF2-40B4-BE49-F238E27FC236}">
                <a16:creationId xmlns:a16="http://schemas.microsoft.com/office/drawing/2014/main" id="{04613A23-7B6C-58AA-45CC-5BCACC5BD995}"/>
              </a:ext>
            </a:extLst>
          </p:cNvPr>
          <p:cNvSpPr/>
          <p:nvPr/>
        </p:nvSpPr>
        <p:spPr>
          <a:xfrm>
            <a:off x="2087703" y="517321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4" name="Elbow Connector 33">
            <a:extLst>
              <a:ext uri="{FF2B5EF4-FFF2-40B4-BE49-F238E27FC236}">
                <a16:creationId xmlns:a16="http://schemas.microsoft.com/office/drawing/2014/main" id="{0A31A24D-E9F2-3B6B-B8FB-552E33A13E75}"/>
              </a:ext>
            </a:extLst>
          </p:cNvPr>
          <p:cNvCxnSpPr>
            <a:cxnSpLocks/>
            <a:stCxn id="30" idx="2"/>
            <a:endCxn id="59" idx="2"/>
          </p:cNvCxnSpPr>
          <p:nvPr/>
        </p:nvCxnSpPr>
        <p:spPr>
          <a:xfrm rot="10800000" flipV="1">
            <a:off x="1578127" y="5317227"/>
            <a:ext cx="509577" cy="7673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02B13A2-86AE-6FC1-F673-041D3C17B46C}"/>
              </a:ext>
            </a:extLst>
          </p:cNvPr>
          <p:cNvSpPr txBox="1"/>
          <p:nvPr/>
        </p:nvSpPr>
        <p:spPr>
          <a:xfrm>
            <a:off x="2331099" y="5236217"/>
            <a:ext cx="1438214"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(assign)</a:t>
            </a:r>
          </a:p>
        </p:txBody>
      </p:sp>
    </p:spTree>
    <p:extLst>
      <p:ext uri="{BB962C8B-B14F-4D97-AF65-F5344CB8AC3E}">
        <p14:creationId xmlns:p14="http://schemas.microsoft.com/office/powerpoint/2010/main" val="214138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600"/>
              </a:spcBef>
              <a:buClr>
                <a:srgbClr val="000000"/>
              </a:buClr>
              <a:buSzPts val="1100"/>
            </a:pPr>
            <a:r>
              <a:rPr lang="en-US" sz="1500" kern="0" noProof="1">
                <a:solidFill>
                  <a:schemeClr val="tx1"/>
                </a:solidFill>
              </a:rPr>
              <a:t>UserDAO: autenticazione, recupero utenti ruoli.</a:t>
            </a:r>
          </a:p>
          <a:p>
            <a:pPr marL="285750" indent="-285750">
              <a:spcBef>
                <a:spcPts val="600"/>
              </a:spcBef>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600"/>
              </a:spcBef>
              <a:buClr>
                <a:srgbClr val="000000"/>
              </a:buClr>
              <a:buSzPts val="1100"/>
            </a:pPr>
            <a:r>
              <a:rPr lang="en-US" sz="1500" kern="0" noProof="1">
                <a:solidFill>
                  <a:schemeClr val="tx1"/>
                </a:solidFill>
              </a:rPr>
              <a:t>WPDAO: creazione WP e recupero WP per progetto, admin, manager e collaborator.</a:t>
            </a:r>
          </a:p>
          <a:p>
            <a:pPr marL="285750" indent="-285750">
              <a:spcBef>
                <a:spcPts val="600"/>
              </a:spcBef>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600"/>
              </a:spcBef>
              <a:buClr>
                <a:srgbClr val="000000"/>
              </a:buClr>
              <a:buSzPts val="1100"/>
            </a:pPr>
            <a:r>
              <a:rPr lang="en-US" sz="1500" kern="0" noProof="1">
                <a:solidFill>
                  <a:schemeClr val="tx1"/>
                </a:solidFill>
              </a:rPr>
              <a:t>TaskHoursDAO: lettura/scrittura ore previste e lavorate.</a:t>
            </a:r>
          </a:p>
          <a:p>
            <a:pPr marL="285750" indent="-285750">
              <a:spcBef>
                <a:spcPts val="600"/>
              </a:spcBef>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600"/>
              </a:spcBef>
              <a:buClr>
                <a:srgbClr val="000000"/>
              </a:buClr>
              <a:buSzPts val="1100"/>
            </a:pPr>
            <a:r>
              <a:rPr lang="en-US" sz="1500" kern="0" noProof="1">
                <a:solidFill>
                  <a:schemeClr val="tx1"/>
                </a:solidFill>
              </a:rPr>
              <a:t>AdminFilter: controllo autenticazione e ruolo admin.</a:t>
            </a:r>
          </a:p>
          <a:p>
            <a:pPr marL="285750" indent="-285750">
              <a:spcBef>
                <a:spcPts val="600"/>
              </a:spcBef>
              <a:buClr>
                <a:srgbClr val="000000"/>
              </a:buClr>
              <a:buSzPts val="1100"/>
            </a:pPr>
            <a:r>
              <a:rPr lang="en-US" sz="1500" kern="0" noProof="1">
                <a:solidFill>
                  <a:schemeClr val="tx1"/>
                </a:solidFill>
              </a:rPr>
              <a:t>TechnicalFilter: controllo autenticazione e ruolo technical.</a:t>
            </a:r>
          </a:p>
          <a:p>
            <a:pPr marL="0" indent="0">
              <a:spcBef>
                <a:spcPts val="1000"/>
              </a:spcBef>
              <a:buClr>
                <a:srgbClr val="000000"/>
              </a:buClr>
              <a:buSzPts val="1100"/>
              <a:buNone/>
            </a:pPr>
            <a:r>
              <a:rPr lang="en-US" sz="1700" kern="0" noProof="1">
                <a:solidFill>
                  <a:schemeClr val="tx1"/>
                </a:solidFill>
              </a:rPr>
              <a:t>Utils</a:t>
            </a:r>
          </a:p>
          <a:p>
            <a:pPr marL="285750" indent="-285750">
              <a:spcBef>
                <a:spcPts val="600"/>
              </a:spcBef>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Manager e Collaborator</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technical, i link per la scelta della pagina home (Manager o Collaborator)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br>
              <a:rPr lang="en-US" sz="1500" kern="0" noProof="1">
                <a:solidFill>
                  <a:schemeClr val="tx1"/>
                </a:solidFill>
              </a:rPr>
            </a:br>
            <a:r>
              <a:rPr lang="en-US" sz="1500" kern="0" noProof="1">
                <a:solidFill>
                  <a:schemeClr val="tx1"/>
                </a:solidFill>
              </a:rPr>
              <a:t>Le operazioni di modifica e cancellazione agiscono unicamente sulla struttura temporanea lato frontend. Una volta salvato il progetto, non sono previste funzionalità per modificare i dati nella base di dati.</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 Le selezioni successive all'interno dell'interfaccia filtrano e aggiornano solo la vista locale, senza effettuare ulteriori chiamate 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gli errori di inserimento (es valori negativi o non interi) e previene il salvataggio, lasciando comunque al server la validazione finale dei dati.</a:t>
            </a:r>
          </a:p>
        </p:txBody>
      </p:sp>
    </p:spTree>
    <p:extLst>
      <p:ext uri="{BB962C8B-B14F-4D97-AF65-F5344CB8AC3E}">
        <p14:creationId xmlns:p14="http://schemas.microsoft.com/office/powerpoint/2010/main" val="34675071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770109"/>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Login Form</a:t>
            </a:r>
          </a:p>
          <a:p>
            <a:pPr algn="ctr"/>
            <a:r>
              <a:rPr lang="en-US" sz="1400" dirty="0">
                <a:solidFill>
                  <a:schemeClr val="tx1"/>
                </a:solidFill>
                <a:latin typeface="Calibri" panose="020F0502020204030204" pitchFamily="34" charset="0"/>
                <a:cs typeface="Calibri" panose="020F0502020204030204" pitchFamily="34" charset="0"/>
              </a:rPr>
              <a:t>[field: username</a:t>
            </a:r>
          </a:p>
          <a:p>
            <a:pPr algn="ctr"/>
            <a:r>
              <a:rPr lang="en-US" sz="1400"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6" idx="2"/>
          </p:cNvCxnSpPr>
          <p:nvPr/>
        </p:nvCxnSpPr>
        <p:spPr>
          <a:xfrm rot="16200000" flipV="1">
            <a:off x="9493112" y="1452651"/>
            <a:ext cx="752543" cy="163405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6" idx="2"/>
          </p:cNvCxnSpPr>
          <p:nvPr/>
        </p:nvCxnSpPr>
        <p:spPr>
          <a:xfrm flipV="1">
            <a:off x="6861935" y="1893408"/>
            <a:ext cx="2190419" cy="3230771"/>
          </a:xfrm>
          <a:prstGeom prst="bentConnector3">
            <a:avLst>
              <a:gd name="adj1" fmla="val 188464"/>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Technical Role Selector</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6" idx="2"/>
          </p:cNvCxnSpPr>
          <p:nvPr/>
        </p:nvCxnSpPr>
        <p:spPr>
          <a:xfrm flipV="1">
            <a:off x="6861935" y="1893408"/>
            <a:ext cx="2190419" cy="4133730"/>
          </a:xfrm>
          <a:prstGeom prst="bentConnector3">
            <a:avLst>
              <a:gd name="adj1" fmla="val 20226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
        <p:nvSpPr>
          <p:cNvPr id="6" name="Parallelogram 5">
            <a:extLst>
              <a:ext uri="{FF2B5EF4-FFF2-40B4-BE49-F238E27FC236}">
                <a16:creationId xmlns:a16="http://schemas.microsoft.com/office/drawing/2014/main" id="{F8FD72CD-ABC9-960A-E98E-F6A209E8E16F}"/>
              </a:ext>
            </a:extLst>
          </p:cNvPr>
          <p:cNvSpPr/>
          <p:nvPr/>
        </p:nvSpPr>
        <p:spPr>
          <a:xfrm>
            <a:off x="7765997" y="156622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Logout</a:t>
            </a:r>
          </a:p>
        </p:txBody>
      </p:sp>
      <p:cxnSp>
        <p:nvCxnSpPr>
          <p:cNvPr id="13" name="Elbow Connector 12">
            <a:extLst>
              <a:ext uri="{FF2B5EF4-FFF2-40B4-BE49-F238E27FC236}">
                <a16:creationId xmlns:a16="http://schemas.microsoft.com/office/drawing/2014/main" id="{378D5C94-D20E-FB1B-0E55-E7C2DAE54305}"/>
              </a:ext>
            </a:extLst>
          </p:cNvPr>
          <p:cNvCxnSpPr>
            <a:cxnSpLocks/>
            <a:stCxn id="6" idx="5"/>
            <a:endCxn id="2" idx="0"/>
          </p:cNvCxnSpPr>
          <p:nvPr/>
        </p:nvCxnSpPr>
        <p:spPr>
          <a:xfrm rot="10800000" flipV="1">
            <a:off x="2015900" y="1893407"/>
            <a:ext cx="5831893" cy="36516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cxnSp>
        <p:nvCxnSpPr>
          <p:cNvPr id="18" name="Straight Connector 17">
            <a:extLst>
              <a:ext uri="{FF2B5EF4-FFF2-40B4-BE49-F238E27FC236}">
                <a16:creationId xmlns:a16="http://schemas.microsoft.com/office/drawing/2014/main" id="{C5D22160-E8F7-C853-653D-6BA28FD6B77F}"/>
              </a:ext>
            </a:extLst>
          </p:cNvPr>
          <p:cNvCxnSpPr>
            <a:cxnSpLocks/>
          </p:cNvCxnSpPr>
          <p:nvPr/>
        </p:nvCxnSpPr>
        <p:spPr>
          <a:xfrm>
            <a:off x="1436469" y="1124090"/>
            <a:ext cx="0" cy="35031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2" name="Parallelogram 151">
            <a:extLst>
              <a:ext uri="{FF2B5EF4-FFF2-40B4-BE49-F238E27FC236}">
                <a16:creationId xmlns:a16="http://schemas.microsoft.com/office/drawing/2014/main" id="{D260C455-5809-FE32-EDEC-AAF5ADBEF646}"/>
              </a:ext>
            </a:extLst>
          </p:cNvPr>
          <p:cNvSpPr/>
          <p:nvPr/>
        </p:nvSpPr>
        <p:spPr>
          <a:xfrm>
            <a:off x="9841321" y="764135"/>
            <a:ext cx="1352935" cy="408530"/>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GetProjects</a:t>
            </a:r>
            <a:endParaRPr lang="en-US" sz="1400" dirty="0">
              <a:latin typeface="Calibri" panose="020F0502020204030204" pitchFamily="34" charset="0"/>
              <a:cs typeface="Calibri" panose="020F0502020204030204" pitchFamily="34" charset="0"/>
            </a:endParaRP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0497175" y="332726"/>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59470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0231998"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dirty="0">
                <a:solidFill>
                  <a:schemeClr val="tx1"/>
                </a:solidFill>
                <a:latin typeface="Calibri" panose="020F0502020204030204" pitchFamily="34" charset="0"/>
                <a:cs typeface="Calibri" panose="020F0502020204030204" pitchFamily="34" charset="0"/>
              </a:rPr>
              <a:t>Draft Project Structure</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474412" y="1792161"/>
            <a:ext cx="2692678"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Project Draft Form</a:t>
            </a:r>
          </a:p>
          <a:p>
            <a:pPr algn="ctr"/>
            <a:r>
              <a:rPr lang="en-US" sz="1400" dirty="0">
                <a:solidFill>
                  <a:schemeClr val="tx1"/>
                </a:solidFill>
                <a:latin typeface="Calibri" panose="020F0502020204030204" pitchFamily="34" charset="0"/>
                <a:cs typeface="Calibri" panose="020F0502020204030204" pitchFamily="34" charset="0"/>
              </a:rPr>
              <a:t>[title, duration, </a:t>
            </a:r>
            <a:r>
              <a:rPr lang="en-US" sz="1400" dirty="0" err="1">
                <a:solidFill>
                  <a:schemeClr val="tx1"/>
                </a:solidFill>
                <a:latin typeface="Calibri" panose="020F0502020204030204" pitchFamily="34" charset="0"/>
                <a:cs typeface="Calibri" panose="020F0502020204030204" pitchFamily="34" charset="0"/>
              </a:rPr>
              <a:t>managedBy</a:t>
            </a:r>
            <a:r>
              <a:rPr lang="en-US" sz="1400" dirty="0">
                <a:solidFill>
                  <a:schemeClr val="tx1"/>
                </a:solidFill>
                <a:latin typeface="Calibri" panose="020F0502020204030204" pitchFamily="34" charset="0"/>
                <a:cs typeface="Calibri" panose="020F0502020204030204" pitchFamily="34" charset="0"/>
              </a:rPr>
              <a:t>]</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Draft Task Row [title, description,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54925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next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710514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639717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6657975" y="2460287"/>
            <a:ext cx="3610580" cy="64656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Admin Projects List [</a:t>
            </a:r>
            <a:r>
              <a:rPr lang="en-US" sz="1400" dirty="0" err="1">
                <a:latin typeface="Calibri" panose="020F0502020204030204" pitchFamily="34" charset="0"/>
                <a:cs typeface="Calibri" panose="020F0502020204030204" pitchFamily="34" charset="0"/>
              </a:rPr>
              <a:t>project.id</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project.title</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project.status</a:t>
            </a:r>
            <a:r>
              <a:rPr lang="en-US" sz="1400" dirty="0">
                <a:latin typeface="Calibri" panose="020F0502020204030204" pitchFamily="34" charset="0"/>
                <a:cs typeface="Calibri" panose="020F0502020204030204" pitchFamily="34" charset="0"/>
              </a:rPr>
              <a:t>]</a:t>
            </a:r>
            <a:endParaRPr lang="en-US" sz="12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8954901"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5"/>
          </p:cNvCxnSpPr>
          <p:nvPr/>
        </p:nvCxnSpPr>
        <p:spPr>
          <a:xfrm flipV="1">
            <a:off x="9200752" y="968400"/>
            <a:ext cx="691635" cy="39491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472273"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Draft WP Row [title,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66194" y="5703959"/>
            <a:ext cx="442822" cy="13294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320388" y="6270136"/>
            <a:ext cx="5124416"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Admin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6671476" y="3240521"/>
            <a:ext cx="3610580"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t>Project Structure Viewer</a:t>
            </a:r>
          </a:p>
          <a:p>
            <a:pPr algn="ctr"/>
            <a:r>
              <a:rPr lang="en-US" sz="1400" dirty="0"/>
              <a:t>[project, </a:t>
            </a:r>
            <a:r>
              <a:rPr lang="en-US" sz="1400" dirty="0" err="1"/>
              <a:t>wpList</a:t>
            </a:r>
            <a:r>
              <a:rPr lang="en-US" sz="1400" dirty="0"/>
              <a:t>, tasks]</a:t>
            </a:r>
            <a:endParaRPr lang="en-US" sz="12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1" y="6562511"/>
            <a:ext cx="559635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 project title, duration, managed by,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788128" y="6248066"/>
            <a:ext cx="1017775" cy="311636"/>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10125859" y="234850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6"/>
            <a:endCxn id="22" idx="5"/>
          </p:cNvCxnSpPr>
          <p:nvPr/>
        </p:nvCxnSpPr>
        <p:spPr>
          <a:xfrm>
            <a:off x="10413891" y="2492516"/>
            <a:ext cx="435194" cy="11407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a:stCxn id="152" idx="3"/>
          </p:cNvCxnSpPr>
          <p:nvPr/>
        </p:nvCxnSpPr>
        <p:spPr>
          <a:xfrm flipH="1">
            <a:off x="10282056" y="1172665"/>
            <a:ext cx="184666" cy="288032"/>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8852958" y="217007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186239"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
        <p:nvSpPr>
          <p:cNvPr id="12" name="Parallelogram 11">
            <a:extLst>
              <a:ext uri="{FF2B5EF4-FFF2-40B4-BE49-F238E27FC236}">
                <a16:creationId xmlns:a16="http://schemas.microsoft.com/office/drawing/2014/main" id="{969A9988-AE01-7BAA-A6BC-9E40EF391C95}"/>
              </a:ext>
            </a:extLst>
          </p:cNvPr>
          <p:cNvSpPr/>
          <p:nvPr/>
        </p:nvSpPr>
        <p:spPr>
          <a:xfrm>
            <a:off x="335756" y="644625"/>
            <a:ext cx="1532412" cy="494963"/>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p:txBody>
      </p:sp>
      <p:sp>
        <p:nvSpPr>
          <p:cNvPr id="15" name="Oval 14">
            <a:extLst>
              <a:ext uri="{FF2B5EF4-FFF2-40B4-BE49-F238E27FC236}">
                <a16:creationId xmlns:a16="http://schemas.microsoft.com/office/drawing/2014/main" id="{C6A59013-99EA-08E4-AB48-E04CE6D5D3AB}"/>
              </a:ext>
            </a:extLst>
          </p:cNvPr>
          <p:cNvSpPr/>
          <p:nvPr/>
        </p:nvSpPr>
        <p:spPr>
          <a:xfrm>
            <a:off x="2277310" y="131418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6" name="Straight Connector 15">
            <a:extLst>
              <a:ext uri="{FF2B5EF4-FFF2-40B4-BE49-F238E27FC236}">
                <a16:creationId xmlns:a16="http://schemas.microsoft.com/office/drawing/2014/main" id="{F8761F6F-3E25-BAFD-DE91-32743D1DC11F}"/>
              </a:ext>
            </a:extLst>
          </p:cNvPr>
          <p:cNvCxnSpPr>
            <a:cxnSpLocks/>
            <a:stCxn id="15" idx="1"/>
            <a:endCxn id="12" idx="2"/>
          </p:cNvCxnSpPr>
          <p:nvPr/>
        </p:nvCxnSpPr>
        <p:spPr>
          <a:xfrm flipH="1" flipV="1">
            <a:off x="1806298" y="892107"/>
            <a:ext cx="513193" cy="464254"/>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2" name="Parallelogram 21">
            <a:extLst>
              <a:ext uri="{FF2B5EF4-FFF2-40B4-BE49-F238E27FC236}">
                <a16:creationId xmlns:a16="http://schemas.microsoft.com/office/drawing/2014/main" id="{2E0CFEA5-CAE4-8A13-11E4-5DBC2EB61F0A}"/>
              </a:ext>
            </a:extLst>
          </p:cNvPr>
          <p:cNvSpPr/>
          <p:nvPr/>
        </p:nvSpPr>
        <p:spPr>
          <a:xfrm>
            <a:off x="10772166" y="2298916"/>
            <a:ext cx="1154657" cy="615353"/>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GetProjectStructure</a:t>
            </a:r>
            <a:endParaRPr lang="en-US" sz="1400" dirty="0">
              <a:latin typeface="Calibri" panose="020F0502020204030204" pitchFamily="34" charset="0"/>
              <a:cs typeface="Calibri" panose="020F0502020204030204" pitchFamily="34" charset="0"/>
            </a:endParaRPr>
          </a:p>
        </p:txBody>
      </p:sp>
      <p:sp>
        <p:nvSpPr>
          <p:cNvPr id="23" name="Google Shape;208;p33">
            <a:extLst>
              <a:ext uri="{FF2B5EF4-FFF2-40B4-BE49-F238E27FC236}">
                <a16:creationId xmlns:a16="http://schemas.microsoft.com/office/drawing/2014/main" id="{E67DFE22-8F8B-8082-010E-5E636E8F417A}"/>
              </a:ext>
            </a:extLst>
          </p:cNvPr>
          <p:cNvSpPr txBox="1"/>
          <p:nvPr/>
        </p:nvSpPr>
        <p:spPr>
          <a:xfrm>
            <a:off x="11058525" y="1750368"/>
            <a:ext cx="1086339" cy="42343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25" name="Straight Connector 24">
            <a:extLst>
              <a:ext uri="{FF2B5EF4-FFF2-40B4-BE49-F238E27FC236}">
                <a16:creationId xmlns:a16="http://schemas.microsoft.com/office/drawing/2014/main" id="{14A9B307-B743-7285-1721-46A0AE9F0E99}"/>
              </a:ext>
            </a:extLst>
          </p:cNvPr>
          <p:cNvCxnSpPr>
            <a:cxnSpLocks/>
            <a:stCxn id="23" idx="2"/>
          </p:cNvCxnSpPr>
          <p:nvPr/>
        </p:nvCxnSpPr>
        <p:spPr>
          <a:xfrm flipH="1">
            <a:off x="11370006" y="2173800"/>
            <a:ext cx="231689" cy="124185"/>
          </a:xfrm>
          <a:prstGeom prst="line">
            <a:avLst/>
          </a:prstGeom>
        </p:spPr>
        <p:style>
          <a:lnRef idx="2">
            <a:schemeClr val="dk1"/>
          </a:lnRef>
          <a:fillRef idx="0">
            <a:schemeClr val="dk1"/>
          </a:fillRef>
          <a:effectRef idx="1">
            <a:schemeClr val="dk1"/>
          </a:effectRef>
          <a:fontRef idx="minor">
            <a:schemeClr val="tx1"/>
          </a:fontRef>
        </p:style>
      </p:cxnSp>
      <p:cxnSp>
        <p:nvCxnSpPr>
          <p:cNvPr id="30" name="Elbow Connector 29">
            <a:extLst>
              <a:ext uri="{FF2B5EF4-FFF2-40B4-BE49-F238E27FC236}">
                <a16:creationId xmlns:a16="http://schemas.microsoft.com/office/drawing/2014/main" id="{B6880110-7EE7-EEC9-A39E-11B0510D6240}"/>
              </a:ext>
            </a:extLst>
          </p:cNvPr>
          <p:cNvCxnSpPr>
            <a:cxnSpLocks/>
            <a:stCxn id="22" idx="3"/>
          </p:cNvCxnSpPr>
          <p:nvPr/>
        </p:nvCxnSpPr>
        <p:spPr>
          <a:xfrm rot="5400000">
            <a:off x="10828993" y="2595091"/>
            <a:ext cx="124404" cy="76276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74" name="Parallelogram 73">
            <a:extLst>
              <a:ext uri="{FF2B5EF4-FFF2-40B4-BE49-F238E27FC236}">
                <a16:creationId xmlns:a16="http://schemas.microsoft.com/office/drawing/2014/main" id="{2EF4BFAD-9F44-8F0D-67AE-7614D6BB485A}"/>
              </a:ext>
            </a:extLst>
          </p:cNvPr>
          <p:cNvSpPr/>
          <p:nvPr/>
        </p:nvSpPr>
        <p:spPr>
          <a:xfrm>
            <a:off x="1741847" y="5991843"/>
            <a:ext cx="1558567" cy="51244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CreateProjectStructure</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330102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cxnSp>
        <p:nvCxnSpPr>
          <p:cNvPr id="62" name="Straight Connector 61">
            <a:extLst>
              <a:ext uri="{FF2B5EF4-FFF2-40B4-BE49-F238E27FC236}">
                <a16:creationId xmlns:a16="http://schemas.microsoft.com/office/drawing/2014/main" id="{E965B87E-FA83-F668-3C66-86BB03027B01}"/>
              </a:ext>
            </a:extLst>
          </p:cNvPr>
          <p:cNvCxnSpPr>
            <a:cxnSpLocks/>
          </p:cNvCxnSpPr>
          <p:nvPr/>
        </p:nvCxnSpPr>
        <p:spPr>
          <a:xfrm flipH="1">
            <a:off x="6148943" y="6282936"/>
            <a:ext cx="336633" cy="113850"/>
          </a:xfrm>
          <a:prstGeom prst="line">
            <a:avLst/>
          </a:prstGeom>
        </p:spPr>
        <p:style>
          <a:lnRef idx="2">
            <a:schemeClr val="dk1"/>
          </a:lnRef>
          <a:fillRef idx="0">
            <a:schemeClr val="dk1"/>
          </a:fillRef>
          <a:effectRef idx="1">
            <a:schemeClr val="dk1"/>
          </a:effectRef>
          <a:fontRef idx="minor">
            <a:schemeClr val="tx1"/>
          </a:fontRef>
        </p:style>
      </p:cxnSp>
      <p:cxnSp>
        <p:nvCxnSpPr>
          <p:cNvPr id="150" name="Straight Connector 149">
            <a:extLst>
              <a:ext uri="{FF2B5EF4-FFF2-40B4-BE49-F238E27FC236}">
                <a16:creationId xmlns:a16="http://schemas.microsoft.com/office/drawing/2014/main" id="{953A625E-9EFB-4C2C-F466-59ADDB385994}"/>
              </a:ext>
            </a:extLst>
          </p:cNvPr>
          <p:cNvCxnSpPr>
            <a:cxnSpLocks/>
          </p:cNvCxnSpPr>
          <p:nvPr/>
        </p:nvCxnSpPr>
        <p:spPr>
          <a:xfrm flipH="1">
            <a:off x="10012219" y="3025199"/>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0644355-0D85-CB71-84B6-350A39D63582}"/>
              </a:ext>
            </a:extLst>
          </p:cNvPr>
          <p:cNvCxnSpPr>
            <a:cxnSpLocks/>
            <a:stCxn id="99" idx="2"/>
          </p:cNvCxnSpPr>
          <p:nvPr/>
        </p:nvCxnSpPr>
        <p:spPr>
          <a:xfrm flipH="1">
            <a:off x="11470833" y="2667649"/>
            <a:ext cx="172938" cy="92322"/>
          </a:xfrm>
          <a:prstGeom prst="line">
            <a:avLst/>
          </a:prstGeom>
        </p:spPr>
        <p:style>
          <a:lnRef idx="2">
            <a:schemeClr val="dk1"/>
          </a:lnRef>
          <a:fillRef idx="0">
            <a:schemeClr val="dk1"/>
          </a:fillRef>
          <a:effectRef idx="1">
            <a:schemeClr val="dk1"/>
          </a:effectRef>
          <a:fontRef idx="minor">
            <a:schemeClr val="tx1"/>
          </a:fontRef>
        </p:style>
      </p:cxnSp>
      <p:sp>
        <p:nvSpPr>
          <p:cNvPr id="99" name="Google Shape;208;p33">
            <a:extLst>
              <a:ext uri="{FF2B5EF4-FFF2-40B4-BE49-F238E27FC236}">
                <a16:creationId xmlns:a16="http://schemas.microsoft.com/office/drawing/2014/main" id="{CF74D7EA-91AE-862C-D5AA-FD93EB17AB49}"/>
              </a:ext>
            </a:extLst>
          </p:cNvPr>
          <p:cNvSpPr txBox="1"/>
          <p:nvPr/>
        </p:nvSpPr>
        <p:spPr>
          <a:xfrm>
            <a:off x="11124885" y="2288139"/>
            <a:ext cx="1037771"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30865" y="3963639"/>
            <a:ext cx="152890" cy="164328"/>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1145033" y="3584695"/>
            <a:ext cx="1037770"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  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Assignable Tasks List [</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wp.id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task.title</a:t>
            </a:r>
            <a:r>
              <a:rPr lang="en-US" sz="14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568682" y="1363424"/>
            <a:ext cx="1431377" cy="54327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GetMonitorableProjects</a:t>
            </a:r>
            <a:endParaRPr lang="en-US" sz="1400" dirty="0">
              <a:latin typeface="Calibri" panose="020F0502020204030204" pitchFamily="34" charset="0"/>
              <a:cs typeface="Calibri" panose="020F0502020204030204" pitchFamily="34" charset="0"/>
            </a:endParaRP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6" y="3733496"/>
            <a:ext cx="2185032" cy="12974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Assignment Form</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selectedTask</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availableCollaborators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collaboratorIds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expectedHours</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64998" y="4787852"/>
            <a:ext cx="1581371"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SaveTaskAssignment</a:t>
            </a:r>
            <a:endParaRPr lang="en-US" sz="1400"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2558086" y="3848153"/>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046772" y="97727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565297" y="1485804"/>
            <a:ext cx="2869225"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400" dirty="0">
                <a:latin typeface="Calibri" panose="020F0502020204030204" pitchFamily="34" charset="0"/>
                <a:cs typeface="Calibri" panose="020F0502020204030204" pitchFamily="34" charset="0"/>
              </a:rPr>
              <a:t>Monitorable Projects List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project.status</a:t>
            </a:r>
            <a:r>
              <a:rPr lang="en-US" sz="1400" dirty="0">
                <a:solidFill>
                  <a:schemeClr val="tx1"/>
                </a:solidFill>
                <a:latin typeface="Calibri" panose="020F0502020204030204" pitchFamily="34" charset="0"/>
                <a:cs typeface="Calibri" panose="020F0502020204030204" pitchFamily="34" charset="0"/>
              </a:rPr>
              <a:t>]</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479523" y="2586460"/>
            <a:ext cx="2166549" cy="78699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Project Monitoring Report </a:t>
            </a:r>
            <a:r>
              <a:rPr lang="en-US" sz="1400" dirty="0">
                <a:solidFill>
                  <a:schemeClr val="tx1"/>
                </a:solidFill>
                <a:latin typeface="Calibri" panose="020F0502020204030204" pitchFamily="34" charset="0"/>
                <a:cs typeface="Calibri" panose="020F0502020204030204" pitchFamily="34" charset="0"/>
              </a:rPr>
              <a:t>[project,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 closable]</a:t>
            </a:r>
          </a:p>
        </p:txBody>
      </p:sp>
      <p:sp>
        <p:nvSpPr>
          <p:cNvPr id="94" name="Oval 93">
            <a:extLst>
              <a:ext uri="{FF2B5EF4-FFF2-40B4-BE49-F238E27FC236}">
                <a16:creationId xmlns:a16="http://schemas.microsoft.com/office/drawing/2014/main" id="{C5F2F35C-CC3D-861A-C2BE-4BEF95289843}"/>
              </a:ext>
            </a:extLst>
          </p:cNvPr>
          <p:cNvSpPr/>
          <p:nvPr/>
        </p:nvSpPr>
        <p:spPr>
          <a:xfrm>
            <a:off x="6459977" y="188373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610650" y="2034933"/>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35061"/>
            <a:ext cx="472743" cy="177547"/>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9301480" y="5862871"/>
            <a:ext cx="1335111" cy="50590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GetManagedCollaborators</a:t>
            </a:r>
            <a:endParaRPr lang="en-US" sz="1400"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86441F28-82F5-FC2C-6D5C-6C48E7BA2355}"/>
              </a:ext>
            </a:extLst>
          </p:cNvPr>
          <p:cNvSpPr/>
          <p:nvPr/>
        </p:nvSpPr>
        <p:spPr>
          <a:xfrm>
            <a:off x="6639322" y="3725728"/>
            <a:ext cx="2247505"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Managed Collaborators List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collaborator.id</a:t>
            </a:r>
            <a:r>
              <a:rPr lang="en-US" sz="1400" dirty="0">
                <a:solidFill>
                  <a:schemeClr val="tx1"/>
                </a:solidFill>
                <a:latin typeface="Calibri" panose="020F0502020204030204" pitchFamily="34" charset="0"/>
                <a:cs typeface="Calibri" panose="020F0502020204030204" pitchFamily="34" charset="0"/>
              </a:rPr>
              <a:t>, name]</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794044" y="4553303"/>
            <a:ext cx="2964807" cy="66001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Monitoring Report</a:t>
            </a:r>
          </a:p>
          <a:p>
            <a:pPr algn="ctr"/>
            <a:r>
              <a:rPr lang="en-US" sz="1400" dirty="0">
                <a:solidFill>
                  <a:schemeClr val="tx1"/>
                </a:solidFill>
                <a:latin typeface="Calibri" panose="020F0502020204030204" pitchFamily="34" charset="0"/>
                <a:cs typeface="Calibri" panose="020F0502020204030204" pitchFamily="34" charset="0"/>
              </a:rPr>
              <a:t>collaborator, projects[],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a:t>
            </a:r>
          </a:p>
        </p:txBody>
      </p:sp>
      <p:cxnSp>
        <p:nvCxnSpPr>
          <p:cNvPr id="26" name="Elbow Connector 25">
            <a:extLst>
              <a:ext uri="{FF2B5EF4-FFF2-40B4-BE49-F238E27FC236}">
                <a16:creationId xmlns:a16="http://schemas.microsoft.com/office/drawing/2014/main" id="{ABFD1D15-DA53-5719-C815-E1C773B723AA}"/>
              </a:ext>
            </a:extLst>
          </p:cNvPr>
          <p:cNvCxnSpPr>
            <a:cxnSpLocks/>
            <a:stCxn id="9" idx="5"/>
          </p:cNvCxnSpPr>
          <p:nvPr/>
        </p:nvCxnSpPr>
        <p:spPr>
          <a:xfrm rot="10800000">
            <a:off x="8852590" y="5483218"/>
            <a:ext cx="512129" cy="632604"/>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7FF36B08-2BD6-3A52-40C1-D8DBE881B265}"/>
              </a:ext>
            </a:extLst>
          </p:cNvPr>
          <p:cNvSpPr/>
          <p:nvPr/>
        </p:nvSpPr>
        <p:spPr>
          <a:xfrm>
            <a:off x="10315477" y="4079723"/>
            <a:ext cx="1221679" cy="574207"/>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ConcludeProject</a:t>
            </a:r>
            <a:endParaRPr lang="en-US" sz="1400" dirty="0">
              <a:latin typeface="Calibri" panose="020F0502020204030204" pitchFamily="34" charset="0"/>
              <a:cs typeface="Calibri" panose="020F0502020204030204" pitchFamily="34" charset="0"/>
            </a:endParaRPr>
          </a:p>
        </p:txBody>
      </p:sp>
      <p:sp>
        <p:nvSpPr>
          <p:cNvPr id="102" name="Oval 101">
            <a:extLst>
              <a:ext uri="{FF2B5EF4-FFF2-40B4-BE49-F238E27FC236}">
                <a16:creationId xmlns:a16="http://schemas.microsoft.com/office/drawing/2014/main" id="{B4E3FC8C-D206-8F3D-36A8-056C5CF85F2A}"/>
              </a:ext>
            </a:extLst>
          </p:cNvPr>
          <p:cNvSpPr/>
          <p:nvPr/>
        </p:nvSpPr>
        <p:spPr>
          <a:xfrm>
            <a:off x="8502518" y="323273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8734869" y="3073102"/>
            <a:ext cx="929946"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conclude</a:t>
            </a:r>
          </a:p>
        </p:txBody>
      </p:sp>
      <p:cxnSp>
        <p:nvCxnSpPr>
          <p:cNvPr id="105" name="Straight Connector 104">
            <a:extLst>
              <a:ext uri="{FF2B5EF4-FFF2-40B4-BE49-F238E27FC236}">
                <a16:creationId xmlns:a16="http://schemas.microsoft.com/office/drawing/2014/main" id="{648F5F9C-DE19-2C77-B58C-3ABCBAB9C1D4}"/>
              </a:ext>
            </a:extLst>
          </p:cNvPr>
          <p:cNvCxnSpPr>
            <a:cxnSpLocks/>
            <a:stCxn id="93" idx="5"/>
          </p:cNvCxnSpPr>
          <p:nvPr/>
        </p:nvCxnSpPr>
        <p:spPr>
          <a:xfrm flipH="1">
            <a:off x="10012220" y="4366827"/>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21694" y="767397"/>
            <a:ext cx="1624675" cy="49714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GetAssignableTasks</a:t>
            </a:r>
            <a:endParaRPr lang="en-US" sz="1400"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9ABD67AB-6156-62A5-51A5-8FD8F22E8A9B}"/>
              </a:ext>
            </a:extLst>
          </p:cNvPr>
          <p:cNvSpPr/>
          <p:nvPr/>
        </p:nvSpPr>
        <p:spPr>
          <a:xfrm>
            <a:off x="2150795" y="1212446"/>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1"/>
            <a:endCxn id="10" idx="2"/>
          </p:cNvCxnSpPr>
          <p:nvPr/>
        </p:nvCxnSpPr>
        <p:spPr>
          <a:xfrm flipH="1" flipV="1">
            <a:off x="1584225" y="1015972"/>
            <a:ext cx="608751" cy="23865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48" name="Elbow Connector 47">
            <a:extLst>
              <a:ext uri="{FF2B5EF4-FFF2-40B4-BE49-F238E27FC236}">
                <a16:creationId xmlns:a16="http://schemas.microsoft.com/office/drawing/2014/main" id="{EF67BEF8-FE97-6A47-0D3D-3F51AA178273}"/>
              </a:ext>
            </a:extLst>
          </p:cNvPr>
          <p:cNvCxnSpPr>
            <a:cxnSpLocks/>
            <a:stCxn id="45" idx="2"/>
            <a:endCxn id="11" idx="2"/>
          </p:cNvCxnSpPr>
          <p:nvPr/>
        </p:nvCxnSpPr>
        <p:spPr>
          <a:xfrm rot="10800000" flipV="1">
            <a:off x="1772841" y="2251662"/>
            <a:ext cx="1204058" cy="41607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389336" y="647098"/>
            <a:ext cx="322516" cy="155741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9" idx="0"/>
          </p:cNvCxnSpPr>
          <p:nvPr/>
        </p:nvCxnSpPr>
        <p:spPr>
          <a:xfrm rot="10800000" flipV="1">
            <a:off x="855685" y="4223738"/>
            <a:ext cx="2177509" cy="56411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133228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 project</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092976" y="5177325"/>
            <a:ext cx="586175" cy="497804"/>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719315"/>
            <a:ext cx="1118553" cy="516611"/>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Assign</a:t>
            </a:r>
          </a:p>
          <a:p>
            <a:pPr algn="ctr"/>
            <a:r>
              <a:rPr lang="en-US" sz="1400" dirty="0">
                <a:latin typeface="Calibri" panose="020F0502020204030204" pitchFamily="34" charset="0"/>
                <a:cs typeface="Calibri" panose="020F0502020204030204" pitchFamily="34" charset="0"/>
              </a:rPr>
              <a:t>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1524932" cy="97925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expectedHours_M1</a:t>
            </a:r>
          </a:p>
          <a:p>
            <a:pPr lvl="0" algn="ctr"/>
            <a:r>
              <a:rPr lang="es-419" sz="1200" dirty="0">
                <a:solidFill>
                  <a:schemeClr val="dk1"/>
                </a:solidFill>
                <a:latin typeface="Calibri"/>
                <a:ea typeface="Calibri"/>
                <a:cs typeface="Calibri"/>
                <a:sym typeface="Calibri"/>
              </a:rPr>
              <a:t>expectedHours_MN</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17187"/>
            <a:ext cx="1333209" cy="38366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a:endCxn id="76" idx="0"/>
          </p:cNvCxnSpPr>
          <p:nvPr/>
        </p:nvCxnSpPr>
        <p:spPr>
          <a:xfrm flipH="1">
            <a:off x="2532339" y="6212043"/>
            <a:ext cx="557481" cy="205144"/>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129665" y="5483216"/>
            <a:ext cx="387490" cy="49440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504029" y="1414908"/>
            <a:ext cx="220643" cy="120422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4"/>
          </p:cNvCxnSpPr>
          <p:nvPr/>
        </p:nvCxnSpPr>
        <p:spPr>
          <a:xfrm>
            <a:off x="9795007" y="5633682"/>
            <a:ext cx="6708" cy="22918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650991" y="53456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5" name="Oval 134">
            <a:extLst>
              <a:ext uri="{FF2B5EF4-FFF2-40B4-BE49-F238E27FC236}">
                <a16:creationId xmlns:a16="http://schemas.microsoft.com/office/drawing/2014/main" id="{7AD7BFB1-4EE9-CAA4-96F6-500DD17923E9}"/>
              </a:ext>
            </a:extLst>
          </p:cNvPr>
          <p:cNvSpPr/>
          <p:nvPr/>
        </p:nvSpPr>
        <p:spPr>
          <a:xfrm>
            <a:off x="6493560" y="413547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5897145" y="3985009"/>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2"/>
          </p:cNvCxnSpPr>
          <p:nvPr/>
        </p:nvCxnSpPr>
        <p:spPr>
          <a:xfrm rot="10800000" flipV="1">
            <a:off x="6279356" y="4279491"/>
            <a:ext cx="214204" cy="14939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1" idx="0"/>
          </p:cNvCxnSpPr>
          <p:nvPr/>
        </p:nvCxnSpPr>
        <p:spPr>
          <a:xfrm rot="16200000" flipH="1">
            <a:off x="8470636" y="305125"/>
            <a:ext cx="580628" cy="431391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3642C8B3-FF42-4D01-DC51-B020215C58E2}"/>
              </a:ext>
            </a:extLst>
          </p:cNvPr>
          <p:cNvSpPr/>
          <p:nvPr/>
        </p:nvSpPr>
        <p:spPr>
          <a:xfrm>
            <a:off x="64999" y="2393889"/>
            <a:ext cx="1776303"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GetTaskAssignmentDetails</a:t>
            </a:r>
            <a:endParaRPr lang="en-US" sz="1400" dirty="0">
              <a:latin typeface="Calibri" panose="020F0502020204030204" pitchFamily="34" charset="0"/>
              <a:cs typeface="Calibri" panose="020F0502020204030204" pitchFamily="34" charset="0"/>
            </a:endParaRPr>
          </a:p>
        </p:txBody>
      </p:sp>
      <p:cxnSp>
        <p:nvCxnSpPr>
          <p:cNvPr id="12" name="Straight Connector 11">
            <a:extLst>
              <a:ext uri="{FF2B5EF4-FFF2-40B4-BE49-F238E27FC236}">
                <a16:creationId xmlns:a16="http://schemas.microsoft.com/office/drawing/2014/main" id="{F4C0566E-53A0-30CC-A0FA-1A650B837626}"/>
              </a:ext>
            </a:extLst>
          </p:cNvPr>
          <p:cNvCxnSpPr>
            <a:cxnSpLocks/>
            <a:stCxn id="14" idx="2"/>
          </p:cNvCxnSpPr>
          <p:nvPr/>
        </p:nvCxnSpPr>
        <p:spPr>
          <a:xfrm flipH="1">
            <a:off x="330165" y="2283324"/>
            <a:ext cx="328364" cy="98236"/>
          </a:xfrm>
          <a:prstGeom prst="line">
            <a:avLst/>
          </a:prstGeom>
        </p:spPr>
        <p:style>
          <a:lnRef idx="2">
            <a:schemeClr val="dk1"/>
          </a:lnRef>
          <a:fillRef idx="0">
            <a:schemeClr val="dk1"/>
          </a:fillRef>
          <a:effectRef idx="1">
            <a:schemeClr val="dk1"/>
          </a:effectRef>
          <a:fontRef idx="minor">
            <a:schemeClr val="tx1"/>
          </a:fontRef>
        </p:style>
      </p:cxnSp>
      <p:sp>
        <p:nvSpPr>
          <p:cNvPr id="14" name="Google Shape;208;p33">
            <a:extLst>
              <a:ext uri="{FF2B5EF4-FFF2-40B4-BE49-F238E27FC236}">
                <a16:creationId xmlns:a16="http://schemas.microsoft.com/office/drawing/2014/main" id="{8DFCA3FC-5000-65F7-D3FA-21E55AAD3CD1}"/>
              </a:ext>
            </a:extLst>
          </p:cNvPr>
          <p:cNvSpPr txBox="1"/>
          <p:nvPr/>
        </p:nvSpPr>
        <p:spPr>
          <a:xfrm>
            <a:off x="100421" y="1853822"/>
            <a:ext cx="1116216" cy="42950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task.id</a:t>
            </a:r>
            <a:endParaRPr sz="1200" dirty="0">
              <a:solidFill>
                <a:schemeClr val="dk1"/>
              </a:solidFill>
              <a:latin typeface="Calibri"/>
              <a:ea typeface="Calibri"/>
              <a:cs typeface="Calibri"/>
              <a:sym typeface="Calibri"/>
            </a:endParaRPr>
          </a:p>
        </p:txBody>
      </p:sp>
      <p:cxnSp>
        <p:nvCxnSpPr>
          <p:cNvPr id="17" name="Elbow Connector 16">
            <a:extLst>
              <a:ext uri="{FF2B5EF4-FFF2-40B4-BE49-F238E27FC236}">
                <a16:creationId xmlns:a16="http://schemas.microsoft.com/office/drawing/2014/main" id="{54BE61FB-3FD1-B390-221B-45E905C9A134}"/>
              </a:ext>
            </a:extLst>
          </p:cNvPr>
          <p:cNvCxnSpPr>
            <a:cxnSpLocks/>
            <a:stCxn id="11" idx="3"/>
          </p:cNvCxnSpPr>
          <p:nvPr/>
        </p:nvCxnSpPr>
        <p:spPr>
          <a:xfrm rot="16200000" flipH="1">
            <a:off x="1573519" y="2252745"/>
            <a:ext cx="57669" cy="143532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44" name="Parallelogram 43">
            <a:extLst>
              <a:ext uri="{FF2B5EF4-FFF2-40B4-BE49-F238E27FC236}">
                <a16:creationId xmlns:a16="http://schemas.microsoft.com/office/drawing/2014/main" id="{03776541-2887-C75A-C0B5-1B271C423CB0}"/>
              </a:ext>
            </a:extLst>
          </p:cNvPr>
          <p:cNvSpPr/>
          <p:nvPr/>
        </p:nvSpPr>
        <p:spPr>
          <a:xfrm>
            <a:off x="5815012" y="5773469"/>
            <a:ext cx="1622109" cy="51661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GetCollaboratorMonitoring</a:t>
            </a:r>
            <a:endParaRPr lang="en-US" sz="1400" dirty="0">
              <a:latin typeface="Calibri" panose="020F0502020204030204" pitchFamily="34" charset="0"/>
              <a:cs typeface="Calibri" panose="020F0502020204030204" pitchFamily="34" charset="0"/>
            </a:endParaRPr>
          </a:p>
        </p:txBody>
      </p:sp>
      <p:cxnSp>
        <p:nvCxnSpPr>
          <p:cNvPr id="47" name="Elbow Connector 46">
            <a:extLst>
              <a:ext uri="{FF2B5EF4-FFF2-40B4-BE49-F238E27FC236}">
                <a16:creationId xmlns:a16="http://schemas.microsoft.com/office/drawing/2014/main" id="{1783DBFA-5ED0-7B00-47AC-6C2DF80F7D26}"/>
              </a:ext>
            </a:extLst>
          </p:cNvPr>
          <p:cNvCxnSpPr>
            <a:cxnSpLocks/>
            <a:stCxn id="44" idx="2"/>
          </p:cNvCxnSpPr>
          <p:nvPr/>
        </p:nvCxnSpPr>
        <p:spPr>
          <a:xfrm flipV="1">
            <a:off x="7372545" y="5483216"/>
            <a:ext cx="375617" cy="54855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Google Shape;208;p33">
            <a:extLst>
              <a:ext uri="{FF2B5EF4-FFF2-40B4-BE49-F238E27FC236}">
                <a16:creationId xmlns:a16="http://schemas.microsoft.com/office/drawing/2014/main" id="{486949E0-B70C-FDF2-388A-5717264D7942}"/>
              </a:ext>
            </a:extLst>
          </p:cNvPr>
          <p:cNvSpPr txBox="1"/>
          <p:nvPr/>
        </p:nvSpPr>
        <p:spPr>
          <a:xfrm>
            <a:off x="5574584" y="6403930"/>
            <a:ext cx="1148718" cy="40750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collaborator.id</a:t>
            </a:r>
          </a:p>
        </p:txBody>
      </p:sp>
      <p:cxnSp>
        <p:nvCxnSpPr>
          <p:cNvPr id="77" name="Elbow Connector 76">
            <a:extLst>
              <a:ext uri="{FF2B5EF4-FFF2-40B4-BE49-F238E27FC236}">
                <a16:creationId xmlns:a16="http://schemas.microsoft.com/office/drawing/2014/main" id="{BFD9BAFD-8969-BA5D-9E0B-4A7641B02F67}"/>
              </a:ext>
            </a:extLst>
          </p:cNvPr>
          <p:cNvCxnSpPr>
            <a:cxnSpLocks/>
            <a:stCxn id="102" idx="6"/>
            <a:endCxn id="93" idx="0"/>
          </p:cNvCxnSpPr>
          <p:nvPr/>
        </p:nvCxnSpPr>
        <p:spPr>
          <a:xfrm>
            <a:off x="8790550" y="3376752"/>
            <a:ext cx="2135767" cy="702971"/>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1" name="Parallelogram 90">
            <a:extLst>
              <a:ext uri="{FF2B5EF4-FFF2-40B4-BE49-F238E27FC236}">
                <a16:creationId xmlns:a16="http://schemas.microsoft.com/office/drawing/2014/main" id="{00C8CEC1-C1AB-F3A5-99F7-AB617FBBC697}"/>
              </a:ext>
            </a:extLst>
          </p:cNvPr>
          <p:cNvSpPr/>
          <p:nvPr/>
        </p:nvSpPr>
        <p:spPr>
          <a:xfrm>
            <a:off x="10298659" y="2752397"/>
            <a:ext cx="1238497" cy="543273"/>
          </a:xfrm>
          <a:prstGeom prst="parallelogram">
            <a:avLst/>
          </a:prstGeom>
        </p:spPr>
        <p:style>
          <a:lnRef idx="2">
            <a:schemeClr val="accent2"/>
          </a:lnRef>
          <a:fillRef idx="1">
            <a:schemeClr val="lt1"/>
          </a:fillRef>
          <a:effectRef idx="0">
            <a:schemeClr val="accent2"/>
          </a:effectRef>
          <a:fontRef idx="minor">
            <a:schemeClr val="dk1"/>
          </a:fontRef>
        </p:style>
        <p:txBody>
          <a:bodyPr lIns="0" rIns="0" rtlCol="0" anchor="ctr"/>
          <a:lstStyle/>
          <a:p>
            <a:pPr algn="ctr"/>
            <a:r>
              <a:rPr lang="en-US" sz="1400" dirty="0" err="1">
                <a:latin typeface="Calibri" panose="020F0502020204030204" pitchFamily="34" charset="0"/>
                <a:cs typeface="Calibri" panose="020F0502020204030204" pitchFamily="34" charset="0"/>
              </a:rPr>
              <a:t>GetProjectMonitoring</a:t>
            </a:r>
            <a:endParaRPr lang="en-US" sz="1400" dirty="0">
              <a:latin typeface="Calibri" panose="020F0502020204030204" pitchFamily="34" charset="0"/>
              <a:cs typeface="Calibri" panose="020F0502020204030204" pitchFamily="34" charset="0"/>
            </a:endParaRPr>
          </a:p>
        </p:txBody>
      </p:sp>
      <p:sp>
        <p:nvSpPr>
          <p:cNvPr id="151" name="Parallelogram 150">
            <a:extLst>
              <a:ext uri="{FF2B5EF4-FFF2-40B4-BE49-F238E27FC236}">
                <a16:creationId xmlns:a16="http://schemas.microsoft.com/office/drawing/2014/main" id="{251F004D-47DF-4CAA-0F3F-80EC281F1918}"/>
              </a:ext>
            </a:extLst>
          </p:cNvPr>
          <p:cNvSpPr/>
          <p:nvPr/>
        </p:nvSpPr>
        <p:spPr>
          <a:xfrm>
            <a:off x="-14513" y="3315840"/>
            <a:ext cx="2176792"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a:p>
            <a:pPr algn="ctr"/>
            <a:r>
              <a:rPr lang="en-US" sz="1400" dirty="0" err="1">
                <a:latin typeface="Calibri" panose="020F0502020204030204" pitchFamily="34" charset="0"/>
                <a:cs typeface="Calibri" panose="020F0502020204030204" pitchFamily="34" charset="0"/>
              </a:rPr>
              <a:t>ExceptManager</a:t>
            </a:r>
            <a:endParaRPr lang="en-US" sz="1400" dirty="0">
              <a:latin typeface="Calibri" panose="020F0502020204030204" pitchFamily="34" charset="0"/>
              <a:cs typeface="Calibri" panose="020F0502020204030204" pitchFamily="34" charset="0"/>
            </a:endParaRPr>
          </a:p>
        </p:txBody>
      </p:sp>
      <p:cxnSp>
        <p:nvCxnSpPr>
          <p:cNvPr id="154" name="Elbow Connector 153">
            <a:extLst>
              <a:ext uri="{FF2B5EF4-FFF2-40B4-BE49-F238E27FC236}">
                <a16:creationId xmlns:a16="http://schemas.microsoft.com/office/drawing/2014/main" id="{562C0A55-9C14-7398-EAF7-97CE4B35FF08}"/>
              </a:ext>
            </a:extLst>
          </p:cNvPr>
          <p:cNvCxnSpPr>
            <a:cxnSpLocks/>
            <a:stCxn id="151" idx="3"/>
          </p:cNvCxnSpPr>
          <p:nvPr/>
        </p:nvCxnSpPr>
        <p:spPr>
          <a:xfrm rot="16200000" flipH="1">
            <a:off x="1594129" y="3274819"/>
            <a:ext cx="57668" cy="123508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55" name="Elbow Connector 154">
            <a:extLst>
              <a:ext uri="{FF2B5EF4-FFF2-40B4-BE49-F238E27FC236}">
                <a16:creationId xmlns:a16="http://schemas.microsoft.com/office/drawing/2014/main" id="{B80405DC-A24F-3894-816A-E8CA1AF432C3}"/>
              </a:ext>
            </a:extLst>
          </p:cNvPr>
          <p:cNvCxnSpPr>
            <a:cxnSpLocks/>
            <a:stCxn id="45" idx="2"/>
            <a:endCxn id="151" idx="2"/>
          </p:cNvCxnSpPr>
          <p:nvPr/>
        </p:nvCxnSpPr>
        <p:spPr>
          <a:xfrm rot="10800000" flipV="1">
            <a:off x="2093819" y="2251661"/>
            <a:ext cx="883081" cy="133802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0" name="Google Shape;208;p33">
            <a:extLst>
              <a:ext uri="{FF2B5EF4-FFF2-40B4-BE49-F238E27FC236}">
                <a16:creationId xmlns:a16="http://schemas.microsoft.com/office/drawing/2014/main" id="{F2E58BA9-56DF-584D-46B3-16D469858108}"/>
              </a:ext>
            </a:extLst>
          </p:cNvPr>
          <p:cNvSpPr txBox="1"/>
          <p:nvPr/>
        </p:nvSpPr>
        <p:spPr>
          <a:xfrm>
            <a:off x="793539" y="453639"/>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1" name="Straight Connector 130">
            <a:extLst>
              <a:ext uri="{FF2B5EF4-FFF2-40B4-BE49-F238E27FC236}">
                <a16:creationId xmlns:a16="http://schemas.microsoft.com/office/drawing/2014/main" id="{075C06D7-BF0C-EB3B-2DDC-27A381945D13}"/>
              </a:ext>
            </a:extLst>
          </p:cNvPr>
          <p:cNvCxnSpPr>
            <a:cxnSpLocks/>
          </p:cNvCxnSpPr>
          <p:nvPr/>
        </p:nvCxnSpPr>
        <p:spPr>
          <a:xfrm flipH="1">
            <a:off x="424381" y="61004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34" name="Google Shape;208;p33">
            <a:extLst>
              <a:ext uri="{FF2B5EF4-FFF2-40B4-BE49-F238E27FC236}">
                <a16:creationId xmlns:a16="http://schemas.microsoft.com/office/drawing/2014/main" id="{4A153B77-1BCA-9107-95C6-B90CA0DB9AF6}"/>
              </a:ext>
            </a:extLst>
          </p:cNvPr>
          <p:cNvSpPr txBox="1"/>
          <p:nvPr/>
        </p:nvSpPr>
        <p:spPr>
          <a:xfrm>
            <a:off x="11024265" y="1002010"/>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8" name="Straight Connector 137">
            <a:extLst>
              <a:ext uri="{FF2B5EF4-FFF2-40B4-BE49-F238E27FC236}">
                <a16:creationId xmlns:a16="http://schemas.microsoft.com/office/drawing/2014/main" id="{4C1474D5-E2F3-C7D4-5C9F-9E2CB314A666}"/>
              </a:ext>
            </a:extLst>
          </p:cNvPr>
          <p:cNvCxnSpPr>
            <a:cxnSpLocks/>
          </p:cNvCxnSpPr>
          <p:nvPr/>
        </p:nvCxnSpPr>
        <p:spPr>
          <a:xfrm flipH="1">
            <a:off x="11418209" y="1254627"/>
            <a:ext cx="264733" cy="105747"/>
          </a:xfrm>
          <a:prstGeom prst="line">
            <a:avLst/>
          </a:prstGeom>
        </p:spPr>
        <p:style>
          <a:lnRef idx="2">
            <a:schemeClr val="dk1"/>
          </a:lnRef>
          <a:fillRef idx="0">
            <a:schemeClr val="dk1"/>
          </a:fillRef>
          <a:effectRef idx="1">
            <a:schemeClr val="dk1"/>
          </a:effectRef>
          <a:fontRef idx="minor">
            <a:schemeClr val="tx1"/>
          </a:fontRef>
        </p:style>
      </p:cxnSp>
      <p:sp>
        <p:nvSpPr>
          <p:cNvPr id="140" name="Google Shape;208;p33">
            <a:extLst>
              <a:ext uri="{FF2B5EF4-FFF2-40B4-BE49-F238E27FC236}">
                <a16:creationId xmlns:a16="http://schemas.microsoft.com/office/drawing/2014/main" id="{03264027-7152-7506-D85F-448FC2D9BE0C}"/>
              </a:ext>
            </a:extLst>
          </p:cNvPr>
          <p:cNvSpPr txBox="1"/>
          <p:nvPr/>
        </p:nvSpPr>
        <p:spPr>
          <a:xfrm>
            <a:off x="9499278" y="6479804"/>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AD773471-3985-F0DE-B9E8-8273741E1BA4}"/>
              </a:ext>
            </a:extLst>
          </p:cNvPr>
          <p:cNvCxnSpPr>
            <a:cxnSpLocks/>
          </p:cNvCxnSpPr>
          <p:nvPr/>
        </p:nvCxnSpPr>
        <p:spPr>
          <a:xfrm flipH="1">
            <a:off x="9893222" y="6368210"/>
            <a:ext cx="264733" cy="105747"/>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254121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DA04-B738-40EB-335A-03053426EB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634CCE4-F17D-3B50-7B5A-A55B997E555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3946A559-A6EA-F254-F913-051445C7E24E}"/>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88971D17-E615-A226-7352-EE745D283FDE}"/>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Assigned Projects List</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1EAD0873-2602-77FF-F0D2-4626F499C3AF}"/>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D80A1097-9A12-3DA1-2807-4977F169D115}"/>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E832E99A-C4EB-2C61-5073-B991F8AAFCD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8FE9A81A-E06E-5967-F73D-903432240E71}"/>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37CFECB2-C0F8-192E-B5B1-9CD30D3FEC35}"/>
              </a:ext>
            </a:extLst>
          </p:cNvPr>
          <p:cNvSpPr/>
          <p:nvPr/>
        </p:nvSpPr>
        <p:spPr>
          <a:xfrm>
            <a:off x="2486024" y="5139871"/>
            <a:ext cx="3349383" cy="9537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Timesheet </a:t>
            </a:r>
            <a:r>
              <a:rPr lang="en-US" sz="1400" dirty="0">
                <a:solidFill>
                  <a:schemeClr val="tx1"/>
                </a:solidFill>
                <a:latin typeface="Calibri" panose="020F0502020204030204" pitchFamily="34" charset="0"/>
                <a:cs typeface="Calibri" panose="020F0502020204030204" pitchFamily="34" charset="0"/>
              </a:rPr>
              <a:t>[project, wp[], tasks[], months[], </a:t>
            </a:r>
            <a:r>
              <a:rPr lang="en-US" sz="1400" dirty="0" err="1">
                <a:solidFill>
                  <a:schemeClr val="tx1"/>
                </a:solidFill>
                <a:latin typeface="Calibri" panose="020F0502020204030204" pitchFamily="34" charset="0"/>
                <a:cs typeface="Calibri" panose="020F0502020204030204" pitchFamily="34" charset="0"/>
              </a:rPr>
              <a:t>taskExpectedHours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collaboratorWorkedHours</a:t>
            </a:r>
            <a:r>
              <a:rPr lang="en-US" sz="1400" dirty="0">
                <a:solidFill>
                  <a:schemeClr val="tx1"/>
                </a:solidFill>
                <a:latin typeface="Calibri" panose="020F0502020204030204" pitchFamily="34" charset="0"/>
                <a:cs typeface="Calibri" panose="020F0502020204030204" pitchFamily="34" charset="0"/>
              </a:rPr>
              <a:t>]</a:t>
            </a:r>
          </a:p>
        </p:txBody>
      </p:sp>
      <p:sp>
        <p:nvSpPr>
          <p:cNvPr id="27" name="TextBox 26">
            <a:extLst>
              <a:ext uri="{FF2B5EF4-FFF2-40B4-BE49-F238E27FC236}">
                <a16:creationId xmlns:a16="http://schemas.microsoft.com/office/drawing/2014/main" id="{1F22420E-66FC-B22E-AB4C-D1409660319B}"/>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EB72A284-D5E9-5349-209D-9426368B55C9}"/>
              </a:ext>
            </a:extLst>
          </p:cNvPr>
          <p:cNvCxnSpPr>
            <a:cxnSpLocks/>
            <a:stCxn id="7" idx="6"/>
            <a:endCxn id="21" idx="5"/>
          </p:cNvCxnSpPr>
          <p:nvPr/>
        </p:nvCxnSpPr>
        <p:spPr>
          <a:xfrm flipV="1">
            <a:off x="7186627" y="2180418"/>
            <a:ext cx="715055" cy="52141"/>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8C3201CA-045E-AC60-5C86-41EDBE286527}"/>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58256338-801D-D575-D0E8-AD3D194FF24A}"/>
              </a:ext>
            </a:extLst>
          </p:cNvPr>
          <p:cNvCxnSpPr>
            <a:cxnSpLocks/>
          </p:cNvCxnSpPr>
          <p:nvPr/>
        </p:nvCxnSpPr>
        <p:spPr>
          <a:xfrm flipH="1">
            <a:off x="8424504" y="1751240"/>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AF440D25-700A-32C6-336C-EC427E220648}"/>
              </a:ext>
            </a:extLst>
          </p:cNvPr>
          <p:cNvSpPr txBox="1"/>
          <p:nvPr/>
        </p:nvSpPr>
        <p:spPr>
          <a:xfrm>
            <a:off x="8329604" y="1502802"/>
            <a:ext cx="107964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00E04DA6-1BE3-241C-83DB-CB4A8543288E}"/>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67062AB4-BB5A-75B9-38FA-ACF396A24112}"/>
              </a:ext>
            </a:extLst>
          </p:cNvPr>
          <p:cNvCxnSpPr>
            <a:cxnSpLocks/>
            <a:stCxn id="45" idx="2"/>
            <a:endCxn id="19" idx="0"/>
          </p:cNvCxnSpPr>
          <p:nvPr/>
        </p:nvCxnSpPr>
        <p:spPr>
          <a:xfrm rot="10800000" flipH="1" flipV="1">
            <a:off x="2078354" y="2407079"/>
            <a:ext cx="2082362" cy="2732791"/>
          </a:xfrm>
          <a:prstGeom prst="bentConnector4">
            <a:avLst>
              <a:gd name="adj1" fmla="val -10978"/>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9BAD65C-7747-1349-E2AF-D1591CE3A353}"/>
              </a:ext>
            </a:extLst>
          </p:cNvPr>
          <p:cNvCxnSpPr>
            <a:cxnSpLocks/>
            <a:stCxn id="61" idx="6"/>
            <a:endCxn id="52" idx="5"/>
          </p:cNvCxnSpPr>
          <p:nvPr/>
        </p:nvCxnSpPr>
        <p:spPr>
          <a:xfrm>
            <a:off x="5974042" y="5123709"/>
            <a:ext cx="1916495" cy="47255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103D53CE-730E-8AC2-172F-3733641CF959}"/>
              </a:ext>
            </a:extLst>
          </p:cNvPr>
          <p:cNvCxnSpPr>
            <a:cxnSpLocks/>
          </p:cNvCxnSpPr>
          <p:nvPr/>
        </p:nvCxnSpPr>
        <p:spPr>
          <a:xfrm flipH="1">
            <a:off x="8417360" y="5226006"/>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6F9F57B5-02CD-A8FF-C2F2-1961B8D39C2F}"/>
              </a:ext>
            </a:extLst>
          </p:cNvPr>
          <p:cNvSpPr txBox="1"/>
          <p:nvPr/>
        </p:nvSpPr>
        <p:spPr>
          <a:xfrm>
            <a:off x="8322460" y="4428010"/>
            <a:ext cx="112040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8F99DBE7-34BF-012B-E132-23AB4F74A444}"/>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BB90FE6-786A-28EC-1BAC-9E9477836FB1}"/>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1" name="Parallelogram 20">
            <a:extLst>
              <a:ext uri="{FF2B5EF4-FFF2-40B4-BE49-F238E27FC236}">
                <a16:creationId xmlns:a16="http://schemas.microsoft.com/office/drawing/2014/main" id="{E2F149F0-FBF5-76D1-206F-D18334D1BD34}"/>
              </a:ext>
            </a:extLst>
          </p:cNvPr>
          <p:cNvSpPr/>
          <p:nvPr/>
        </p:nvSpPr>
        <p:spPr>
          <a:xfrm>
            <a:off x="7832102" y="1902098"/>
            <a:ext cx="1790529" cy="55663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GetCollaboratorTimesheet</a:t>
            </a:r>
            <a:endParaRPr lang="en-US" sz="1400" dirty="0">
              <a:latin typeface="Calibri" panose="020F0502020204030204" pitchFamily="34" charset="0"/>
              <a:cs typeface="Calibri" panose="020F0502020204030204" pitchFamily="34" charset="0"/>
            </a:endParaRPr>
          </a:p>
        </p:txBody>
      </p:sp>
      <p:sp>
        <p:nvSpPr>
          <p:cNvPr id="52" name="Parallelogram 51">
            <a:extLst>
              <a:ext uri="{FF2B5EF4-FFF2-40B4-BE49-F238E27FC236}">
                <a16:creationId xmlns:a16="http://schemas.microsoft.com/office/drawing/2014/main" id="{6E0F1611-4F1F-1FB0-62DD-BA7D123CFFA7}"/>
              </a:ext>
            </a:extLst>
          </p:cNvPr>
          <p:cNvSpPr/>
          <p:nvPr/>
        </p:nvSpPr>
        <p:spPr>
          <a:xfrm>
            <a:off x="7832101" y="5362514"/>
            <a:ext cx="2083423" cy="46748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UpdateCollaboratorWorkedHours</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61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BDA2-BF81-0A00-6416-4980B6FA8BD6}"/>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C235FDC-04A3-C7B5-4B3F-B12239CAA77D}"/>
              </a:ext>
            </a:extLst>
          </p:cNvPr>
          <p:cNvPicPr>
            <a:picLocks noChangeAspect="1"/>
          </p:cNvPicPr>
          <p:nvPr/>
        </p:nvPicPr>
        <p:blipFill>
          <a:blip r:embed="rId2"/>
          <a:stretch>
            <a:fillRect/>
          </a:stretch>
        </p:blipFill>
        <p:spPr>
          <a:xfrm>
            <a:off x="1446520" y="2711318"/>
            <a:ext cx="9298958" cy="2646489"/>
          </a:xfrm>
          <a:prstGeom prst="rect">
            <a:avLst/>
          </a:prstGeom>
        </p:spPr>
      </p:pic>
      <p:sp>
        <p:nvSpPr>
          <p:cNvPr id="13" name="Google Shape;135;p26">
            <a:extLst>
              <a:ext uri="{FF2B5EF4-FFF2-40B4-BE49-F238E27FC236}">
                <a16:creationId xmlns:a16="http://schemas.microsoft.com/office/drawing/2014/main" id="{0938E14F-346A-3745-151B-ABE3263D7C6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login</a:t>
            </a:r>
            <a:r>
              <a:rPr lang="en-US" noProof="1">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2759670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6609B-363E-5750-C3A6-FCFA8CE146D9}"/>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A6C76EA8-8E13-1928-EF0E-2529D4719F0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(admin)</a:t>
            </a:r>
          </a:p>
        </p:txBody>
      </p:sp>
      <p:pic>
        <p:nvPicPr>
          <p:cNvPr id="5" name="Picture 4">
            <a:extLst>
              <a:ext uri="{FF2B5EF4-FFF2-40B4-BE49-F238E27FC236}">
                <a16:creationId xmlns:a16="http://schemas.microsoft.com/office/drawing/2014/main" id="{53201C59-50D2-EE0C-B9CF-B9C8A59A5FFB}"/>
              </a:ext>
            </a:extLst>
          </p:cNvPr>
          <p:cNvPicPr>
            <a:picLocks noChangeAspect="1"/>
          </p:cNvPicPr>
          <p:nvPr/>
        </p:nvPicPr>
        <p:blipFill>
          <a:blip r:embed="rId2"/>
          <a:srcRect b="17305"/>
          <a:stretch>
            <a:fillRect/>
          </a:stretch>
        </p:blipFill>
        <p:spPr>
          <a:xfrm>
            <a:off x="2850548" y="1186774"/>
            <a:ext cx="6490902" cy="5671226"/>
          </a:xfrm>
          <a:prstGeom prst="rect">
            <a:avLst/>
          </a:prstGeom>
        </p:spPr>
      </p:pic>
    </p:spTree>
    <p:extLst>
      <p:ext uri="{BB962C8B-B14F-4D97-AF65-F5344CB8AC3E}">
        <p14:creationId xmlns:p14="http://schemas.microsoft.com/office/powerpoint/2010/main" val="2905393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5768-E023-B6EE-5A34-E4019A6EA311}"/>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902F86C8-41CB-392B-4567-E2A7106E20D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(manager)</a:t>
            </a:r>
          </a:p>
        </p:txBody>
      </p:sp>
      <p:pic>
        <p:nvPicPr>
          <p:cNvPr id="3" name="Picture 2">
            <a:extLst>
              <a:ext uri="{FF2B5EF4-FFF2-40B4-BE49-F238E27FC236}">
                <a16:creationId xmlns:a16="http://schemas.microsoft.com/office/drawing/2014/main" id="{4AD814ED-F4FE-79EE-D59C-53927447FAEF}"/>
              </a:ext>
            </a:extLst>
          </p:cNvPr>
          <p:cNvPicPr>
            <a:picLocks noChangeAspect="1"/>
          </p:cNvPicPr>
          <p:nvPr/>
        </p:nvPicPr>
        <p:blipFill>
          <a:blip r:embed="rId2"/>
          <a:srcRect b="19382"/>
          <a:stretch>
            <a:fillRect/>
          </a:stretch>
        </p:blipFill>
        <p:spPr>
          <a:xfrm>
            <a:off x="2551580" y="1329211"/>
            <a:ext cx="7088837" cy="5528789"/>
          </a:xfrm>
          <a:prstGeom prst="rect">
            <a:avLst/>
          </a:prstGeom>
        </p:spPr>
      </p:pic>
    </p:spTree>
    <p:extLst>
      <p:ext uri="{BB962C8B-B14F-4D97-AF65-F5344CB8AC3E}">
        <p14:creationId xmlns:p14="http://schemas.microsoft.com/office/powerpoint/2010/main" val="1085254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E7BAD-2EF4-B922-0D57-5901359FEF7A}"/>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BC782560-9959-825F-64E3-C3F9D87B08B2}"/>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collaborator</a:t>
            </a:r>
            <a:r>
              <a:rPr lang="en-US" noProof="1">
                <a:latin typeface="Calibri" panose="020F0502020204030204" pitchFamily="34" charset="0"/>
                <a:cs typeface="Calibri" panose="020F0502020204030204" pitchFamily="34" charset="0"/>
              </a:rPr>
              <a:t>)</a:t>
            </a:r>
          </a:p>
        </p:txBody>
      </p:sp>
      <p:pic>
        <p:nvPicPr>
          <p:cNvPr id="3" name="Picture 2">
            <a:extLst>
              <a:ext uri="{FF2B5EF4-FFF2-40B4-BE49-F238E27FC236}">
                <a16:creationId xmlns:a16="http://schemas.microsoft.com/office/drawing/2014/main" id="{7C4311FF-FD8F-3E0C-B2A2-E5CF2B66A866}"/>
              </a:ext>
            </a:extLst>
          </p:cNvPr>
          <p:cNvPicPr>
            <a:picLocks noChangeAspect="1"/>
          </p:cNvPicPr>
          <p:nvPr/>
        </p:nvPicPr>
        <p:blipFill>
          <a:blip r:embed="rId2"/>
          <a:srcRect b="15711"/>
          <a:stretch>
            <a:fillRect/>
          </a:stretch>
        </p:blipFill>
        <p:spPr>
          <a:xfrm>
            <a:off x="2615779" y="2781335"/>
            <a:ext cx="6960440" cy="2226669"/>
          </a:xfrm>
          <a:prstGeom prst="rect">
            <a:avLst/>
          </a:prstGeom>
        </p:spPr>
      </p:pic>
    </p:spTree>
    <p:extLst>
      <p:ext uri="{BB962C8B-B14F-4D97-AF65-F5344CB8AC3E}">
        <p14:creationId xmlns:p14="http://schemas.microsoft.com/office/powerpoint/2010/main" val="29353061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94EE2-E6C0-5439-83D8-95C39C3F043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73A6F21-8976-6869-B87A-FCA20A821E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0BB68F61-E945-D60F-2411-503B766A732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400" kern="0" noProof="1">
                <a:solidFill>
                  <a:schemeClr val="tx1"/>
                </a:solidFill>
              </a:rPr>
              <a:t>Nella versione JavaScript sono stati introdotti JavaBean specifici per modellare il contratto JSON tra client e server. I bean non rappresentano nuove entità del dominio, ma strutture di richiesta e risposta pensate per restituire al frontend dati già organizzati secondo le viste dell’applicazione.</a:t>
            </a:r>
          </a:p>
          <a:p>
            <a:pPr marL="0" indent="0">
              <a:spcBef>
                <a:spcPts val="1200"/>
              </a:spcBef>
              <a:buClr>
                <a:srgbClr val="000000"/>
              </a:buClr>
              <a:buSzPts val="1100"/>
              <a:buNone/>
            </a:pPr>
            <a:r>
              <a:rPr lang="en-US" sz="1400" kern="0" noProof="1">
                <a:solidFill>
                  <a:schemeClr val="tx1"/>
                </a:solidFill>
              </a:rPr>
              <a:t>Entity / Domain Beans</a:t>
            </a:r>
          </a:p>
          <a:p>
            <a:pPr marL="0" indent="0">
              <a:spcBef>
                <a:spcPts val="0"/>
              </a:spcBef>
              <a:buClr>
                <a:srgbClr val="000000"/>
              </a:buClr>
              <a:buSzPts val="1100"/>
              <a:buNone/>
            </a:pPr>
            <a:r>
              <a:rPr lang="en-US" sz="1400" kern="0" noProof="1">
                <a:solidFill>
                  <a:schemeClr val="tx1"/>
                </a:solidFill>
              </a:rPr>
              <a:t>     Project, WP, Task, User, ManagedTask, TaskWithHours</a:t>
            </a:r>
          </a:p>
          <a:p>
            <a:pPr marL="0" indent="0">
              <a:spcBef>
                <a:spcPts val="1200"/>
              </a:spcBef>
              <a:buClr>
                <a:srgbClr val="000000"/>
              </a:buClr>
              <a:buSzPts val="1100"/>
              <a:buNone/>
            </a:pPr>
            <a:r>
              <a:rPr lang="en-US" sz="1400" kern="0" noProof="1">
                <a:solidFill>
                  <a:schemeClr val="tx1"/>
                </a:solidFill>
              </a:rPr>
              <a:t>Enum e Login Bean</a:t>
            </a:r>
          </a:p>
          <a:p>
            <a:pPr marL="0" indent="0">
              <a:spcBef>
                <a:spcPts val="0"/>
              </a:spcBef>
              <a:buClr>
                <a:srgbClr val="000000"/>
              </a:buClr>
              <a:buSzPts val="1100"/>
              <a:buNone/>
            </a:pPr>
            <a:r>
              <a:rPr lang="en-US" sz="1400" kern="0" noProof="1">
                <a:solidFill>
                  <a:schemeClr val="tx1"/>
                </a:solidFill>
              </a:rPr>
              <a:t>     ProjectStatus, UserRole, UserLogin</a:t>
            </a:r>
          </a:p>
          <a:p>
            <a:pPr marL="0" indent="0">
              <a:spcBef>
                <a:spcPts val="1200"/>
              </a:spcBef>
              <a:buClr>
                <a:srgbClr val="000000"/>
              </a:buClr>
              <a:buSzPts val="1100"/>
              <a:buNone/>
            </a:pPr>
            <a:r>
              <a:rPr lang="en-US" sz="1400" kern="0" noProof="1">
                <a:solidFill>
                  <a:schemeClr val="tx1"/>
                </a:solidFill>
              </a:rPr>
              <a:t>Admin Request Bean</a:t>
            </a:r>
          </a:p>
          <a:p>
            <a:pPr marL="0" indent="0">
              <a:spcBef>
                <a:spcPts val="0"/>
              </a:spcBef>
              <a:buClr>
                <a:srgbClr val="000000"/>
              </a:buClr>
              <a:buSzPts val="1100"/>
              <a:buNone/>
            </a:pPr>
            <a:r>
              <a:rPr lang="en-US" sz="1400" kern="0" noProof="1">
                <a:solidFill>
                  <a:schemeClr val="tx1"/>
                </a:solidFill>
              </a:rPr>
              <a:t>     ProjectStructureBlueprint, WPBlueprint, TaskBlueprint</a:t>
            </a:r>
          </a:p>
          <a:p>
            <a:pPr marL="0" indent="0">
              <a:spcBef>
                <a:spcPts val="1200"/>
              </a:spcBef>
              <a:buClr>
                <a:srgbClr val="000000"/>
              </a:buClr>
              <a:buSzPts val="1100"/>
              <a:buNone/>
            </a:pPr>
            <a:r>
              <a:rPr lang="en-US" sz="1400" kern="0" noProof="1">
                <a:solidFill>
                  <a:schemeClr val="tx1"/>
                </a:solidFill>
              </a:rPr>
              <a:t>Admin Response Bean</a:t>
            </a:r>
          </a:p>
          <a:p>
            <a:pPr marL="0" indent="0">
              <a:spcBef>
                <a:spcPts val="0"/>
              </a:spcBef>
              <a:buClr>
                <a:srgbClr val="000000"/>
              </a:buClr>
              <a:buSzPts val="1100"/>
              <a:buNone/>
            </a:pPr>
            <a:r>
              <a:rPr lang="en-US" sz="1400" kern="0" noProof="1">
                <a:solidFill>
                  <a:schemeClr val="tx1"/>
                </a:solidFill>
              </a:rPr>
              <a:t>     AdminProjectStructureResponse, AdminWPStructureResponse</a:t>
            </a:r>
          </a:p>
          <a:p>
            <a:pPr marL="0" indent="0">
              <a:spcBef>
                <a:spcPts val="1200"/>
              </a:spcBef>
              <a:buClr>
                <a:srgbClr val="000000"/>
              </a:buClr>
              <a:buSzPts val="1100"/>
              <a:buNone/>
            </a:pPr>
            <a:r>
              <a:rPr lang="en-US" sz="1400" kern="0" noProof="1">
                <a:solidFill>
                  <a:schemeClr val="tx1"/>
                </a:solidFill>
              </a:rPr>
              <a:t>Manager Response Bean</a:t>
            </a:r>
          </a:p>
          <a:p>
            <a:pPr marL="0" indent="0">
              <a:spcBef>
                <a:spcPts val="0"/>
              </a:spcBef>
              <a:buClr>
                <a:srgbClr val="000000"/>
              </a:buClr>
              <a:buSzPts val="1100"/>
              <a:buNone/>
            </a:pPr>
            <a:r>
              <a:rPr lang="en-US" sz="1400" kern="0" noProof="1">
                <a:solidFill>
                  <a:schemeClr val="tx1"/>
                </a:solidFill>
              </a:rPr>
              <a:t>     ManagerTaskAssignmentResponse, ManagerProjectMonitoringResponse, ManagerWPMonitoringResponse, ManagerTaskMonitoringResponse,</a:t>
            </a:r>
          </a:p>
          <a:p>
            <a:pPr marL="0" indent="0">
              <a:spcBef>
                <a:spcPts val="0"/>
              </a:spcBef>
              <a:buClr>
                <a:srgbClr val="000000"/>
              </a:buClr>
              <a:buSzPts val="1100"/>
              <a:buNone/>
            </a:pPr>
            <a:r>
              <a:rPr lang="en-US" sz="1400" kern="0" noProof="1">
                <a:solidFill>
                  <a:schemeClr val="tx1"/>
                </a:solidFill>
              </a:rPr>
              <a:t>     ManagerCollaboratorReportResponse, ManagerCollaboratorProjectResponse, ManagerCollaboratorWPResponse, ManagerCollaboratorTaskResponse</a:t>
            </a:r>
          </a:p>
          <a:p>
            <a:pPr marL="0" indent="0">
              <a:spcBef>
                <a:spcPts val="1200"/>
              </a:spcBef>
              <a:buClr>
                <a:srgbClr val="000000"/>
              </a:buClr>
              <a:buSzPts val="1100"/>
              <a:buNone/>
            </a:pPr>
            <a:r>
              <a:rPr lang="en-US" sz="1400" kern="0" noProof="1">
                <a:solidFill>
                  <a:schemeClr val="tx1"/>
                </a:solidFill>
              </a:rPr>
              <a:t>Monthly Bean</a:t>
            </a:r>
          </a:p>
          <a:p>
            <a:pPr marL="0" indent="0">
              <a:spcBef>
                <a:spcPts val="0"/>
              </a:spcBef>
              <a:buClr>
                <a:srgbClr val="000000"/>
              </a:buClr>
              <a:buSzPts val="1100"/>
              <a:buNone/>
            </a:pPr>
            <a:r>
              <a:rPr lang="en-US" sz="1400" kern="0" noProof="1">
                <a:solidFill>
                  <a:schemeClr val="tx1"/>
                </a:solidFill>
              </a:rPr>
              <a:t>     ExpectedHoursMonth, TaskHoursMonth, WPHoursMonth, TaskWorkedHoursMonth, WPWorkedHoursMonth</a:t>
            </a:r>
          </a:p>
          <a:p>
            <a:pPr marL="0" indent="0">
              <a:spcBef>
                <a:spcPts val="1200"/>
              </a:spcBef>
              <a:buClr>
                <a:srgbClr val="000000"/>
              </a:buClr>
              <a:buSzPts val="1100"/>
              <a:buNone/>
            </a:pPr>
            <a:r>
              <a:rPr lang="en-US" sz="1400" kern="0" noProof="1">
                <a:solidFill>
                  <a:schemeClr val="tx1"/>
                </a:solidFill>
              </a:rPr>
              <a:t>Collaborator Response Bean</a:t>
            </a:r>
          </a:p>
          <a:p>
            <a:pPr marL="0" indent="0">
              <a:spcBef>
                <a:spcPts val="0"/>
              </a:spcBef>
              <a:buClr>
                <a:srgbClr val="000000"/>
              </a:buClr>
              <a:buSzPts val="1100"/>
              <a:buNone/>
            </a:pPr>
            <a:r>
              <a:rPr lang="en-US" sz="1400" kern="0" noProof="1">
                <a:solidFill>
                  <a:schemeClr val="tx1"/>
                </a:solidFill>
              </a:rPr>
              <a:t>     CollaboratorHomeResponse, CollaboratorProjectResponse, CollaboratorWPResponse, CollaboratorTaskResponse, CollaboratorTaskMonthResponse</a:t>
            </a:r>
          </a:p>
          <a:p>
            <a:pPr marL="0" indent="0">
              <a:spcBef>
                <a:spcPts val="0"/>
              </a:spcBef>
              <a:buClr>
                <a:srgbClr val="000000"/>
              </a:buClr>
              <a:buSzPts val="1100"/>
              <a:buNone/>
            </a:pPr>
            <a:endParaRPr lang="en-US" sz="1400" kern="0" noProof="1">
              <a:solidFill>
                <a:schemeClr val="tx1"/>
              </a:solidFill>
            </a:endParaRPr>
          </a:p>
          <a:p>
            <a:pPr marL="0" indent="0">
              <a:spcBef>
                <a:spcPts val="0"/>
              </a:spcBef>
              <a:buClr>
                <a:srgbClr val="000000"/>
              </a:buClr>
              <a:buSzPts val="1100"/>
              <a:buNone/>
            </a:pPr>
            <a:r>
              <a:rPr lang="en-US" sz="1400" kern="0" noProof="1">
                <a:solidFill>
                  <a:schemeClr val="tx1"/>
                </a:solidFill>
              </a:rPr>
              <a:t>Le liste mensili permettono di mantenere l’ordine dei mesi e di rappresentare tutte le colonne attese dal frontend. I valori null vengono mantenuti solo dove distinguono un dato non ancora definito da un valore esplicito pari a zero.</a:t>
            </a:r>
          </a:p>
        </p:txBody>
      </p:sp>
    </p:spTree>
    <p:extLst>
      <p:ext uri="{BB962C8B-B14F-4D97-AF65-F5344CB8AC3E}">
        <p14:creationId xmlns:p14="http://schemas.microsoft.com/office/powerpoint/2010/main" val="10412997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CAD31-DF1B-FE06-0D8A-0D145127C8A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BFF9D52D-5AF8-2A34-44D6-F5185967CD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3" name="Google Shape;136;p26">
            <a:extLst>
              <a:ext uri="{FF2B5EF4-FFF2-40B4-BE49-F238E27FC236}">
                <a16:creationId xmlns:a16="http://schemas.microsoft.com/office/drawing/2014/main" id="{5D792E57-D044-396E-5360-785D28BA294F}"/>
              </a:ext>
            </a:extLst>
          </p:cNvPr>
          <p:cNvSpPr txBox="1">
            <a:spLocks/>
          </p:cNvSpPr>
          <p:nvPr/>
        </p:nvSpPr>
        <p:spPr>
          <a:xfrm>
            <a:off x="6095999" y="2450032"/>
            <a:ext cx="5986645" cy="108192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100"/>
              </a:spcBef>
              <a:buClr>
                <a:srgbClr val="000000"/>
              </a:buClr>
              <a:buSzPts val="1100"/>
            </a:pPr>
            <a:r>
              <a:rPr lang="en-US" sz="1400" kern="0" noProof="1">
                <a:solidFill>
                  <a:schemeClr val="tx1"/>
                </a:solidFill>
              </a:rPr>
              <a:t>Collaborator</a:t>
            </a:r>
          </a:p>
          <a:p>
            <a:pPr marL="536433" lvl="1" indent="0">
              <a:spcBef>
                <a:spcPts val="100"/>
              </a:spcBef>
              <a:buClr>
                <a:srgbClr val="000000"/>
              </a:buClr>
              <a:buSzPts val="1100"/>
              <a:buNone/>
            </a:pPr>
            <a:r>
              <a:rPr lang="en-US" sz="1400" kern="0" noProof="1">
                <a:solidFill>
                  <a:schemeClr val="tx1"/>
                </a:solidFill>
              </a:rPr>
              <a:t>GetCollaboratorTimesheet		Caricamento timesheet</a:t>
            </a:r>
          </a:p>
          <a:p>
            <a:pPr marL="536433" lvl="1" indent="0">
              <a:spcBef>
                <a:spcPts val="100"/>
              </a:spcBef>
              <a:buClr>
                <a:srgbClr val="000000"/>
              </a:buClr>
              <a:buSzPts val="1100"/>
              <a:buNone/>
            </a:pPr>
            <a:r>
              <a:rPr lang="en-US" sz="1400" kern="0" noProof="1">
                <a:solidFill>
                  <a:schemeClr val="tx1"/>
                </a:solidFill>
              </a:rPr>
              <a:t>UpdateCollaboratorWorkedHours	Aggiornamento ore lavorate</a:t>
            </a:r>
          </a:p>
        </p:txBody>
      </p:sp>
      <p:sp>
        <p:nvSpPr>
          <p:cNvPr id="5" name="Google Shape;136;p26">
            <a:extLst>
              <a:ext uri="{FF2B5EF4-FFF2-40B4-BE49-F238E27FC236}">
                <a16:creationId xmlns:a16="http://schemas.microsoft.com/office/drawing/2014/main" id="{2B2CE031-7B88-E111-9E20-2DC75D412676}"/>
              </a:ext>
            </a:extLst>
          </p:cNvPr>
          <p:cNvSpPr txBox="1">
            <a:spLocks/>
          </p:cNvSpPr>
          <p:nvPr/>
        </p:nvSpPr>
        <p:spPr>
          <a:xfrm>
            <a:off x="426631" y="1284348"/>
            <a:ext cx="6043972" cy="5428298"/>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100"/>
              </a:spcBef>
              <a:buClr>
                <a:srgbClr val="000000"/>
              </a:buClr>
              <a:buSzPts val="1100"/>
              <a:buNone/>
            </a:pPr>
            <a:r>
              <a:rPr lang="en-US" sz="1600" kern="0" noProof="1">
                <a:solidFill>
                  <a:schemeClr val="tx1"/>
                </a:solidFill>
              </a:rPr>
              <a:t>Servlets:</a:t>
            </a:r>
          </a:p>
          <a:p>
            <a:pPr marL="285750" indent="-285750">
              <a:spcBef>
                <a:spcPts val="1000"/>
              </a:spcBef>
              <a:buClr>
                <a:srgbClr val="000000"/>
              </a:buClr>
              <a:buSzPts val="1100"/>
            </a:pPr>
            <a:r>
              <a:rPr lang="en-US" sz="1400" kern="0" noProof="1">
                <a:solidFill>
                  <a:schemeClr val="tx1"/>
                </a:solidFill>
              </a:rPr>
              <a:t>Auth:</a:t>
            </a:r>
          </a:p>
          <a:p>
            <a:pPr marL="536433" lvl="1" indent="0">
              <a:spcBef>
                <a:spcPts val="100"/>
              </a:spcBef>
              <a:buClr>
                <a:srgbClr val="000000"/>
              </a:buClr>
              <a:buSzPts val="1100"/>
              <a:buNone/>
            </a:pPr>
            <a:r>
              <a:rPr lang="en-US" sz="1400" kern="0" noProof="1">
                <a:solidFill>
                  <a:schemeClr val="tx1"/>
                </a:solidFill>
              </a:rPr>
              <a:t>Login	Autenticazione utente</a:t>
            </a:r>
          </a:p>
          <a:p>
            <a:pPr marL="536433" lvl="1" indent="0">
              <a:spcBef>
                <a:spcPts val="100"/>
              </a:spcBef>
              <a:buClr>
                <a:srgbClr val="000000"/>
              </a:buClr>
              <a:buSzPts val="1100"/>
              <a:buNone/>
            </a:pPr>
            <a:r>
              <a:rPr lang="en-US" sz="1400" kern="0" noProof="1">
                <a:solidFill>
                  <a:schemeClr val="tx1"/>
                </a:solidFill>
              </a:rPr>
              <a:t>Logout	Chiusura sessione</a:t>
            </a:r>
          </a:p>
          <a:p>
            <a:pPr marL="285750" indent="-285750">
              <a:spcBef>
                <a:spcPts val="1000"/>
              </a:spcBef>
              <a:buClr>
                <a:srgbClr val="000000"/>
              </a:buClr>
              <a:buSzPts val="1100"/>
            </a:pPr>
            <a:r>
              <a:rPr lang="en-US" sz="1400" kern="0" noProof="1">
                <a:solidFill>
                  <a:schemeClr val="tx1"/>
                </a:solidFill>
              </a:rPr>
              <a:t>Admin</a:t>
            </a:r>
          </a:p>
          <a:p>
            <a:pPr marL="536433" lvl="1" indent="0">
              <a:spcBef>
                <a:spcPts val="100"/>
              </a:spcBef>
              <a:buClr>
                <a:srgbClr val="000000"/>
              </a:buClr>
              <a:buSzPts val="1100"/>
              <a:buNone/>
            </a:pPr>
            <a:r>
              <a:rPr lang="en-US" sz="1400" kern="0" noProof="1">
                <a:solidFill>
                  <a:schemeClr val="tx1"/>
                </a:solidFill>
              </a:rPr>
              <a:t>GetTechnicalUsers	Recupero utenti tecnici</a:t>
            </a:r>
          </a:p>
          <a:p>
            <a:pPr marL="536433" lvl="1" indent="0">
              <a:spcBef>
                <a:spcPts val="100"/>
              </a:spcBef>
              <a:buClr>
                <a:srgbClr val="000000"/>
              </a:buClr>
              <a:buSzPts val="1100"/>
              <a:buNone/>
            </a:pPr>
            <a:r>
              <a:rPr lang="en-US" sz="1400" kern="0" noProof="1">
                <a:solidFill>
                  <a:schemeClr val="tx1"/>
                </a:solidFill>
              </a:rPr>
              <a:t>GetProjects		Recupero progetti admin</a:t>
            </a:r>
          </a:p>
          <a:p>
            <a:pPr marL="536433" lvl="1" indent="0">
              <a:spcBef>
                <a:spcPts val="100"/>
              </a:spcBef>
              <a:buClr>
                <a:srgbClr val="000000"/>
              </a:buClr>
              <a:buSzPts val="1100"/>
              <a:buNone/>
            </a:pPr>
            <a:r>
              <a:rPr lang="en-US" sz="1400" kern="0" noProof="1">
                <a:solidFill>
                  <a:schemeClr val="tx1"/>
                </a:solidFill>
              </a:rPr>
              <a:t>GetProjectStructure	Dettaglio struttura Progetto</a:t>
            </a:r>
          </a:p>
          <a:p>
            <a:pPr marL="536433" lvl="1" indent="0">
              <a:spcBef>
                <a:spcPts val="100"/>
              </a:spcBef>
              <a:buClr>
                <a:srgbClr val="000000"/>
              </a:buClr>
              <a:buSzPts val="1100"/>
              <a:buNone/>
            </a:pPr>
            <a:r>
              <a:rPr lang="en-US" sz="1400" kern="0" noProof="1">
                <a:solidFill>
                  <a:schemeClr val="tx1"/>
                </a:solidFill>
              </a:rPr>
              <a:t>CreateProjectStructure	Salvataggio progetto completo</a:t>
            </a:r>
          </a:p>
          <a:p>
            <a:pPr marL="285750" indent="-285750">
              <a:spcBef>
                <a:spcPts val="1000"/>
              </a:spcBef>
              <a:buClr>
                <a:srgbClr val="000000"/>
              </a:buClr>
              <a:buSzPts val="1100"/>
            </a:pPr>
            <a:r>
              <a:rPr lang="en-US" sz="1400" kern="0" noProof="1">
                <a:solidFill>
                  <a:schemeClr val="tx1"/>
                </a:solidFill>
              </a:rPr>
              <a:t>Manager</a:t>
            </a:r>
          </a:p>
          <a:p>
            <a:pPr marL="536433" lvl="1" indent="0">
              <a:spcBef>
                <a:spcPts val="100"/>
              </a:spcBef>
              <a:buClr>
                <a:srgbClr val="000000"/>
              </a:buClr>
              <a:buSzPts val="1100"/>
              <a:buNone/>
            </a:pPr>
            <a:r>
              <a:rPr lang="en-US" sz="1400" kern="0" noProof="1">
                <a:solidFill>
                  <a:schemeClr val="tx1"/>
                </a:solidFill>
              </a:rPr>
              <a:t>GetAssignableTasks	               Task ancora assegnabili</a:t>
            </a:r>
          </a:p>
          <a:p>
            <a:pPr marL="536433" lvl="1" indent="0">
              <a:spcBef>
                <a:spcPts val="100"/>
              </a:spcBef>
              <a:buClr>
                <a:srgbClr val="000000"/>
              </a:buClr>
              <a:buSzPts val="1100"/>
              <a:buNone/>
            </a:pPr>
            <a:r>
              <a:rPr lang="en-US" sz="1400" kern="0" noProof="1">
                <a:solidFill>
                  <a:schemeClr val="tx1"/>
                </a:solidFill>
              </a:rPr>
              <a:t>GetTaskAssignmentDetails	               Dettagli assegnamento task</a:t>
            </a:r>
          </a:p>
          <a:p>
            <a:pPr marL="536433" lvl="1" indent="0">
              <a:spcBef>
                <a:spcPts val="100"/>
              </a:spcBef>
              <a:buClr>
                <a:srgbClr val="000000"/>
              </a:buClr>
              <a:buSzPts val="1100"/>
              <a:buNone/>
            </a:pPr>
            <a:r>
              <a:rPr lang="en-US" sz="1400" kern="0" noProof="1">
                <a:solidFill>
                  <a:schemeClr val="tx1"/>
                </a:solidFill>
              </a:rPr>
              <a:t>SaveTaskAssignment	               Salvataggio ore e collaborator</a:t>
            </a:r>
          </a:p>
          <a:p>
            <a:pPr marL="536433" lvl="1" indent="0">
              <a:spcBef>
                <a:spcPts val="100"/>
              </a:spcBef>
              <a:buClr>
                <a:srgbClr val="000000"/>
              </a:buClr>
              <a:buSzPts val="1100"/>
              <a:buNone/>
            </a:pPr>
            <a:r>
              <a:rPr lang="en-US" sz="1400" kern="0" noProof="1">
                <a:solidFill>
                  <a:schemeClr val="tx1"/>
                </a:solidFill>
              </a:rPr>
              <a:t>AssignProject		               Passaggio a stato assegnato</a:t>
            </a:r>
          </a:p>
          <a:p>
            <a:pPr marL="536433" lvl="1" indent="0">
              <a:spcBef>
                <a:spcPts val="100"/>
              </a:spcBef>
              <a:buClr>
                <a:srgbClr val="000000"/>
              </a:buClr>
              <a:buSzPts val="1100"/>
              <a:buNone/>
            </a:pPr>
            <a:r>
              <a:rPr lang="en-US" sz="1400" kern="0" noProof="1">
                <a:solidFill>
                  <a:schemeClr val="tx1"/>
                </a:solidFill>
              </a:rPr>
              <a:t>GetTechnicalUsersExceptManager        Collaboratori disponibili</a:t>
            </a:r>
          </a:p>
          <a:p>
            <a:pPr marL="536433" lvl="1" indent="0">
              <a:spcBef>
                <a:spcPts val="100"/>
              </a:spcBef>
              <a:buClr>
                <a:srgbClr val="000000"/>
              </a:buClr>
              <a:buSzPts val="1100"/>
              <a:buNone/>
            </a:pPr>
            <a:r>
              <a:rPr lang="en-US" sz="1400" kern="0" noProof="1">
                <a:solidFill>
                  <a:schemeClr val="tx1"/>
                </a:solidFill>
              </a:rPr>
              <a:t>GetMonitorableProjects	               Progetti monitorabili</a:t>
            </a:r>
          </a:p>
          <a:p>
            <a:pPr marL="536433" lvl="1" indent="0">
              <a:spcBef>
                <a:spcPts val="100"/>
              </a:spcBef>
              <a:buClr>
                <a:srgbClr val="000000"/>
              </a:buClr>
              <a:buSzPts val="1100"/>
              <a:buNone/>
            </a:pPr>
            <a:r>
              <a:rPr lang="en-US" sz="1400" kern="0" noProof="1">
                <a:solidFill>
                  <a:schemeClr val="tx1"/>
                </a:solidFill>
              </a:rPr>
              <a:t>GetProjectMonitoring	               Report mensile Progetto</a:t>
            </a:r>
          </a:p>
          <a:p>
            <a:pPr marL="536433" lvl="1" indent="0">
              <a:spcBef>
                <a:spcPts val="100"/>
              </a:spcBef>
              <a:buClr>
                <a:srgbClr val="000000"/>
              </a:buClr>
              <a:buSzPts val="1100"/>
              <a:buNone/>
            </a:pPr>
            <a:r>
              <a:rPr lang="en-US" sz="1400" kern="0" noProof="1">
                <a:solidFill>
                  <a:schemeClr val="tx1"/>
                </a:solidFill>
              </a:rPr>
              <a:t>GetManagedCollaborators	               Collaboratori gestiti</a:t>
            </a:r>
          </a:p>
          <a:p>
            <a:pPr marL="536433" lvl="1" indent="0">
              <a:spcBef>
                <a:spcPts val="100"/>
              </a:spcBef>
              <a:buClr>
                <a:srgbClr val="000000"/>
              </a:buClr>
              <a:buSzPts val="1100"/>
              <a:buNone/>
            </a:pPr>
            <a:r>
              <a:rPr lang="en-US" sz="1400" kern="0" noProof="1">
                <a:solidFill>
                  <a:schemeClr val="tx1"/>
                </a:solidFill>
              </a:rPr>
              <a:t>GetCollaboratorMonitoring	               Report ore collaborator</a:t>
            </a:r>
          </a:p>
          <a:p>
            <a:pPr marL="536433" lvl="1" indent="0">
              <a:spcBef>
                <a:spcPts val="100"/>
              </a:spcBef>
              <a:buClr>
                <a:srgbClr val="000000"/>
              </a:buClr>
              <a:buSzPts val="1100"/>
              <a:buNone/>
            </a:pPr>
            <a:r>
              <a:rPr lang="en-US" sz="1400" kern="0" noProof="1">
                <a:solidFill>
                  <a:schemeClr val="tx1"/>
                </a:solidFill>
              </a:rPr>
              <a:t>ConcludeProject		               Chiusura Progetto</a:t>
            </a:r>
          </a:p>
        </p:txBody>
      </p:sp>
    </p:spTree>
    <p:extLst>
      <p:ext uri="{BB962C8B-B14F-4D97-AF65-F5344CB8AC3E}">
        <p14:creationId xmlns:p14="http://schemas.microsoft.com/office/powerpoint/2010/main" val="41703871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749F1-F709-B31C-5CD0-CDCD03A7019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DBC1D06-7A93-1621-A12B-FC808D2A21D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953F41B3-9F7E-38AE-63A2-D814338DA53E}"/>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600" kern="0" noProof="1">
                <a:solidFill>
                  <a:schemeClr val="tx1"/>
                </a:solidFill>
              </a:rPr>
              <a:t>Data Access Objects (Classes)</a:t>
            </a:r>
          </a:p>
          <a:p>
            <a:pPr marL="285750" indent="-285750">
              <a:spcBef>
                <a:spcPts val="400"/>
              </a:spcBef>
              <a:buClr>
                <a:srgbClr val="000000"/>
              </a:buClr>
              <a:buSzPts val="1100"/>
            </a:pPr>
            <a:r>
              <a:rPr lang="en-US" sz="1400" kern="0" noProof="1">
                <a:solidFill>
                  <a:schemeClr val="tx1"/>
                </a:solidFill>
              </a:rPr>
              <a:t>UserDAO: autenticazione, recupero utenti per ruolo e collaboratori visibili al manager.</a:t>
            </a:r>
          </a:p>
          <a:p>
            <a:pPr marL="285750" indent="-285750">
              <a:spcBef>
                <a:spcPts val="400"/>
              </a:spcBef>
              <a:buClr>
                <a:srgbClr val="000000"/>
              </a:buClr>
              <a:buSzPts val="1100"/>
            </a:pPr>
            <a:r>
              <a:rPr lang="en-US" sz="1400" kern="0" noProof="1">
                <a:solidFill>
                  <a:schemeClr val="tx1"/>
                </a:solidFill>
              </a:rPr>
              <a:t>ProjectDAO: creazione progetto, recupero progetti per admin/manager, cambio stato, controlli di assegnabilità e conclusione.</a:t>
            </a:r>
          </a:p>
          <a:p>
            <a:pPr marL="285750" indent="-285750">
              <a:spcBef>
                <a:spcPts val="400"/>
              </a:spcBef>
              <a:buClr>
                <a:srgbClr val="000000"/>
              </a:buClr>
              <a:buSzPts val="1100"/>
            </a:pPr>
            <a:r>
              <a:rPr lang="en-US" sz="1400" kern="0" noProof="1">
                <a:solidFill>
                  <a:schemeClr val="tx1"/>
                </a:solidFill>
              </a:rPr>
              <a:t>WPDAO: creazione dei work package e assegnazione automatica del numero d’ordine.</a:t>
            </a:r>
          </a:p>
          <a:p>
            <a:pPr marL="285750" indent="-285750">
              <a:spcBef>
                <a:spcPts val="400"/>
              </a:spcBef>
              <a:buClr>
                <a:srgbClr val="000000"/>
              </a:buClr>
              <a:buSzPts val="1100"/>
            </a:pPr>
            <a:r>
              <a:rPr lang="en-US" sz="1400" kern="0" noProof="1">
                <a:solidFill>
                  <a:schemeClr val="tx1"/>
                </a:solidFill>
              </a:rPr>
              <a:t>TaskDAO: creazione task, recupero task gestiti, verifica responsabilità manager, gestione collaboratori assegnati ai task.</a:t>
            </a:r>
          </a:p>
          <a:p>
            <a:pPr marL="285750" indent="-285750">
              <a:spcBef>
                <a:spcPts val="400"/>
              </a:spcBef>
              <a:buClr>
                <a:srgbClr val="000000"/>
              </a:buClr>
              <a:buSzPts val="1100"/>
            </a:pPr>
            <a:r>
              <a:rPr lang="en-US" sz="1400" kern="0" noProof="1">
                <a:solidFill>
                  <a:schemeClr val="tx1"/>
                </a:solidFill>
              </a:rPr>
              <a:t>TaskHoursDAO: lettura e scrittura delle ore previste mese per mese.</a:t>
            </a:r>
          </a:p>
          <a:p>
            <a:pPr marL="285750" indent="-285750">
              <a:spcBef>
                <a:spcPts val="400"/>
              </a:spcBef>
              <a:buClr>
                <a:srgbClr val="000000"/>
              </a:buClr>
              <a:buSzPts val="1100"/>
            </a:pPr>
            <a:r>
              <a:rPr lang="en-US" sz="1400" kern="0" noProof="1">
                <a:solidFill>
                  <a:schemeClr val="tx1"/>
                </a:solidFill>
              </a:rPr>
              <a:t>AdminDAO: costruzione della struttura gerarchica progetto/WP/task per l’interfaccia admin.</a:t>
            </a:r>
          </a:p>
          <a:p>
            <a:pPr marL="285750" indent="-285750">
              <a:spcBef>
                <a:spcPts val="400"/>
              </a:spcBef>
              <a:buClr>
                <a:srgbClr val="000000"/>
              </a:buClr>
              <a:buSzPts val="1100"/>
            </a:pPr>
            <a:r>
              <a:rPr lang="en-US" sz="1400" kern="0" noProof="1">
                <a:solidFill>
                  <a:schemeClr val="tx1"/>
                </a:solidFill>
              </a:rPr>
              <a:t>ManagerDAO: costruzione dei report di monitoraggio progetto e collaboratore per l’interfaccia manager.</a:t>
            </a:r>
          </a:p>
          <a:p>
            <a:pPr marL="285750" indent="-285750">
              <a:spcBef>
                <a:spcPts val="400"/>
              </a:spcBef>
              <a:buClr>
                <a:srgbClr val="000000"/>
              </a:buClr>
              <a:buSzPts val="1100"/>
            </a:pPr>
            <a:r>
              <a:rPr lang="en-US" sz="1400" kern="0" noProof="1">
                <a:solidFill>
                  <a:schemeClr val="tx1"/>
                </a:solidFill>
              </a:rPr>
              <a:t>CollaboratorDAO: costruzione del timesheet del collaboratore e aggiornamento delle ore lavorate.</a:t>
            </a:r>
          </a:p>
          <a:p>
            <a:pPr marL="0" indent="0">
              <a:spcBef>
                <a:spcPts val="1000"/>
              </a:spcBef>
              <a:buClr>
                <a:srgbClr val="000000"/>
              </a:buClr>
              <a:buSzPts val="1100"/>
              <a:buNone/>
            </a:pPr>
            <a:r>
              <a:rPr lang="en-US" sz="1400" kern="0" noProof="1">
                <a:solidFill>
                  <a:schemeClr val="tx1"/>
                </a:solidFill>
              </a:rPr>
              <a:t>I DAO principali gestiscono le operazioni sulle entità del dominio, mentre i DAO specifici per ruolo costruiscono risposte già organizzate per le viste dell’applicazione.</a:t>
            </a:r>
          </a:p>
          <a:p>
            <a:pPr marL="0" indent="0">
              <a:spcBef>
                <a:spcPts val="400"/>
              </a:spcBef>
              <a:buClr>
                <a:srgbClr val="000000"/>
              </a:buClr>
              <a:buSzPts val="1100"/>
              <a:buNone/>
            </a:pPr>
            <a:endParaRPr lang="en-US" sz="1400" kern="0" noProof="1">
              <a:solidFill>
                <a:schemeClr val="tx1"/>
              </a:solidFill>
            </a:endParaRPr>
          </a:p>
          <a:p>
            <a:pPr marL="0" indent="0">
              <a:spcBef>
                <a:spcPts val="1200"/>
              </a:spcBef>
              <a:buClr>
                <a:srgbClr val="000000"/>
              </a:buClr>
              <a:buSzPts val="1100"/>
              <a:buNone/>
            </a:pPr>
            <a:r>
              <a:rPr lang="en-US" sz="1600" kern="0" noProof="1">
                <a:solidFill>
                  <a:schemeClr val="tx1"/>
                </a:solidFill>
              </a:rPr>
              <a:t>Filters</a:t>
            </a:r>
          </a:p>
          <a:p>
            <a:pPr marL="285750" indent="-285750">
              <a:spcBef>
                <a:spcPts val="400"/>
              </a:spcBef>
              <a:buClr>
                <a:srgbClr val="000000"/>
              </a:buClr>
              <a:buSzPts val="1100"/>
            </a:pPr>
            <a:r>
              <a:rPr lang="en-US" sz="1400" kern="0" noProof="1">
                <a:solidFill>
                  <a:schemeClr val="tx1"/>
                </a:solidFill>
              </a:rPr>
              <a:t>AdminFilter: controllo autenticazione e ruolo admin.</a:t>
            </a:r>
          </a:p>
          <a:p>
            <a:pPr marL="285750" indent="-285750">
              <a:spcBef>
                <a:spcPts val="400"/>
              </a:spcBef>
              <a:buClr>
                <a:srgbClr val="000000"/>
              </a:buClr>
              <a:buSzPts val="1100"/>
            </a:pPr>
            <a:r>
              <a:rPr lang="en-US" sz="1400" kern="0" noProof="1">
                <a:solidFill>
                  <a:schemeClr val="tx1"/>
                </a:solidFill>
              </a:rPr>
              <a:t>TechnicalFilter: controllo autenticazione e ruolo technical.</a:t>
            </a:r>
          </a:p>
          <a:p>
            <a:pPr marL="0" indent="0">
              <a:spcBef>
                <a:spcPts val="1200"/>
              </a:spcBef>
              <a:buClr>
                <a:srgbClr val="000000"/>
              </a:buClr>
              <a:buSzPts val="1100"/>
              <a:buNone/>
            </a:pPr>
            <a:r>
              <a:rPr lang="en-US" sz="1600" kern="0" noProof="1">
                <a:solidFill>
                  <a:schemeClr val="tx1"/>
                </a:solidFill>
              </a:rPr>
              <a:t>Utils</a:t>
            </a:r>
          </a:p>
          <a:p>
            <a:pPr marL="285750" indent="-285750">
              <a:spcBef>
                <a:spcPts val="400"/>
              </a:spcBef>
              <a:buClr>
                <a:srgbClr val="000000"/>
              </a:buClr>
              <a:buSzPts val="1100"/>
            </a:pPr>
            <a:r>
              <a:rPr lang="en-US" sz="1400" kern="0" noProof="1">
                <a:solidFill>
                  <a:schemeClr val="tx1"/>
                </a:solidFill>
              </a:rPr>
              <a:t>DatabaseConnection: gestione centralizzata della connessione al database.</a:t>
            </a:r>
          </a:p>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22409394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90B85-6DF9-A4B9-26AF-A7DCC0016C01}"/>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617A5D3-6DDD-7B50-88A3-0A94EEF2F6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Client Side</a:t>
            </a:r>
          </a:p>
        </p:txBody>
      </p:sp>
      <p:sp>
        <p:nvSpPr>
          <p:cNvPr id="5" name="Google Shape;136;p26">
            <a:extLst>
              <a:ext uri="{FF2B5EF4-FFF2-40B4-BE49-F238E27FC236}">
                <a16:creationId xmlns:a16="http://schemas.microsoft.com/office/drawing/2014/main" id="{DF23B4BE-8951-F0B4-2AAB-C54D86BB63C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5745324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062E-F45D-EF30-8374-5AABFF173D5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963776E-7C3A-4E10-C097-B1BD4625D66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Eventi e Azioni (login)</a:t>
            </a:r>
          </a:p>
        </p:txBody>
      </p:sp>
      <p:graphicFrame>
        <p:nvGraphicFramePr>
          <p:cNvPr id="2" name="Table 1">
            <a:extLst>
              <a:ext uri="{FF2B5EF4-FFF2-40B4-BE49-F238E27FC236}">
                <a16:creationId xmlns:a16="http://schemas.microsoft.com/office/drawing/2014/main" id="{D34E8C1A-863A-5385-5EF5-1A91502FBD97}"/>
              </a:ext>
            </a:extLst>
          </p:cNvPr>
          <p:cNvGraphicFramePr>
            <a:graphicFrameLocks noGrp="1"/>
          </p:cNvGraphicFramePr>
          <p:nvPr>
            <p:extLst>
              <p:ext uri="{D42A27DB-BD31-4B8C-83A1-F6EECF244321}">
                <p14:modId xmlns:p14="http://schemas.microsoft.com/office/powerpoint/2010/main" val="2227751497"/>
              </p:ext>
            </p:extLst>
          </p:nvPr>
        </p:nvGraphicFramePr>
        <p:xfrm>
          <a:off x="426632" y="1192603"/>
          <a:ext cx="11601395" cy="238981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campi</a:t>
                      </a:r>
                      <a:r>
                        <a:rPr lang="en-US" sz="1200" dirty="0">
                          <a:effectLst/>
                          <a:latin typeface="Calibri" panose="020F0502020204030204" pitchFamily="34" charset="0"/>
                          <a:cs typeface="Calibri" panose="020F0502020204030204" pitchFamily="34" charset="0"/>
                        </a:rPr>
                        <a:t> non </a:t>
                      </a:r>
                      <a:r>
                        <a:rPr lang="en-US" sz="1200" dirty="0" err="1">
                          <a:effectLst/>
                          <a:latin typeface="Calibri" panose="020F0502020204030204" pitchFamily="34" charset="0"/>
                          <a:cs typeface="Calibri" panose="020F0502020204030204" pitchFamily="34" charset="0"/>
                        </a:rPr>
                        <a:t>vuoti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sessione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ruolo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Collaborator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Manager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solidFill>
                            <a:srgbClr val="FF0000"/>
                          </a:solidFill>
                          <a:effectLst/>
                          <a:latin typeface="Calibri" panose="020F0502020204030204" pitchFamily="34" charset="0"/>
                          <a:cs typeface="Calibri" panose="020F0502020204030204" pitchFamily="34" charset="0"/>
                        </a:rPr>
                        <a:t>Logout</a:t>
                      </a:r>
                    </a:p>
                  </a:txBody>
                  <a:tcPr marR="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Redirect alla </a:t>
                      </a:r>
                      <a:r>
                        <a:rPr lang="en-US" sz="1200" dirty="0" err="1">
                          <a:latin typeface="Calibri" panose="020F0502020204030204" pitchFamily="34" charset="0"/>
                          <a:cs typeface="Calibri" panose="020F0502020204030204" pitchFamily="34" charset="0"/>
                        </a:rPr>
                        <a:t>pagina</a:t>
                      </a:r>
                      <a:r>
                        <a:rPr lang="en-US" sz="1200" dirty="0">
                          <a:latin typeface="Calibri" panose="020F0502020204030204" pitchFamily="34" charset="0"/>
                          <a:cs typeface="Calibri" panose="020F0502020204030204" pitchFamily="34" charset="0"/>
                        </a:rPr>
                        <a:t> di login</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Invalidazione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sessione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175498056"/>
                  </a:ext>
                </a:extLst>
              </a:tr>
            </a:tbl>
          </a:graphicData>
        </a:graphic>
      </p:graphicFrame>
    </p:spTree>
    <p:extLst>
      <p:ext uri="{BB962C8B-B14F-4D97-AF65-F5344CB8AC3E}">
        <p14:creationId xmlns:p14="http://schemas.microsoft.com/office/powerpoint/2010/main" val="31230193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522C8-DEEC-5D90-000F-47C74179826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0661C41-D388-3BC9-9E66-723F7687FB9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Controller / Event handler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663F9DF1-EB11-70E9-9161-124A58595481}"/>
              </a:ext>
            </a:extLst>
          </p:cNvPr>
          <p:cNvGraphicFramePr>
            <a:graphicFrameLocks noGrp="1"/>
          </p:cNvGraphicFramePr>
          <p:nvPr>
            <p:extLst>
              <p:ext uri="{D42A27DB-BD31-4B8C-83A1-F6EECF244321}">
                <p14:modId xmlns:p14="http://schemas.microsoft.com/office/powerpoint/2010/main" val="2084072805"/>
              </p:ext>
            </p:extLst>
          </p:nvPr>
        </p:nvGraphicFramePr>
        <p:xfrm>
          <a:off x="426632" y="1192603"/>
          <a:ext cx="11601395" cy="220693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Login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collaborator page</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manager page</a:t>
                      </a:r>
                    </a:p>
                  </a:txBody>
                  <a:tcPr marT="95250" marB="95250"/>
                </a:tc>
                <a:extLst>
                  <a:ext uri="{0D108BD9-81ED-4DB2-BD59-A6C34878D82A}">
                    <a16:rowId xmlns:a16="http://schemas.microsoft.com/office/drawing/2014/main" val="954604780"/>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solidFill>
                            <a:srgbClr val="FF0000"/>
                          </a:solidFill>
                          <a:latin typeface="Calibri" panose="020F0502020204030204" pitchFamily="34" charset="0"/>
                          <a:cs typeface="Calibri" panose="020F0502020204030204" pitchFamily="34" charset="0"/>
                        </a:rPr>
                        <a:t>Logout </a:t>
                      </a:r>
                      <a:r>
                        <a:rPr lang="en-US" sz="1200" dirty="0">
                          <a:solidFill>
                            <a:schemeClr val="tx1"/>
                          </a:solidFill>
                          <a:latin typeface="Calibri" panose="020F0502020204030204" pitchFamily="34" charset="0"/>
                          <a:cs typeface="Calibri" panose="020F0502020204030204" pitchFamily="34" charset="0"/>
                        </a:rPr>
                        <a:t>(</a:t>
                      </a:r>
                      <a:r>
                        <a:rPr lang="en-US" sz="1200" dirty="0" err="1">
                          <a:solidFill>
                            <a:schemeClr val="tx1"/>
                          </a:solidFill>
                          <a:latin typeface="Calibri" panose="020F0502020204030204" pitchFamily="34" charset="0"/>
                          <a:cs typeface="Calibri" panose="020F0502020204030204" pitchFamily="34" charset="0"/>
                        </a:rPr>
                        <a:t>comune</a:t>
                      </a:r>
                      <a:r>
                        <a:rPr lang="en-US" sz="1200" dirty="0">
                          <a:solidFill>
                            <a:schemeClr val="tx1"/>
                          </a:solidFill>
                          <a:latin typeface="Calibri" panose="020F0502020204030204" pitchFamily="34" charset="0"/>
                          <a:cs typeface="Calibri" panose="020F0502020204030204" pitchFamily="34" charset="0"/>
                        </a:rPr>
                        <a:t> a tutte le </a:t>
                      </a:r>
                      <a:r>
                        <a:rPr lang="en-US" sz="1200" dirty="0" err="1">
                          <a:solidFill>
                            <a:schemeClr val="tx1"/>
                          </a:solidFill>
                          <a:latin typeface="Calibri" panose="020F0502020204030204" pitchFamily="34" charset="0"/>
                          <a:cs typeface="Calibri" panose="020F0502020204030204" pitchFamily="34" charset="0"/>
                        </a:rPr>
                        <a:t>pagine</a:t>
                      </a:r>
                      <a:r>
                        <a:rPr lang="en-US" sz="1200" dirty="0">
                          <a:solidFill>
                            <a:schemeClr val="tx1"/>
                          </a:solidFill>
                          <a:latin typeface="Calibri" panose="020F0502020204030204" pitchFamily="34" charset="0"/>
                          <a:cs typeface="Calibri" panose="020F0502020204030204" pitchFamily="34" charset="0"/>
                        </a:rPr>
                        <a:t>)</a:t>
                      </a:r>
                    </a:p>
                  </a:txBody>
                  <a:tcPr marR="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logout</a:t>
                      </a:r>
                    </a:p>
                  </a:txBody>
                  <a:tcPr marR="228600" marT="95250" marB="9525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Logout servlet</a:t>
                      </a:r>
                    </a:p>
                  </a:txBody>
                  <a:tcPr marT="95250" marB="95250"/>
                </a:tc>
                <a:extLst>
                  <a:ext uri="{0D108BD9-81ED-4DB2-BD59-A6C34878D82A}">
                    <a16:rowId xmlns:a16="http://schemas.microsoft.com/office/drawing/2014/main" val="1839903382"/>
                  </a:ext>
                </a:extLst>
              </a:tr>
            </a:tbl>
          </a:graphicData>
        </a:graphic>
      </p:graphicFrame>
    </p:spTree>
    <p:extLst>
      <p:ext uri="{BB962C8B-B14F-4D97-AF65-F5344CB8AC3E}">
        <p14:creationId xmlns:p14="http://schemas.microsoft.com/office/powerpoint/2010/main" val="16337879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998EF-787D-A86C-41DD-C7206A00022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F399A16-8E01-B138-43F3-209FE54A385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(admin)</a:t>
            </a:r>
          </a:p>
        </p:txBody>
      </p:sp>
      <p:graphicFrame>
        <p:nvGraphicFramePr>
          <p:cNvPr id="2" name="Table 1">
            <a:extLst>
              <a:ext uri="{FF2B5EF4-FFF2-40B4-BE49-F238E27FC236}">
                <a16:creationId xmlns:a16="http://schemas.microsoft.com/office/drawing/2014/main" id="{84B41084-D0B7-BA43-70BA-DC90D6DF8087}"/>
              </a:ext>
            </a:extLst>
          </p:cNvPr>
          <p:cNvGraphicFramePr>
            <a:graphicFrameLocks noGrp="1"/>
          </p:cNvGraphicFramePr>
          <p:nvPr>
            <p:extLst>
              <p:ext uri="{D42A27DB-BD31-4B8C-83A1-F6EECF244321}">
                <p14:modId xmlns:p14="http://schemas.microsoft.com/office/powerpoint/2010/main" val="2354561892"/>
              </p:ext>
            </p:extLst>
          </p:nvPr>
        </p:nvGraphicFramePr>
        <p:xfrm>
          <a:off x="340768" y="1195397"/>
          <a:ext cx="11510462" cy="555973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area draft, carica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technical</a:t>
                      </a:r>
                    </a:p>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Draft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next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Crea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lato client, </a:t>
                      </a:r>
                      <a:r>
                        <a:rPr lang="en-US" sz="1200" dirty="0" err="1">
                          <a:effectLst/>
                          <a:latin typeface="Calibri" panose="020F0502020204030204" pitchFamily="34" charset="0"/>
                          <a:cs typeface="Calibri" panose="020F0502020204030204" pitchFamily="34" charset="0"/>
                        </a:rPr>
                        <a:t>renderizza</a:t>
                      </a:r>
                      <a:r>
                        <a:rPr lang="en-US" sz="1200" dirty="0">
                          <a:effectLst/>
                          <a:latin typeface="Calibri" panose="020F0502020204030204" pitchFamily="34" charset="0"/>
                          <a:cs typeface="Calibri" panose="020F0502020204030204" pitchFamily="34" charset="0"/>
                        </a:rPr>
                        <a:t> draft structure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WP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WP e task </a:t>
                      </a:r>
                      <a:r>
                        <a:rPr lang="en-US" sz="1200" dirty="0" err="1">
                          <a:effectLst/>
                          <a:latin typeface="Calibri" panose="020F0502020204030204" pitchFamily="34" charset="0"/>
                          <a:cs typeface="Calibri" panose="020F0502020204030204" pitchFamily="34" charset="0"/>
                        </a:rPr>
                        <a:t>figli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task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titolo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descrizione</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precedente</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successivo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Sposta task </a:t>
                      </a:r>
                      <a:r>
                        <a:rPr lang="en-US" sz="1200" dirty="0" err="1">
                          <a:effectLst/>
                          <a:latin typeface="Calibri" panose="020F0502020204030204" pitchFamily="34" charset="0"/>
                          <a:cs typeface="Calibri" panose="020F0502020204030204" pitchFamily="34" charset="0"/>
                        </a:rPr>
                        <a:t>tra</a:t>
                      </a:r>
                      <a:r>
                        <a:rPr lang="en-US" sz="1200" dirty="0">
                          <a:effectLst/>
                          <a:latin typeface="Calibri" panose="020F0502020204030204" pitchFamily="34" charset="0"/>
                          <a:cs typeface="Calibri" panose="020F0502020204030204" pitchFamily="34" charset="0"/>
                        </a:rPr>
                        <a:t> WP, </a:t>
                      </a:r>
                      <a:r>
                        <a:rPr lang="en-US" sz="1200" dirty="0" err="1">
                          <a:effectLst/>
                          <a:latin typeface="Calibri" panose="020F0502020204030204" pitchFamily="34" charset="0"/>
                          <a:cs typeface="Calibri" panose="020F0502020204030204" pitchFamily="34" charset="0"/>
                        </a:rPr>
                        <a:t>valida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durata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rinumera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POST(project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Admin 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Richiede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37532851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7F635-AA55-6FD3-E281-2A33F0CB690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2250EAF-3843-7C71-E4F6-DC88802BFED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admin)</a:t>
            </a:r>
          </a:p>
        </p:txBody>
      </p:sp>
      <p:graphicFrame>
        <p:nvGraphicFramePr>
          <p:cNvPr id="2" name="Table 1">
            <a:extLst>
              <a:ext uri="{FF2B5EF4-FFF2-40B4-BE49-F238E27FC236}">
                <a16:creationId xmlns:a16="http://schemas.microsoft.com/office/drawing/2014/main" id="{8BDE38E7-7712-DB9E-4C3B-6CFC73C44A0C}"/>
              </a:ext>
            </a:extLst>
          </p:cNvPr>
          <p:cNvGraphicFramePr>
            <a:graphicFrameLocks noGrp="1"/>
          </p:cNvGraphicFramePr>
          <p:nvPr>
            <p:extLst>
              <p:ext uri="{D42A27DB-BD31-4B8C-83A1-F6EECF244321}">
                <p14:modId xmlns:p14="http://schemas.microsoft.com/office/powerpoint/2010/main" val="3900103455"/>
              </p:ext>
            </p:extLst>
          </p:nvPr>
        </p:nvGraphicFramePr>
        <p:xfrm>
          <a:off x="340768" y="1344683"/>
          <a:ext cx="11510462" cy="537685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GetTechnicalUsers</a:t>
                      </a:r>
                      <a:r>
                        <a:rPr lang="en-US" sz="1200" dirty="0">
                          <a:effectLst/>
                          <a:latin typeface="Calibri" panose="020F0502020204030204" pitchFamily="34" charset="0"/>
                          <a:cs typeface="Calibri" panose="020F0502020204030204" pitchFamily="34" charset="0"/>
                        </a:rPr>
                        <a:t> servlet</a:t>
                      </a: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Draft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next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ProjectDraftForm.submit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DraftProjectStructure.addWP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DraftProjectStructure.removeWP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DraftProjectStructure.addTask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DraftProjectStructure.removeTask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WP/Task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DraftProjectStructure.updateDraft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DraftProjectStructure.undo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DraftProjectStructure.redo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Task Row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DraftProjectStructure.moveTask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Draft Project Structure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POST(project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CreateProjectStructure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Admin 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dk1"/>
                          </a:solidFill>
                          <a:effectLst/>
                          <a:latin typeface="Calibri" panose="020F0502020204030204" pitchFamily="34" charset="0"/>
                          <a:ea typeface="+mn-ea"/>
                          <a:cs typeface="Calibri" panose="020F0502020204030204" pitchFamily="34" charset="0"/>
                        </a:rPr>
                        <a:t>Function </a:t>
                      </a:r>
                      <a:r>
                        <a:rPr lang="en-US" sz="1200" b="0" i="0" kern="1200" dirty="0" err="1">
                          <a:solidFill>
                            <a:schemeClr val="dk1"/>
                          </a:solidFill>
                          <a:effectLst/>
                          <a:latin typeface="Calibri" panose="020F0502020204030204" pitchFamily="34" charset="0"/>
                          <a:ea typeface="+mn-ea"/>
                          <a:cs typeface="Calibri" panose="020F0502020204030204" pitchFamily="34" charset="0"/>
                        </a:rPr>
                        <a:t>makeCall</a:t>
                      </a:r>
                      <a:r>
                        <a:rPr lang="en-US" sz="1200" b="0" i="0" kern="1200" dirty="0">
                          <a:solidFill>
                            <a:schemeClr val="dk1"/>
                          </a:solidFill>
                          <a:effectLst/>
                          <a:latin typeface="Calibri" panose="020F0502020204030204" pitchFamily="34" charset="0"/>
                          <a:ea typeface="+mn-ea"/>
                          <a:cs typeface="Calibri" panose="020F0502020204030204" pitchFamily="34" charset="0"/>
                        </a:rPr>
                        <a:t> + </a:t>
                      </a:r>
                      <a:r>
                        <a:rPr lang="en-US" sz="1200" b="0" i="0" kern="1200" dirty="0" err="1">
                          <a:solidFill>
                            <a:schemeClr val="dk1"/>
                          </a:solidFill>
                          <a:effectLst/>
                          <a:latin typeface="Calibri" panose="020F0502020204030204" pitchFamily="34" charset="0"/>
                          <a:ea typeface="+mn-ea"/>
                          <a:cs typeface="Calibri" panose="020F0502020204030204" pitchFamily="34" charset="0"/>
                        </a:rPr>
                        <a:t>ProjectStructureViewer.show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4405694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00B3F-DF0A-AE42-E171-C5583FB0ED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CED1F99-71FA-75DF-ADDB-EE041903404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(manager)</a:t>
            </a:r>
          </a:p>
        </p:txBody>
      </p:sp>
      <p:graphicFrame>
        <p:nvGraphicFramePr>
          <p:cNvPr id="2" name="Table 1">
            <a:extLst>
              <a:ext uri="{FF2B5EF4-FFF2-40B4-BE49-F238E27FC236}">
                <a16:creationId xmlns:a16="http://schemas.microsoft.com/office/drawing/2014/main" id="{27DB0BD1-1AA6-1DED-6A52-B10E3655ADE3}"/>
              </a:ext>
            </a:extLst>
          </p:cNvPr>
          <p:cNvGraphicFramePr>
            <a:graphicFrameLocks noGrp="1"/>
          </p:cNvGraphicFramePr>
          <p:nvPr>
            <p:extLst>
              <p:ext uri="{D42A27DB-BD31-4B8C-83A1-F6EECF244321}">
                <p14:modId xmlns:p14="http://schemas.microsoft.com/office/powerpoint/2010/main" val="1979460359"/>
              </p:ext>
            </p:extLst>
          </p:nvPr>
        </p:nvGraphicFramePr>
        <p:xfrm>
          <a:off x="426632" y="1192603"/>
          <a:ext cx="11338736" cy="48805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2250050">
                  <a:extLst>
                    <a:ext uri="{9D8B030D-6E8A-4147-A177-3AD203B41FA5}">
                      <a16:colId xmlns:a16="http://schemas.microsoft.com/office/drawing/2014/main" val="3946285172"/>
                    </a:ext>
                  </a:extLst>
                </a:gridCol>
                <a:gridCol w="2758528">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e carica </a:t>
                      </a:r>
                      <a:r>
                        <a:rPr lang="en-US" sz="1200" dirty="0" err="1">
                          <a:effectLst/>
                          <a:latin typeface="Calibri" panose="020F0502020204030204" pitchFamily="34" charset="0"/>
                          <a:cs typeface="Calibri" panose="020F0502020204030204" pitchFamily="34" charset="0"/>
                        </a:rPr>
                        <a:t>sezioni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assegnabili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monitorabili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gestiti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Assignable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Popola form con task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disponibili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correnti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dettagli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task e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assegnabili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del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expectedHours</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cambio stato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ASSEGNATO</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Monitorable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mensile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Monitoring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conclusione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&gt;=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CONCLUSO</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Managed 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ore del collaboratore selezionato</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7085005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EBAF7-D4E9-4EC2-096C-DE1ECAFBABF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2312C22-0CC0-D413-3FFB-DF9086C272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manager)</a:t>
            </a:r>
          </a:p>
        </p:txBody>
      </p:sp>
      <p:graphicFrame>
        <p:nvGraphicFramePr>
          <p:cNvPr id="2" name="Table 1">
            <a:extLst>
              <a:ext uri="{FF2B5EF4-FFF2-40B4-BE49-F238E27FC236}">
                <a16:creationId xmlns:a16="http://schemas.microsoft.com/office/drawing/2014/main" id="{01F6700C-976B-6C6E-E90D-1BDA7B5E0FC3}"/>
              </a:ext>
            </a:extLst>
          </p:cNvPr>
          <p:cNvGraphicFramePr>
            <a:graphicFrameLocks noGrp="1"/>
          </p:cNvGraphicFramePr>
          <p:nvPr>
            <p:extLst>
              <p:ext uri="{D42A27DB-BD31-4B8C-83A1-F6EECF244321}">
                <p14:modId xmlns:p14="http://schemas.microsoft.com/office/powerpoint/2010/main" val="921204315"/>
              </p:ext>
            </p:extLst>
          </p:nvPr>
        </p:nvGraphicFramePr>
        <p:xfrm>
          <a:off x="426632" y="1192603"/>
          <a:ext cx="11338736" cy="50634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GetAssignableTasks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GetMonitorableProjects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GetManagedCollaborators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Assignable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TaskAssignmentForm.show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GetTaskAssignmentDetails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GetTechnicalUsersExceptManager</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collaboratorIds[], expectedHours[])</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SaveTaskAssignment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AssignProject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Monitorable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ProjectMonitoringReport.show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GetProjectMonitoring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Monitoring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ConcludeProject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Managed 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CollaboratorMonitoringReport.show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36980631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75FC9-3DC7-6F01-AF7D-D76F1AFF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DBD4E7-A6BD-3E94-64DA-24E22E9EE7C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(collaborator)</a:t>
            </a:r>
          </a:p>
        </p:txBody>
      </p:sp>
      <p:graphicFrame>
        <p:nvGraphicFramePr>
          <p:cNvPr id="2" name="Table 1">
            <a:extLst>
              <a:ext uri="{FF2B5EF4-FFF2-40B4-BE49-F238E27FC236}">
                <a16:creationId xmlns:a16="http://schemas.microsoft.com/office/drawing/2014/main" id="{F05564B9-40EC-39FA-7292-3AE65DAB253A}"/>
              </a:ext>
            </a:extLst>
          </p:cNvPr>
          <p:cNvGraphicFramePr>
            <a:graphicFrameLocks noGrp="1"/>
          </p:cNvGraphicFramePr>
          <p:nvPr>
            <p:extLst>
              <p:ext uri="{D42A27DB-BD31-4B8C-83A1-F6EECF244321}">
                <p14:modId xmlns:p14="http://schemas.microsoft.com/office/powerpoint/2010/main" val="3510755927"/>
              </p:ext>
            </p:extLst>
          </p:nvPr>
        </p:nvGraphicFramePr>
        <p:xfrm>
          <a:off x="426632" y="1192603"/>
          <a:ext cx="11338736" cy="24726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timesheet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WP, task, </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al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timesheet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usando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inserito</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salvataggio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automatico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cella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modificata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month, workedHours)</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a:t>
                      </a:r>
                      <a:r>
                        <a:rPr lang="en-US" sz="1200" dirty="0">
                          <a:effectLst/>
                          <a:latin typeface="Calibri" panose="020F0502020204030204" pitchFamily="34" charset="0"/>
                          <a:cs typeface="Calibri" panose="020F0502020204030204" pitchFamily="34" charset="0"/>
                        </a:rPr>
                        <a:t> database e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errori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42587668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D88-B0C2-1EB0-2D91-1EF34386593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98401AB-5946-1673-5DD6-10527306CB2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collaborator)</a:t>
            </a:r>
          </a:p>
        </p:txBody>
      </p:sp>
      <p:graphicFrame>
        <p:nvGraphicFramePr>
          <p:cNvPr id="2" name="Table 1">
            <a:extLst>
              <a:ext uri="{FF2B5EF4-FFF2-40B4-BE49-F238E27FC236}">
                <a16:creationId xmlns:a16="http://schemas.microsoft.com/office/drawing/2014/main" id="{3CBB7F7D-85EB-BC99-3BB2-2966087038EA}"/>
              </a:ext>
            </a:extLst>
          </p:cNvPr>
          <p:cNvGraphicFramePr>
            <a:graphicFrameLocks noGrp="1"/>
          </p:cNvGraphicFramePr>
          <p:nvPr>
            <p:extLst>
              <p:ext uri="{D42A27DB-BD31-4B8C-83A1-F6EECF244321}">
                <p14:modId xmlns:p14="http://schemas.microsoft.com/office/powerpoint/2010/main" val="1951696206"/>
              </p:ext>
            </p:extLst>
          </p:nvPr>
        </p:nvGraphicFramePr>
        <p:xfrm>
          <a:off x="426632" y="1192603"/>
          <a:ext cx="11338736" cy="22897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GetCollaboratorTimesheet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CollaboratorTimesheet.show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month, workedHours)</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UpdateCollaboratorWorkedHours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9328725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2515</TotalTime>
  <Words>5321</Words>
  <Application>Microsoft Macintosh PowerPoint</Application>
  <PresentationFormat>Widescreen</PresentationFormat>
  <Paragraphs>783</Paragraphs>
  <Slides>49</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120</cp:revision>
  <dcterms:created xsi:type="dcterms:W3CDTF">2026-05-27T11:53:25Z</dcterms:created>
  <dcterms:modified xsi:type="dcterms:W3CDTF">2026-06-12T14:37:17Z</dcterms:modified>
</cp:coreProperties>
</file>