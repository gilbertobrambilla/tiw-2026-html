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8" r:id="rId3"/>
    <p:sldId id="259" r:id="rId4"/>
    <p:sldId id="261" r:id="rId5"/>
    <p:sldId id="262" r:id="rId6"/>
    <p:sldId id="263" r:id="rId7"/>
    <p:sldId id="266" r:id="rId8"/>
    <p:sldId id="264" r:id="rId9"/>
    <p:sldId id="267" r:id="rId10"/>
    <p:sldId id="268" r:id="rId11"/>
    <p:sldId id="269" r:id="rId12"/>
    <p:sldId id="270" r:id="rId13"/>
    <p:sldId id="265" r:id="rId14"/>
    <p:sldId id="274" r:id="rId15"/>
    <p:sldId id="279" r:id="rId16"/>
    <p:sldId id="278" r:id="rId17"/>
    <p:sldId id="280" r:id="rId18"/>
    <p:sldId id="272" r:id="rId19"/>
    <p:sldId id="276" r:id="rId20"/>
    <p:sldId id="273" r:id="rId21"/>
    <p:sldId id="281" r:id="rId22"/>
    <p:sldId id="282" r:id="rId23"/>
    <p:sldId id="283" r:id="rId24"/>
    <p:sldId id="285" r:id="rId25"/>
    <p:sldId id="286" r:id="rId26"/>
    <p:sldId id="287" r:id="rId27"/>
    <p:sldId id="288" r:id="rId28"/>
    <p:sldId id="289" r:id="rId29"/>
    <p:sldId id="295" r:id="rId30"/>
    <p:sldId id="296" r:id="rId31"/>
    <p:sldId id="297" r:id="rId32"/>
    <p:sldId id="298" r:id="rId33"/>
    <p:sldId id="293" r:id="rId34"/>
    <p:sldId id="29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B4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45"/>
    <p:restoredTop sz="94649"/>
  </p:normalViewPr>
  <p:slideViewPr>
    <p:cSldViewPr snapToGrid="0">
      <p:cViewPr varScale="1">
        <p:scale>
          <a:sx n="182" d="100"/>
          <a:sy n="182"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791FF-88AA-374E-A911-A9C22C6037B7}"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2EEB5-FD20-934D-84BD-F405B85148F3}" type="slidenum">
              <a:rPr lang="en-US" smtClean="0"/>
              <a:t>‹#›</a:t>
            </a:fld>
            <a:endParaRPr lang="en-US"/>
          </a:p>
        </p:txBody>
      </p:sp>
    </p:spTree>
    <p:extLst>
      <p:ext uri="{BB962C8B-B14F-4D97-AF65-F5344CB8AC3E}">
        <p14:creationId xmlns:p14="http://schemas.microsoft.com/office/powerpoint/2010/main" val="1591823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4</a:t>
            </a:fld>
            <a:endParaRPr lang="en-US"/>
          </a:p>
        </p:txBody>
      </p:sp>
    </p:spTree>
    <p:extLst>
      <p:ext uri="{BB962C8B-B14F-4D97-AF65-F5344CB8AC3E}">
        <p14:creationId xmlns:p14="http://schemas.microsoft.com/office/powerpoint/2010/main" val="1779725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10</a:t>
            </a:fld>
            <a:endParaRPr lang="en-US"/>
          </a:p>
        </p:txBody>
      </p:sp>
    </p:spTree>
    <p:extLst>
      <p:ext uri="{BB962C8B-B14F-4D97-AF65-F5344CB8AC3E}">
        <p14:creationId xmlns:p14="http://schemas.microsoft.com/office/powerpoint/2010/main" val="3525882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E48E7-3E8F-ED5D-5203-F570C3D154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46BC3E-8A6A-F54C-C03E-D72522E9E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BAD75B-DBC4-E672-C3A3-B34A473E56C8}"/>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44DDB9E6-33A4-0EFD-AE47-3BA1AD037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093F1-A591-DDD3-EA28-80C8ADDED89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173523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7A6D-73DB-4F9A-C692-ECE09E1BAE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A7D480-2174-BCAF-5670-A72863F29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BBBFC4-A932-BB8F-484C-9363D3DB735E}"/>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0FB621AE-967C-AC57-5606-D9A8A77A3B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A196F-25D9-F551-33BE-9355D9EE5038}"/>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84769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08B9-E328-E068-96CF-3BAD8C532F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47835D-A7B8-A6F1-B892-BA23318D24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E32F3A-F688-07D1-CFD4-9E041FFA5E3A}"/>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63B7B567-4F2D-4530-8687-F2C4EABAB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D35EC-C3EA-1B91-7591-0B4928FB5290}"/>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45330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5951F-23A8-4304-4919-50FF8C203B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378F7-B03F-E89C-84BF-94F80D2DCB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B377CA-4E52-4E6C-4680-61D5462BA2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B9EAF2-199A-E717-EF44-C9FDF52C0B39}"/>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6" name="Footer Placeholder 5">
            <a:extLst>
              <a:ext uri="{FF2B5EF4-FFF2-40B4-BE49-F238E27FC236}">
                <a16:creationId xmlns:a16="http://schemas.microsoft.com/office/drawing/2014/main" id="{0CBAD804-2A15-C536-6E64-A875BF5FA6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6B0684-B79D-B21F-BF38-84CF9E488FA9}"/>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8660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702BA-CF62-A3A1-2D63-5E5DF7D28D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263386-894C-EFB2-628E-878BA5859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1B53DA-A099-47B9-B7A0-8E076D5D61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C162CC-D761-A0E9-FCFC-9B8D0A6B3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3D44D0-A06A-961C-6393-0340E803E0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FDB9D1-0AE5-E242-D27A-76592F63CEEF}"/>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8" name="Footer Placeholder 7">
            <a:extLst>
              <a:ext uri="{FF2B5EF4-FFF2-40B4-BE49-F238E27FC236}">
                <a16:creationId xmlns:a16="http://schemas.microsoft.com/office/drawing/2014/main" id="{FF0D7FD5-9E44-CA2B-885F-7A2AA1F216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5F2DCF-06C6-EA10-3C4C-CCBB32CBC30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573151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511B-7537-D5A1-0F85-91F7D11C84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6083CB-7886-0F20-F505-D61C1E0B5DBD}"/>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4" name="Footer Placeholder 3">
            <a:extLst>
              <a:ext uri="{FF2B5EF4-FFF2-40B4-BE49-F238E27FC236}">
                <a16:creationId xmlns:a16="http://schemas.microsoft.com/office/drawing/2014/main" id="{3AF63CEB-0FAF-9399-B562-6C0891ADBC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76275A-8BA2-D16F-C03F-1176ABBF4535}"/>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715956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E9897-20C9-E8E0-102A-31462096648F}"/>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3" name="Footer Placeholder 2">
            <a:extLst>
              <a:ext uri="{FF2B5EF4-FFF2-40B4-BE49-F238E27FC236}">
                <a16:creationId xmlns:a16="http://schemas.microsoft.com/office/drawing/2014/main" id="{6D9396F5-4143-3264-119F-478CB3692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520F45-1930-2673-9C4F-2F5C8E412DB5}"/>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582610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597B0-1CC4-BFB1-9BE5-C295814D5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9ADB5B-5A78-A84D-136F-94F1F9BA1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2D88E1-41D4-2645-F303-ABDC76A63A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7CBFC-D15A-7D91-9CF7-B75BFB8A3B77}"/>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6" name="Footer Placeholder 5">
            <a:extLst>
              <a:ext uri="{FF2B5EF4-FFF2-40B4-BE49-F238E27FC236}">
                <a16:creationId xmlns:a16="http://schemas.microsoft.com/office/drawing/2014/main" id="{1B4ED16D-E248-A311-94DE-0F267DDE88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62423-C3DE-6EE8-62CB-CC73BEAC8C8C}"/>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92017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2E68-3049-E1D7-CA9E-8A1C7AAF4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4A90F9-700E-4A60-9C7E-861F1AD21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3E2CE2-E4AB-E88C-9041-693F6603A7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4C7A59-C317-1A82-02FA-D03C28EC116B}"/>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6" name="Footer Placeholder 5">
            <a:extLst>
              <a:ext uri="{FF2B5EF4-FFF2-40B4-BE49-F238E27FC236}">
                <a16:creationId xmlns:a16="http://schemas.microsoft.com/office/drawing/2014/main" id="{B0BC503F-9EEF-F75D-AB42-ADD6809605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078BB-F533-92AC-3632-33869131929D}"/>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092693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A868-341C-4217-E954-70944DE0D8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5A1E12-822A-40C2-F6FA-DB34E5F6CB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DC236-972E-312D-91E3-3B219E9E21C7}"/>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2A5E3647-E28B-06D9-47A8-D247E0007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6C465-D723-EDDD-DA54-2B2E5BEADA99}"/>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426146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A9789-CF2D-74B0-BFD2-6C6B615CCC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B6F348-EDE0-CECD-EA49-48C0E6B520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655B5-421C-31A5-0638-D9CFB5CA9156}"/>
              </a:ext>
            </a:extLst>
          </p:cNvPr>
          <p:cNvSpPr>
            <a:spLocks noGrp="1"/>
          </p:cNvSpPr>
          <p:nvPr>
            <p:ph type="dt" sz="half" idx="10"/>
          </p:nvPr>
        </p:nvSpPr>
        <p:spPr/>
        <p:txBody>
          <a:body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967F57F1-36DD-A581-59CF-950A0A20A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75FD0-F034-B6DE-16B0-A10E753F432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139312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20C7F-C03D-731A-F5C0-914F8170D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639B03-3C4D-A4EC-9BF6-BE02BF28D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79ECF-CCFE-3384-FA7C-3C193C8B5A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F5441D-2CFB-4147-AC5B-B111CEE26CCA}" type="datetimeFigureOut">
              <a:rPr lang="en-US" smtClean="0"/>
              <a:t>6/1/26</a:t>
            </a:fld>
            <a:endParaRPr lang="en-US"/>
          </a:p>
        </p:txBody>
      </p:sp>
      <p:sp>
        <p:nvSpPr>
          <p:cNvPr id="5" name="Footer Placeholder 4">
            <a:extLst>
              <a:ext uri="{FF2B5EF4-FFF2-40B4-BE49-F238E27FC236}">
                <a16:creationId xmlns:a16="http://schemas.microsoft.com/office/drawing/2014/main" id="{48AF5D57-065C-D825-D852-4CF9B3CC2C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46188B-398E-1B68-7FD7-3BDAD8E80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B59CEC-D871-FA49-A776-50164D56AAFC}" type="slidenum">
              <a:rPr lang="en-US" smtClean="0"/>
              <a:t>‹#›</a:t>
            </a:fld>
            <a:endParaRPr lang="en-US"/>
          </a:p>
        </p:txBody>
      </p:sp>
    </p:spTree>
    <p:extLst>
      <p:ext uri="{BB962C8B-B14F-4D97-AF65-F5344CB8AC3E}">
        <p14:creationId xmlns:p14="http://schemas.microsoft.com/office/powerpoint/2010/main" val="514749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4632-BDF1-1F43-95AF-17627B5D28DC}"/>
              </a:ext>
            </a:extLst>
          </p:cNvPr>
          <p:cNvSpPr>
            <a:spLocks noGrp="1"/>
          </p:cNvSpPr>
          <p:nvPr>
            <p:ph type="ctrTitle"/>
          </p:nvPr>
        </p:nvSpPr>
        <p:spPr/>
        <p:txBody>
          <a:bodyPr>
            <a:normAutofit/>
          </a:bodyPr>
          <a:lstStyle/>
          <a:p>
            <a:r>
              <a:rPr lang="en-US" noProof="1"/>
              <a:t>Gestione e rendicontazione progetti</a:t>
            </a:r>
          </a:p>
        </p:txBody>
      </p:sp>
      <p:sp>
        <p:nvSpPr>
          <p:cNvPr id="3" name="Subtitle 2">
            <a:extLst>
              <a:ext uri="{FF2B5EF4-FFF2-40B4-BE49-F238E27FC236}">
                <a16:creationId xmlns:a16="http://schemas.microsoft.com/office/drawing/2014/main" id="{C3F19A57-CBD2-A0A0-5F18-2AC41C3272FA}"/>
              </a:ext>
            </a:extLst>
          </p:cNvPr>
          <p:cNvSpPr>
            <a:spLocks noGrp="1"/>
          </p:cNvSpPr>
          <p:nvPr>
            <p:ph type="subTitle" idx="1"/>
          </p:nvPr>
        </p:nvSpPr>
        <p:spPr/>
        <p:txBody>
          <a:bodyPr/>
          <a:lstStyle/>
          <a:p>
            <a:endParaRPr lang="en-US" noProof="1"/>
          </a:p>
        </p:txBody>
      </p:sp>
    </p:spTree>
    <p:extLst>
      <p:ext uri="{BB962C8B-B14F-4D97-AF65-F5344CB8AC3E}">
        <p14:creationId xmlns:p14="http://schemas.microsoft.com/office/powerpoint/2010/main" val="60211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5;p26">
            <a:extLst>
              <a:ext uri="{FF2B5EF4-FFF2-40B4-BE49-F238E27FC236}">
                <a16:creationId xmlns:a16="http://schemas.microsoft.com/office/drawing/2014/main" id="{2EC41873-4B86-11A7-4E93-F6E7D626ADD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dati</a:t>
            </a:r>
          </a:p>
        </p:txBody>
      </p:sp>
      <p:sp>
        <p:nvSpPr>
          <p:cNvPr id="5" name="Google Shape;136;p26">
            <a:extLst>
              <a:ext uri="{FF2B5EF4-FFF2-40B4-BE49-F238E27FC236}">
                <a16:creationId xmlns:a16="http://schemas.microsoft.com/office/drawing/2014/main" id="{7846C7A1-31BC-8EBC-5657-61DD2669B3F1}"/>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Un’applicazione web consente la rendicontazione delle ore lavorate nei progetti.</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a:t>
            </a:r>
            <a:r>
              <a:rPr kumimoji="0" lang="en-US" sz="1500" b="0" i="0" u="none" strike="noStrike" kern="0" cap="none" spc="0" normalizeH="0" baseline="0" noProof="1">
                <a:ln>
                  <a:noFill/>
                </a:ln>
                <a:solidFill>
                  <a:srgbClr val="FF0000"/>
                </a:solidFill>
                <a:effectLst/>
                <a:uLnTx/>
                <a:uFillTx/>
                <a:latin typeface="Calibri"/>
                <a:cs typeface="Calibri"/>
                <a:sym typeface="Calibri"/>
              </a:rPr>
              <a:t>progetto</a:t>
            </a:r>
            <a:r>
              <a:rPr kumimoji="0" lang="en-US" sz="1500" b="0" i="0" u="none" strike="noStrike" kern="0" cap="none" spc="0" normalizeH="0" baseline="0" noProof="1">
                <a:ln>
                  <a:noFill/>
                </a:ln>
                <a:solidFill>
                  <a:srgbClr val="000000"/>
                </a:solidFill>
                <a:effectLst/>
                <a:uLnTx/>
                <a:uFillTx/>
                <a:latin typeface="Calibri"/>
                <a:cs typeface="Calibri"/>
                <a:sym typeface="Calibri"/>
              </a:rPr>
              <a:t> ha </a:t>
            </a:r>
            <a:r>
              <a:rPr kumimoji="0" lang="en-US" sz="1500" b="0" i="0" u="none" strike="noStrike" kern="0" cap="none" spc="0" normalizeH="0" baseline="0" noProof="1">
                <a:ln>
                  <a:noFill/>
                </a:ln>
                <a:solidFill>
                  <a:srgbClr val="00B050"/>
                </a:solidFill>
                <a:effectLst/>
                <a:uLnTx/>
                <a:uFillTx/>
                <a:latin typeface="Calibri"/>
                <a:cs typeface="Calibri"/>
                <a:sym typeface="Calibri"/>
              </a:rPr>
              <a:t>un titolo e una durata di N mesi</a:t>
            </a:r>
            <a:r>
              <a:rPr kumimoji="0" lang="en-US" sz="1500" b="0" i="0" u="none" strike="noStrike" kern="0" cap="none" spc="0" normalizeH="0" baseline="0" noProof="1">
                <a:ln>
                  <a:noFill/>
                </a:ln>
                <a:solidFill>
                  <a:srgbClr val="000000"/>
                </a:solidFill>
                <a:effectLst/>
                <a:uLnTx/>
                <a:uFillTx/>
                <a:latin typeface="Calibri"/>
                <a:cs typeface="Calibri"/>
                <a:sym typeface="Calibri"/>
              </a:rPr>
              <a:t> (ad esempio, 24 o 36 mesi, non necessariamente multipli di 12, senza un numero minimo). I mesi del progetto sono indicizzati relativamente come M1, M2, ..., MN (definiti per ogni progetto). </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progetto </a:t>
            </a:r>
            <a:r>
              <a:rPr kumimoji="0" lang="en-US" sz="1500" b="0" i="0" u="none" strike="noStrike" kern="0" cap="none" spc="0" normalizeH="0" baseline="0" noProof="1">
                <a:ln>
                  <a:noFill/>
                </a:ln>
                <a:solidFill>
                  <a:srgbClr val="00B0F0"/>
                </a:solidFill>
                <a:effectLst/>
                <a:uLnTx/>
                <a:uFillTx/>
                <a:latin typeface="Calibri"/>
                <a:cs typeface="Calibri"/>
                <a:sym typeface="Calibri"/>
              </a:rPr>
              <a:t>è diviso </a:t>
            </a:r>
            <a:r>
              <a:rPr kumimoji="0" lang="en-US" sz="1500" b="0" i="0" u="none" strike="noStrike" kern="0" cap="none" spc="0" normalizeH="0" baseline="0" noProof="1">
                <a:ln>
                  <a:noFill/>
                </a:ln>
                <a:solidFill>
                  <a:srgbClr val="000000"/>
                </a:solidFill>
                <a:effectLst/>
                <a:uLnTx/>
                <a:uFillTx/>
                <a:latin typeface="Calibri"/>
                <a:cs typeface="Calibri"/>
                <a:sym typeface="Calibri"/>
              </a:rPr>
              <a:t>in </a:t>
            </a:r>
            <a:r>
              <a:rPr lang="en-US" sz="1500" kern="0" noProof="1">
                <a:solidFill>
                  <a:srgbClr val="FF0000"/>
                </a:solidFill>
              </a:rPr>
              <a:t>work package (WP)</a:t>
            </a:r>
            <a:r>
              <a:rPr lang="en-US" sz="1500" kern="0" noProof="1">
                <a:solidFill>
                  <a:srgbClr val="000000"/>
                </a:solidFill>
              </a:rPr>
              <a:t>. Ogni  </a:t>
            </a:r>
            <a:r>
              <a:rPr kumimoji="0" lang="en-US" sz="1500" b="0" i="0" u="none" strike="noStrike" kern="0" cap="none" spc="0" normalizeH="0" baseline="0" noProof="1">
                <a:ln>
                  <a:noFill/>
                </a:ln>
                <a:solidFill>
                  <a:srgbClr val="000000"/>
                </a:solidFill>
                <a:effectLst/>
                <a:uLnTx/>
                <a:uFillTx/>
                <a:latin typeface="Calibri"/>
                <a:cs typeface="Calibri"/>
                <a:sym typeface="Calibri"/>
              </a:rPr>
              <a:t>WP ha </a:t>
            </a:r>
            <a:r>
              <a:rPr lang="en-US" sz="1500" kern="0" noProof="1">
                <a:solidFill>
                  <a:srgbClr val="00B050"/>
                </a:solidFill>
              </a:rPr>
              <a:t>un numero d'ordine (ad esempio WP1, WP2), un titolo, un mese di inizio e di fine </a:t>
            </a:r>
            <a:r>
              <a:rPr kumimoji="0" lang="en-US" sz="1500" b="0" i="0" u="none" strike="noStrike" kern="0" cap="none" spc="0" normalizeH="0" baseline="0" noProof="1">
                <a:ln>
                  <a:noFill/>
                </a:ln>
                <a:solidFill>
                  <a:srgbClr val="000000"/>
                </a:solidFill>
                <a:effectLst/>
                <a:uLnTx/>
                <a:uFillTx/>
                <a:latin typeface="Calibri"/>
                <a:cs typeface="Calibri"/>
                <a:sym typeface="Calibri"/>
              </a:rPr>
              <a:t>ed </a:t>
            </a:r>
            <a:r>
              <a:rPr lang="en-US" sz="1500" kern="0" noProof="1">
                <a:solidFill>
                  <a:srgbClr val="00B0F0"/>
                </a:solidFill>
              </a:rPr>
              <a:t>è diviso</a:t>
            </a:r>
            <a:r>
              <a:rPr kumimoji="0" lang="en-US" sz="1500" b="0" i="0" u="none" strike="noStrike" kern="0" cap="none" spc="0" normalizeH="0" baseline="0" noProof="1">
                <a:ln>
                  <a:noFill/>
                </a:ln>
                <a:solidFill>
                  <a:srgbClr val="000000"/>
                </a:solidFill>
                <a:effectLst/>
                <a:uLnTx/>
                <a:uFillTx/>
                <a:latin typeface="Calibri"/>
                <a:cs typeface="Calibri"/>
                <a:sym typeface="Calibri"/>
              </a:rPr>
              <a:t> in più task.  Ogni </a:t>
            </a:r>
            <a:r>
              <a:rPr lang="en-US" sz="1500" kern="0" noProof="1">
                <a:solidFill>
                  <a:srgbClr val="FF0000"/>
                </a:solidFill>
              </a:rPr>
              <a:t>task</a:t>
            </a:r>
            <a:r>
              <a:rPr kumimoji="0" lang="en-US" sz="1500" b="0" i="0" u="none" strike="noStrike" kern="0" cap="none" spc="0" normalizeH="0" baseline="0" noProof="1">
                <a:ln>
                  <a:noFill/>
                </a:ln>
                <a:solidFill>
                  <a:srgbClr val="000000"/>
                </a:solidFill>
                <a:effectLst/>
                <a:uLnTx/>
                <a:uFillTx/>
                <a:latin typeface="Calibri"/>
                <a:cs typeface="Calibri"/>
                <a:sym typeface="Calibri"/>
              </a:rPr>
              <a:t> ha </a:t>
            </a:r>
            <a:r>
              <a:rPr lang="en-US" sz="1500" kern="0" noProof="1">
                <a:solidFill>
                  <a:srgbClr val="00B050"/>
                </a:solidFill>
              </a:rPr>
              <a:t>un numero d‘ordine relativo al WP (ad esempio T1.1, T1.2, T2.1, T2.2), un titolo, una descrizione, un mese di inizio e un mese di fine</a:t>
            </a:r>
            <a:r>
              <a:rPr lang="en-US" sz="1500" kern="0" noProof="1">
                <a:solidFill>
                  <a:srgbClr val="000000"/>
                </a:solidFill>
              </a:rPr>
              <a:t> </a:t>
            </a:r>
            <a:r>
              <a:rPr kumimoji="0" lang="en-US" sz="1500" b="0" i="0" u="none" strike="noStrike" kern="0" cap="none" spc="0" normalizeH="0" baseline="0" noProof="1">
                <a:ln>
                  <a:noFill/>
                </a:ln>
                <a:solidFill>
                  <a:srgbClr val="000000"/>
                </a:solidFill>
                <a:effectLst/>
                <a:uLnTx/>
                <a:uFillTx/>
                <a:latin typeface="Calibri"/>
                <a:cs typeface="Calibri"/>
                <a:sym typeface="Calibri"/>
              </a:rPr>
              <a:t>che devono essere all’interno dell’intervallo in cui il rispettivo WP è attivo (ad esempio, da 4 a 18).</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Ogni progetto </a:t>
            </a:r>
            <a:r>
              <a:rPr lang="en-US" sz="1500" kern="0" noProof="1">
                <a:solidFill>
                  <a:srgbClr val="00B0F0"/>
                </a:solidFill>
              </a:rPr>
              <a:t>ha un unico</a:t>
            </a:r>
            <a:r>
              <a:rPr kumimoji="0" lang="en-US" sz="1500" b="0" i="0" u="none" strike="noStrike" kern="0" cap="none" spc="0" normalizeH="0" baseline="0" noProof="1">
                <a:ln>
                  <a:noFill/>
                </a:ln>
                <a:solidFill>
                  <a:srgbClr val="000000"/>
                </a:solidFill>
                <a:effectLst/>
                <a:uLnTx/>
                <a:uFillTx/>
                <a:latin typeface="Calibri"/>
                <a:cs typeface="Calibri"/>
                <a:sym typeface="Calibri"/>
              </a:rPr>
              <a:t> </a:t>
            </a:r>
            <a:r>
              <a:rPr lang="en-US" sz="1500" kern="0" noProof="1">
                <a:solidFill>
                  <a:schemeClr val="tx1"/>
                </a:solidFill>
              </a:rPr>
              <a:t>responsabile</a:t>
            </a:r>
            <a:r>
              <a:rPr kumimoji="0" lang="en-US" sz="1500" b="0" i="0" u="none" strike="noStrike" kern="0" cap="none" spc="0" normalizeH="0" baseline="0" noProof="1">
                <a:ln>
                  <a:noFill/>
                </a:ln>
                <a:solidFill>
                  <a:srgbClr val="000000"/>
                </a:solidFill>
                <a:effectLst/>
                <a:uLnTx/>
                <a:uFillTx/>
                <a:latin typeface="Calibri"/>
                <a:cs typeface="Calibri"/>
                <a:sym typeface="Calibri"/>
              </a:rPr>
              <a:t> e </a:t>
            </a:r>
            <a:r>
              <a:rPr lang="en-US" sz="1500" kern="0" noProof="1">
                <a:solidFill>
                  <a:srgbClr val="00B0F0"/>
                </a:solidFill>
              </a:rPr>
              <a:t>può avere uno o più</a:t>
            </a:r>
            <a:r>
              <a:rPr kumimoji="0" lang="en-US" sz="1500" b="0" i="0" u="none" strike="noStrike" kern="0" cap="none" spc="0" normalizeH="0" baseline="0" noProof="1">
                <a:ln>
                  <a:noFill/>
                </a:ln>
                <a:solidFill>
                  <a:srgbClr val="000000"/>
                </a:solidFill>
                <a:effectLst/>
                <a:uLnTx/>
                <a:uFillTx/>
                <a:latin typeface="Calibri"/>
                <a:cs typeface="Calibri"/>
                <a:sym typeface="Calibri"/>
              </a:rPr>
              <a:t> collaboratori. </a:t>
            </a:r>
            <a:r>
              <a:rPr kumimoji="0" lang="en-US" sz="1500" b="0" i="0" u="none" strike="noStrike" kern="0" cap="none" spc="0" normalizeH="0" baseline="0" noProof="1">
                <a:ln>
                  <a:noFill/>
                </a:ln>
                <a:solidFill>
                  <a:srgbClr val="FF0000"/>
                </a:solidFill>
                <a:effectLst/>
                <a:uLnTx/>
                <a:uFillTx/>
                <a:latin typeface="Calibri"/>
                <a:cs typeface="Calibri"/>
                <a:sym typeface="Calibri"/>
              </a:rPr>
              <a:t>Responsabile e collaboratori</a:t>
            </a:r>
            <a:r>
              <a:rPr kumimoji="0" lang="en-US" sz="1500" b="0" i="0" u="none" strike="noStrike" kern="0" cap="none" spc="0" normalizeH="0" baseline="0" noProof="1">
                <a:ln>
                  <a:noFill/>
                </a:ln>
                <a:solidFill>
                  <a:srgbClr val="000000"/>
                </a:solidFill>
                <a:effectLst/>
                <a:uLnTx/>
                <a:uFillTx/>
                <a:latin typeface="Calibri"/>
                <a:cs typeface="Calibri"/>
                <a:sym typeface="Calibri"/>
              </a:rPr>
              <a:t> hanno i seguenti attributi: </a:t>
            </a:r>
            <a:r>
              <a:rPr kumimoji="0" lang="en-US" sz="1500" b="0" i="0" u="none" strike="noStrike" kern="0" cap="none" spc="0" normalizeH="0" baseline="0" noProof="1">
                <a:ln>
                  <a:noFill/>
                </a:ln>
                <a:solidFill>
                  <a:srgbClr val="00B050"/>
                </a:solidFill>
                <a:effectLst/>
                <a:uLnTx/>
                <a:uFillTx/>
                <a:latin typeface="Calibri"/>
                <a:cs typeface="Calibri"/>
                <a:sym typeface="Calibri"/>
              </a:rPr>
              <a:t>nome utente, nome, cognome, password di login e fotografia</a:t>
            </a:r>
            <a:r>
              <a:rPr kumimoji="0" lang="en-US" sz="1500" b="0" i="0" u="none" strike="noStrike" kern="0" cap="none" spc="0" normalizeH="0" baseline="0" noProof="1">
                <a:ln>
                  <a:noFill/>
                </a:ln>
                <a:solidFill>
                  <a:srgbClr val="000000"/>
                </a:solidFill>
                <a:effectLst/>
                <a:uLnTx/>
                <a:uFillTx/>
                <a:latin typeface="Calibri"/>
                <a:cs typeface="Calibri"/>
                <a:sym typeface="Calibri"/>
              </a:rPr>
              <a:t>.</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Ad ogni task </a:t>
            </a:r>
            <a:r>
              <a:rPr lang="en-US" sz="1500" kern="0" noProof="1">
                <a:solidFill>
                  <a:srgbClr val="00B0F0"/>
                </a:solidFill>
              </a:rPr>
              <a:t>sono associati </a:t>
            </a:r>
            <a:r>
              <a:rPr kumimoji="0" lang="en-US" sz="1500" b="0" i="0" u="none" strike="noStrike" kern="0" cap="none" spc="0" normalizeH="0" baseline="0" noProof="1">
                <a:ln>
                  <a:noFill/>
                </a:ln>
                <a:solidFill>
                  <a:srgbClr val="000000"/>
                </a:solidFill>
                <a:effectLst/>
                <a:uLnTx/>
                <a:uFillTx/>
                <a:latin typeface="Calibri"/>
                <a:cs typeface="Calibri"/>
                <a:sym typeface="Calibri"/>
              </a:rPr>
              <a:t>uno o più  collaboratori, che lavorano al task. Un collaboratore può svolgere diversi task, anche in WP differenti.</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Ogni task </a:t>
            </a:r>
            <a:r>
              <a:rPr lang="en-US" sz="1500" kern="0" noProof="1">
                <a:solidFill>
                  <a:srgbClr val="00B0F0"/>
                </a:solidFill>
              </a:rPr>
              <a:t>è associato </a:t>
            </a:r>
            <a:r>
              <a:rPr kumimoji="0" lang="en-US" sz="1500" b="0" i="0" u="none" strike="noStrike" kern="0" cap="none" spc="0" normalizeH="0" baseline="0" noProof="1">
                <a:ln>
                  <a:noFill/>
                </a:ln>
                <a:solidFill>
                  <a:srgbClr val="000000"/>
                </a:solidFill>
                <a:effectLst/>
                <a:uLnTx/>
                <a:uFillTx/>
                <a:latin typeface="Calibri"/>
                <a:cs typeface="Calibri"/>
                <a:sym typeface="Calibri"/>
              </a:rPr>
              <a:t>a un </a:t>
            </a:r>
            <a:r>
              <a:rPr kumimoji="0" lang="en-US" sz="1500" b="0" i="0" u="none" strike="noStrike" kern="0" cap="none" spc="0" normalizeH="0" baseline="0" noProof="1">
                <a:ln>
                  <a:noFill/>
                </a:ln>
                <a:solidFill>
                  <a:srgbClr val="00B050"/>
                </a:solidFill>
                <a:effectLst/>
                <a:uLnTx/>
                <a:uFillTx/>
                <a:latin typeface="Calibri"/>
                <a:cs typeface="Calibri"/>
                <a:sym typeface="Calibri"/>
              </a:rPr>
              <a:t>numero di or</a:t>
            </a:r>
            <a:r>
              <a:rPr kumimoji="0" lang="en-US" sz="1500" b="0" i="0" u="none" strike="noStrike" kern="0" cap="none" spc="0" normalizeH="0" baseline="0" noProof="1">
                <a:ln>
                  <a:noFill/>
                </a:ln>
                <a:solidFill>
                  <a:srgbClr val="FF0000"/>
                </a:solidFill>
                <a:effectLst/>
                <a:uLnTx/>
                <a:uFillTx/>
                <a:latin typeface="Calibri"/>
                <a:cs typeface="Calibri"/>
                <a:sym typeface="Calibri"/>
              </a:rPr>
              <a:t>e di </a:t>
            </a:r>
            <a:r>
              <a:rPr lang="en-US" sz="1500" kern="0" noProof="1">
                <a:solidFill>
                  <a:srgbClr val="FF0000"/>
                </a:solidFill>
              </a:rPr>
              <a:t>lavoro previste </a:t>
            </a:r>
            <a:r>
              <a:rPr kumimoji="0" lang="en-US" sz="1500" b="0" i="0" u="none" strike="noStrike" kern="0" cap="none" spc="0" normalizeH="0" baseline="0" noProof="1">
                <a:ln>
                  <a:noFill/>
                </a:ln>
                <a:solidFill>
                  <a:srgbClr val="00B050"/>
                </a:solidFill>
                <a:effectLst/>
                <a:uLnTx/>
                <a:uFillTx/>
                <a:latin typeface="Calibri"/>
                <a:cs typeface="Calibri"/>
                <a:sym typeface="Calibri"/>
              </a:rPr>
              <a:t>mese per mese </a:t>
            </a:r>
            <a:r>
              <a:rPr kumimoji="0" lang="en-US" sz="1500" b="0" i="0" u="none" strike="noStrike" kern="0" cap="none" spc="0" normalizeH="0" baseline="0" noProof="1">
                <a:ln>
                  <a:noFill/>
                </a:ln>
                <a:solidFill>
                  <a:srgbClr val="000000"/>
                </a:solidFill>
                <a:effectLst/>
                <a:uLnTx/>
                <a:uFillTx/>
                <a:latin typeface="Calibri"/>
                <a:cs typeface="Calibri"/>
                <a:sym typeface="Calibri"/>
              </a:rPr>
              <a:t>e a un </a:t>
            </a:r>
            <a:r>
              <a:rPr kumimoji="0" lang="en-US" sz="1500" b="0" i="0" u="none" strike="noStrike" kern="0" cap="none" spc="0" normalizeH="0" baseline="0" noProof="1">
                <a:ln>
                  <a:noFill/>
                </a:ln>
                <a:solidFill>
                  <a:srgbClr val="00B050"/>
                </a:solidFill>
                <a:effectLst/>
                <a:uLnTx/>
                <a:uFillTx/>
                <a:latin typeface="Calibri"/>
                <a:cs typeface="Calibri"/>
                <a:sym typeface="Calibri"/>
              </a:rPr>
              <a:t>numero di or</a:t>
            </a:r>
            <a:r>
              <a:rPr kumimoji="0" lang="en-US" sz="1500" b="0" i="0" u="none" strike="noStrike" kern="0" cap="none" spc="0" normalizeH="0" baseline="0" noProof="1">
                <a:ln>
                  <a:noFill/>
                </a:ln>
                <a:solidFill>
                  <a:srgbClr val="FF0000"/>
                </a:solidFill>
                <a:effectLst/>
                <a:uLnTx/>
                <a:uFillTx/>
                <a:latin typeface="Calibri"/>
                <a:cs typeface="Calibri"/>
                <a:sym typeface="Calibri"/>
              </a:rPr>
              <a:t>e di </a:t>
            </a:r>
            <a:r>
              <a:rPr lang="en-US" sz="1500" kern="0" noProof="1">
                <a:solidFill>
                  <a:srgbClr val="FF0000"/>
                </a:solidFill>
              </a:rPr>
              <a:t>lavoro effettivamente impiegate </a:t>
            </a:r>
            <a:r>
              <a:rPr kumimoji="0" lang="en-US" sz="1500" b="0" i="0" u="none" strike="noStrike" kern="0" cap="none" spc="0" normalizeH="0" baseline="0" noProof="1">
                <a:ln>
                  <a:noFill/>
                </a:ln>
                <a:solidFill>
                  <a:srgbClr val="00B050"/>
                </a:solidFill>
                <a:effectLst/>
                <a:uLnTx/>
                <a:uFillTx/>
                <a:latin typeface="Calibri"/>
                <a:cs typeface="Calibri"/>
                <a:sym typeface="Calibri"/>
              </a:rPr>
              <a:t>mese per mese</a:t>
            </a:r>
            <a:r>
              <a:rPr kumimoji="0" lang="en-US" sz="1500" b="0" i="0" u="none" strike="noStrike" kern="0" cap="none" spc="0" normalizeH="0" baseline="0" noProof="1">
                <a:ln>
                  <a:noFill/>
                </a:ln>
                <a:solidFill>
                  <a:srgbClr val="000000"/>
                </a:solidFill>
                <a:effectLst/>
                <a:uLnTx/>
                <a:uFillTx/>
                <a:latin typeface="Calibri"/>
                <a:cs typeface="Calibri"/>
                <a:sym typeface="Calibri"/>
              </a:rPr>
              <a:t>. La somma delle ore di lavoro (previste, effettive) dei task definisce le ore di lavoro (previste, effettive) del corrispondente WP.</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progetto può essere in </a:t>
            </a:r>
            <a:r>
              <a:rPr kumimoji="0" lang="en-US" sz="1500" b="0" i="0" u="none" strike="noStrike" kern="0" cap="none" spc="0" normalizeH="0" baseline="0" noProof="1">
                <a:ln>
                  <a:noFill/>
                </a:ln>
                <a:solidFill>
                  <a:srgbClr val="00B050"/>
                </a:solidFill>
                <a:effectLst/>
                <a:uLnTx/>
                <a:uFillTx/>
                <a:latin typeface="Calibri"/>
                <a:cs typeface="Calibri"/>
                <a:sym typeface="Calibri"/>
              </a:rPr>
              <a:t>tre stati: CREATO, ASSEGNATO e CONCLUSO</a:t>
            </a:r>
            <a:r>
              <a:rPr kumimoji="0" lang="en-US" sz="1500" b="0" i="0" u="none" strike="noStrike" kern="0" cap="none" spc="0" normalizeH="0" baseline="0" noProof="1">
                <a:ln>
                  <a:noFill/>
                </a:ln>
                <a:solidFill>
                  <a:srgbClr val="000000"/>
                </a:solidFill>
                <a:effectLst/>
                <a:uLnTx/>
                <a:uFillTx/>
                <a:latin typeface="Calibri"/>
                <a:cs typeface="Calibri"/>
                <a:sym typeface="Calibri"/>
              </a:rPr>
              <a:t>. Creato significa che il progetto, il responsabile, i WP e task sono stati inseriti nella base di dati, ma l'assegnamento dei collaboratori e la rendicontazione delle ore di lavoro non sono ancora possibili. Assegnato significa che tutti i task hanno le ore previste e i collaboratori deputati all’esecuzione  e  i collaboratori possono inserire le ore lavorate nei task a loro assegnati. Concluso significa che il progetto è terminato e che non se ne possono più modificare i dati.</a:t>
            </a:r>
          </a:p>
          <a:p>
            <a:pPr marL="0" indent="0" algn="just">
              <a:lnSpc>
                <a:spcPct val="115000"/>
              </a:lnSpc>
              <a:spcBef>
                <a:spcPts val="0"/>
              </a:spcBef>
              <a:spcAft>
                <a:spcPts val="1173"/>
              </a:spcAft>
              <a:buClr>
                <a:srgbClr val="000000"/>
              </a:buClr>
              <a:buSzPts val="1100"/>
              <a:buNone/>
            </a:pPr>
            <a:r>
              <a:rPr lang="en-US" sz="1500" kern="0" noProof="1">
                <a:solidFill>
                  <a:srgbClr val="FF0000"/>
                </a:solidFill>
              </a:rPr>
              <a:t>Entities</a:t>
            </a:r>
            <a:r>
              <a:rPr lang="en-US" sz="1500" kern="0" noProof="1">
                <a:solidFill>
                  <a:srgbClr val="000000"/>
                </a:solidFill>
              </a:rPr>
              <a:t>, </a:t>
            </a:r>
            <a:r>
              <a:rPr lang="en-US" sz="1500" kern="0" noProof="1">
                <a:solidFill>
                  <a:srgbClr val="00B050"/>
                </a:solidFill>
              </a:rPr>
              <a:t>attributes</a:t>
            </a:r>
            <a:r>
              <a:rPr lang="en-US" sz="1500" kern="0" noProof="1">
                <a:solidFill>
                  <a:srgbClr val="000000"/>
                </a:solidFill>
              </a:rPr>
              <a:t>, </a:t>
            </a:r>
            <a:r>
              <a:rPr lang="en-US" sz="1500" kern="0" noProof="1">
                <a:solidFill>
                  <a:srgbClr val="00B0F0"/>
                </a:solidFill>
              </a:rPr>
              <a:t>relationships</a:t>
            </a:r>
          </a:p>
        </p:txBody>
      </p:sp>
    </p:spTree>
    <p:extLst>
      <p:ext uri="{BB962C8B-B14F-4D97-AF65-F5344CB8AC3E}">
        <p14:creationId xmlns:p14="http://schemas.microsoft.com/office/powerpoint/2010/main" val="2604530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6993-637B-FB92-380A-F85916EE410C}"/>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86902DEB-42A9-317D-784A-B10FAE3D2C04}"/>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dati</a:t>
            </a:r>
          </a:p>
        </p:txBody>
      </p:sp>
      <p:sp>
        <p:nvSpPr>
          <p:cNvPr id="5" name="Google Shape;136;p26">
            <a:extLst>
              <a:ext uri="{FF2B5EF4-FFF2-40B4-BE49-F238E27FC236}">
                <a16:creationId xmlns:a16="http://schemas.microsoft.com/office/drawing/2014/main" id="{9E373587-565C-D0D8-AEFC-2E803C200284}"/>
              </a:ext>
            </a:extLst>
          </p:cNvPr>
          <p:cNvSpPr txBox="1">
            <a:spLocks/>
          </p:cNvSpPr>
          <p:nvPr/>
        </p:nvSpPr>
        <p:spPr>
          <a:xfrm>
            <a:off x="426631" y="1401832"/>
            <a:ext cx="11338736" cy="5317945"/>
          </a:xfrm>
          <a:prstGeom prst="rect">
            <a:avLst/>
          </a:prstGeom>
          <a:noFill/>
          <a:ln>
            <a:noFill/>
          </a:ln>
        </p:spPr>
        <p:txBody>
          <a:bodyPr spcFirstLastPara="1" wrap="square" lIns="107269" tIns="53620" rIns="107269" bIns="53620" anchor="t" anchorCtr="0">
            <a:norm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34108" indent="0">
              <a:spcAft>
                <a:spcPts val="600"/>
              </a:spcAft>
              <a:buNone/>
            </a:pPr>
            <a:r>
              <a:rPr lang="en-US" sz="1500" noProof="1"/>
              <a:t>Modalità di accesso</a:t>
            </a:r>
          </a:p>
          <a:p>
            <a:pPr marL="134108" indent="0">
              <a:buNone/>
            </a:pPr>
            <a:r>
              <a:rPr lang="en-US" sz="1500" noProof="1"/>
              <a:t>L’applicazione prevede l’accesso tramite credenziali  (login con nome utente e password). Ad ogni ruolo corrisponde un’interfaccia diversa in base alle azioni che l’utente con quel ruolo può svolgere. La base di dati contiene l’anagrafica degli utenti. Gli </a:t>
            </a:r>
            <a:r>
              <a:rPr lang="en-US" sz="1500" kern="0" noProof="1">
                <a:solidFill>
                  <a:srgbClr val="FF0000"/>
                </a:solidFill>
              </a:rPr>
              <a:t>utenti</a:t>
            </a:r>
            <a:r>
              <a:rPr lang="en-US" sz="1500" noProof="1"/>
              <a:t> sono divisi in </a:t>
            </a:r>
            <a:r>
              <a:rPr lang="en-US" sz="1500" kern="0" noProof="1">
                <a:solidFill>
                  <a:srgbClr val="FF0000"/>
                </a:solidFill>
              </a:rPr>
              <a:t>personale amministrativo</a:t>
            </a:r>
            <a:r>
              <a:rPr lang="en-US" sz="1500" noProof="1"/>
              <a:t> e </a:t>
            </a:r>
            <a:r>
              <a:rPr lang="en-US" sz="1500" kern="0" noProof="1">
                <a:solidFill>
                  <a:srgbClr val="FF0000"/>
                </a:solidFill>
              </a:rPr>
              <a:t>personale tecnico</a:t>
            </a:r>
            <a:r>
              <a:rPr lang="en-US" sz="1500" noProof="1"/>
              <a:t>. Il personale amministrativo può fungere da amministratore di progetto. Il personale tecnico può fungere sia da responsabile di progetto sia da collaboratore. Al login, il personale di accesso con ruolo sia da responsabile sia da collaboratore sceglie con quale pagina (HOME RESPONSABILE o HOME COLLABORATORE) accedere all’applicazione.</a:t>
            </a:r>
          </a:p>
          <a:p>
            <a:pPr marL="134108" indent="0">
              <a:spcBef>
                <a:spcPts val="1622"/>
              </a:spcBef>
              <a:buNone/>
            </a:pPr>
            <a:r>
              <a:rPr lang="en-US" sz="1500" noProof="1"/>
              <a:t>Vincoli espliciti</a:t>
            </a:r>
          </a:p>
          <a:p>
            <a:pPr>
              <a:spcBef>
                <a:spcPts val="0"/>
              </a:spcBef>
            </a:pPr>
            <a:r>
              <a:rPr lang="en-US" sz="1500" noProof="1"/>
              <a:t>WP ⊂ Progetto</a:t>
            </a:r>
          </a:p>
          <a:p>
            <a:pPr>
              <a:spcBef>
                <a:spcPts val="0"/>
              </a:spcBef>
            </a:pPr>
            <a:r>
              <a:rPr lang="en-US" sz="1500" noProof="1"/>
              <a:t>Task ⊂ WP</a:t>
            </a:r>
          </a:p>
          <a:p>
            <a:pPr>
              <a:spcBef>
                <a:spcPts val="0"/>
              </a:spcBef>
            </a:pPr>
            <a:r>
              <a:rPr lang="en-US" sz="1500" noProof="1"/>
              <a:t>Ore ≥ 0 e intere</a:t>
            </a:r>
          </a:p>
          <a:p>
            <a:pPr>
              <a:spcBef>
                <a:spcPts val="0"/>
              </a:spcBef>
            </a:pPr>
            <a:r>
              <a:rPr lang="en-US" sz="1500" noProof="1"/>
              <a:t>Un progetto può essere concluso solo se: somma(ore lavorate) ≥ somma(ore previste) per ogni task. Tale controllo deve essere effettuato lato server al momento della richiesta di conclusione del progetto.</a:t>
            </a:r>
          </a:p>
          <a:p>
            <a:pPr marL="134108" indent="0">
              <a:spcBef>
                <a:spcPts val="1622"/>
              </a:spcBef>
              <a:buNone/>
            </a:pPr>
            <a:r>
              <a:rPr lang="en-US" sz="1500" noProof="1"/>
              <a:t>Gestione del tempo e delle ore</a:t>
            </a:r>
          </a:p>
          <a:p>
            <a:pPr>
              <a:spcBef>
                <a:spcPts val="0"/>
              </a:spcBef>
            </a:pPr>
            <a:r>
              <a:rPr lang="en-US" sz="1500" noProof="1"/>
              <a:t>I mesi sono rappresentati come indici relativi al progetto: M1, M2, ..., MN.</a:t>
            </a:r>
          </a:p>
          <a:p>
            <a:pPr>
              <a:spcBef>
                <a:spcPts val="0"/>
              </a:spcBef>
            </a:pPr>
            <a:r>
              <a:rPr lang="en-US" sz="1500" noProof="1"/>
              <a:t>MN è determinato dalla durata del progetto.</a:t>
            </a:r>
          </a:p>
          <a:p>
            <a:pPr>
              <a:spcBef>
                <a:spcPts val="0"/>
              </a:spcBef>
            </a:pPr>
            <a:r>
              <a:rPr lang="en-US" sz="1500" noProof="1"/>
              <a:t>Le ore previste sono definite </a:t>
            </a:r>
            <a:r>
              <a:rPr lang="en-US" sz="1500" kern="0" noProof="1">
                <a:solidFill>
                  <a:srgbClr val="00B050"/>
                </a:solidFill>
              </a:rPr>
              <a:t>per ogni coppia (task, mese)</a:t>
            </a:r>
            <a:r>
              <a:rPr lang="en-US" sz="1500" noProof="1"/>
              <a:t>.</a:t>
            </a:r>
          </a:p>
          <a:p>
            <a:pPr>
              <a:spcBef>
                <a:spcPts val="0"/>
              </a:spcBef>
            </a:pPr>
            <a:r>
              <a:rPr lang="en-US" sz="1500" noProof="1"/>
              <a:t>Le ore lavorate sono definite </a:t>
            </a:r>
            <a:r>
              <a:rPr lang="en-US" sz="1500" kern="0" noProof="1">
                <a:solidFill>
                  <a:srgbClr val="00B050"/>
                </a:solidFill>
              </a:rPr>
              <a:t>per ogni terna (task, collaboratore, mese)</a:t>
            </a:r>
            <a:r>
              <a:rPr lang="en-US" sz="1500" noProof="1"/>
              <a:t>.</a:t>
            </a:r>
          </a:p>
          <a:p>
            <a:pPr marL="134108" indent="0">
              <a:spcBef>
                <a:spcPts val="0"/>
              </a:spcBef>
              <a:buNone/>
            </a:pPr>
            <a:endParaRPr lang="en-US" sz="1500" noProof="1"/>
          </a:p>
          <a:p>
            <a:pPr marL="134108" indent="0">
              <a:buNone/>
            </a:pPr>
            <a:r>
              <a:rPr lang="en-US" sz="1500" kern="0" noProof="1">
                <a:solidFill>
                  <a:srgbClr val="FF0000"/>
                </a:solidFill>
              </a:rPr>
              <a:t>Entities</a:t>
            </a:r>
            <a:r>
              <a:rPr lang="en-US" sz="1500" kern="0" noProof="1">
                <a:solidFill>
                  <a:srgbClr val="000000"/>
                </a:solidFill>
              </a:rPr>
              <a:t>, </a:t>
            </a:r>
            <a:r>
              <a:rPr lang="en-US" sz="1500" kern="0" noProof="1">
                <a:solidFill>
                  <a:srgbClr val="00B050"/>
                </a:solidFill>
              </a:rPr>
              <a:t>attributes</a:t>
            </a:r>
            <a:r>
              <a:rPr lang="en-US" sz="1500" kern="0" noProof="1">
                <a:solidFill>
                  <a:srgbClr val="000000"/>
                </a:solidFill>
              </a:rPr>
              <a:t>, </a:t>
            </a:r>
            <a:r>
              <a:rPr lang="en-US" sz="1500" kern="0" noProof="1">
                <a:solidFill>
                  <a:srgbClr val="00B0F0"/>
                </a:solidFill>
              </a:rPr>
              <a:t>relationships</a:t>
            </a:r>
          </a:p>
        </p:txBody>
      </p:sp>
    </p:spTree>
    <p:extLst>
      <p:ext uri="{BB962C8B-B14F-4D97-AF65-F5344CB8AC3E}">
        <p14:creationId xmlns:p14="http://schemas.microsoft.com/office/powerpoint/2010/main" val="3909514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Google Shape;135;p26">
            <a:extLst>
              <a:ext uri="{FF2B5EF4-FFF2-40B4-BE49-F238E27FC236}">
                <a16:creationId xmlns:a16="http://schemas.microsoft.com/office/drawing/2014/main" id="{3F10DCCA-8B3A-B575-7C83-001F90F6162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buClr>
                <a:srgbClr val="000000"/>
              </a:buClr>
              <a:buSzPts val="4400"/>
              <a:defRPr/>
            </a:pPr>
            <a:r>
              <a:rPr lang="en-US" kern="0" noProof="1">
                <a:solidFill>
                  <a:srgbClr val="000000"/>
                </a:solidFill>
                <a:latin typeface="Calibri" panose="020F0502020204030204" pitchFamily="34" charset="0"/>
                <a:cs typeface="Calibri" panose="020F0502020204030204" pitchFamily="34" charset="0"/>
              </a:rPr>
              <a:t>Database design</a:t>
            </a:r>
          </a:p>
        </p:txBody>
      </p:sp>
      <p:sp>
        <p:nvSpPr>
          <p:cNvPr id="42" name="Google Shape;149;p28">
            <a:extLst>
              <a:ext uri="{FF2B5EF4-FFF2-40B4-BE49-F238E27FC236}">
                <a16:creationId xmlns:a16="http://schemas.microsoft.com/office/drawing/2014/main" id="{C09A39BE-ABE4-826C-A0A5-6B8A313D3C2D}"/>
              </a:ext>
            </a:extLst>
          </p:cNvPr>
          <p:cNvSpPr txBox="1"/>
          <p:nvPr/>
        </p:nvSpPr>
        <p:spPr>
          <a:xfrm>
            <a:off x="-280307" y="2800937"/>
            <a:ext cx="1455675" cy="1735200"/>
          </a:xfrm>
          <a:prstGeom prst="rect">
            <a:avLst/>
          </a:prstGeom>
          <a:noFill/>
          <a:ln>
            <a:noFill/>
          </a:ln>
        </p:spPr>
        <p:txBody>
          <a:bodyPr spcFirstLastPara="1" wrap="square" lIns="107269" tIns="53620" rIns="107269" bIns="53620" anchor="t" anchorCtr="0">
            <a:noAutofit/>
          </a:bodyPr>
          <a:lstStyle/>
          <a:p>
            <a:pPr algn="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username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first_name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last_name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password</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photo</a:t>
            </a:r>
          </a:p>
        </p:txBody>
      </p:sp>
      <p:sp>
        <p:nvSpPr>
          <p:cNvPr id="43" name="Google Shape;150;p28">
            <a:extLst>
              <a:ext uri="{FF2B5EF4-FFF2-40B4-BE49-F238E27FC236}">
                <a16:creationId xmlns:a16="http://schemas.microsoft.com/office/drawing/2014/main" id="{C7E7221A-0617-7B1B-7527-0E97C5A0C2E9}"/>
              </a:ext>
            </a:extLst>
          </p:cNvPr>
          <p:cNvSpPr/>
          <p:nvPr/>
        </p:nvSpPr>
        <p:spPr>
          <a:xfrm>
            <a:off x="100962" y="2343313"/>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User</a:t>
            </a:r>
          </a:p>
        </p:txBody>
      </p:sp>
      <p:sp>
        <p:nvSpPr>
          <p:cNvPr id="44" name="Google Shape;151;p28">
            <a:extLst>
              <a:ext uri="{FF2B5EF4-FFF2-40B4-BE49-F238E27FC236}">
                <a16:creationId xmlns:a16="http://schemas.microsoft.com/office/drawing/2014/main" id="{96B4E1C4-4D33-03C6-2E35-9D7B14465335}"/>
              </a:ext>
            </a:extLst>
          </p:cNvPr>
          <p:cNvSpPr txBox="1"/>
          <p:nvPr/>
        </p:nvSpPr>
        <p:spPr>
          <a:xfrm>
            <a:off x="10257662" y="2042745"/>
            <a:ext cx="2006411" cy="1525200"/>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endParaRPr lang="en-US" b="1" kern="0" noProof="1">
              <a:solidFill>
                <a:srgbClr val="000000"/>
              </a:solidFill>
              <a:latin typeface="Calibri" panose="020F0502020204030204" pitchFamily="34" charset="0"/>
              <a:cs typeface="Calibri" panose="020F0502020204030204" pitchFamily="34" charset="0"/>
              <a:sym typeface="Arial"/>
            </a:endParaRP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sequence_number</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start_month</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end_month</a:t>
            </a:r>
          </a:p>
        </p:txBody>
      </p:sp>
      <p:sp>
        <p:nvSpPr>
          <p:cNvPr id="45" name="Google Shape;152;p28">
            <a:extLst>
              <a:ext uri="{FF2B5EF4-FFF2-40B4-BE49-F238E27FC236}">
                <a16:creationId xmlns:a16="http://schemas.microsoft.com/office/drawing/2014/main" id="{A996C67D-FCB1-8481-C402-7A606139F0AC}"/>
              </a:ext>
            </a:extLst>
          </p:cNvPr>
          <p:cNvSpPr txBox="1"/>
          <p:nvPr/>
        </p:nvSpPr>
        <p:spPr>
          <a:xfrm>
            <a:off x="5814781" y="2506764"/>
            <a:ext cx="1858878" cy="1338215"/>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duration_months</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status</a:t>
            </a:r>
          </a:p>
        </p:txBody>
      </p:sp>
      <p:sp>
        <p:nvSpPr>
          <p:cNvPr id="46" name="Google Shape;153;p28">
            <a:extLst>
              <a:ext uri="{FF2B5EF4-FFF2-40B4-BE49-F238E27FC236}">
                <a16:creationId xmlns:a16="http://schemas.microsoft.com/office/drawing/2014/main" id="{368C79FF-D28F-DB7E-E6F9-38AE5DC3351D}"/>
              </a:ext>
            </a:extLst>
          </p:cNvPr>
          <p:cNvSpPr/>
          <p:nvPr/>
        </p:nvSpPr>
        <p:spPr>
          <a:xfrm>
            <a:off x="5704387" y="2045352"/>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Project</a:t>
            </a:r>
          </a:p>
        </p:txBody>
      </p:sp>
      <p:sp>
        <p:nvSpPr>
          <p:cNvPr id="48" name="Google Shape;155;p28">
            <a:extLst>
              <a:ext uri="{FF2B5EF4-FFF2-40B4-BE49-F238E27FC236}">
                <a16:creationId xmlns:a16="http://schemas.microsoft.com/office/drawing/2014/main" id="{8C4DAA85-71CE-6DAD-185F-1D994E9C4B0C}"/>
              </a:ext>
            </a:extLst>
          </p:cNvPr>
          <p:cNvSpPr txBox="1"/>
          <p:nvPr/>
        </p:nvSpPr>
        <p:spPr>
          <a:xfrm>
            <a:off x="3963659" y="1159494"/>
            <a:ext cx="1309516"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creates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49" name="Google Shape;156;p28">
            <a:extLst>
              <a:ext uri="{FF2B5EF4-FFF2-40B4-BE49-F238E27FC236}">
                <a16:creationId xmlns:a16="http://schemas.microsoft.com/office/drawing/2014/main" id="{7E192326-1362-442F-46E9-7FB490BCAFCE}"/>
              </a:ext>
            </a:extLst>
          </p:cNvPr>
          <p:cNvSpPr/>
          <p:nvPr/>
        </p:nvSpPr>
        <p:spPr>
          <a:xfrm>
            <a:off x="4295042" y="1518952"/>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50" name="Google Shape;157;p28">
            <a:extLst>
              <a:ext uri="{FF2B5EF4-FFF2-40B4-BE49-F238E27FC236}">
                <a16:creationId xmlns:a16="http://schemas.microsoft.com/office/drawing/2014/main" id="{F3AE5509-57D0-95E9-E531-F15951BB4EC2}"/>
              </a:ext>
            </a:extLst>
          </p:cNvPr>
          <p:cNvCxnSpPr>
            <a:cxnSpLocks/>
            <a:stCxn id="292" idx="3"/>
            <a:endCxn id="49" idx="1"/>
          </p:cNvCxnSpPr>
          <p:nvPr/>
        </p:nvCxnSpPr>
        <p:spPr>
          <a:xfrm flipV="1">
            <a:off x="3492244" y="1782152"/>
            <a:ext cx="802798" cy="519034"/>
          </a:xfrm>
          <a:prstGeom prst="straightConnector1">
            <a:avLst/>
          </a:prstGeom>
          <a:noFill/>
          <a:ln w="9525" cap="flat" cmpd="sng">
            <a:solidFill>
              <a:schemeClr val="accent1"/>
            </a:solidFill>
            <a:prstDash val="solid"/>
            <a:round/>
            <a:headEnd type="none" w="sm" len="sm"/>
            <a:tailEnd type="none" w="sm" len="sm"/>
          </a:ln>
        </p:spPr>
      </p:cxnSp>
      <p:cxnSp>
        <p:nvCxnSpPr>
          <p:cNvPr id="51" name="Google Shape;158;p28">
            <a:extLst>
              <a:ext uri="{FF2B5EF4-FFF2-40B4-BE49-F238E27FC236}">
                <a16:creationId xmlns:a16="http://schemas.microsoft.com/office/drawing/2014/main" id="{236FA740-3BB4-8D30-7EED-30C3E4824937}"/>
              </a:ext>
            </a:extLst>
          </p:cNvPr>
          <p:cNvCxnSpPr>
            <a:cxnSpLocks/>
            <a:stCxn id="49" idx="3"/>
            <a:endCxn id="46" idx="1"/>
          </p:cNvCxnSpPr>
          <p:nvPr/>
        </p:nvCxnSpPr>
        <p:spPr>
          <a:xfrm>
            <a:off x="4941792" y="1782152"/>
            <a:ext cx="762595" cy="526400"/>
          </a:xfrm>
          <a:prstGeom prst="straightConnector1">
            <a:avLst/>
          </a:prstGeom>
          <a:noFill/>
          <a:ln w="9525" cap="flat" cmpd="sng">
            <a:solidFill>
              <a:srgbClr val="4A7DBA"/>
            </a:solidFill>
            <a:prstDash val="solid"/>
            <a:round/>
            <a:headEnd type="none" w="sm" len="sm"/>
            <a:tailEnd type="none" w="sm" len="sm"/>
          </a:ln>
        </p:spPr>
      </p:cxnSp>
      <p:sp>
        <p:nvSpPr>
          <p:cNvPr id="52" name="Google Shape;160;p28">
            <a:extLst>
              <a:ext uri="{FF2B5EF4-FFF2-40B4-BE49-F238E27FC236}">
                <a16:creationId xmlns:a16="http://schemas.microsoft.com/office/drawing/2014/main" id="{D873101D-7751-F96F-821F-4D45EF43D6E0}"/>
              </a:ext>
            </a:extLst>
          </p:cNvPr>
          <p:cNvSpPr/>
          <p:nvPr/>
        </p:nvSpPr>
        <p:spPr>
          <a:xfrm>
            <a:off x="7673488" y="2045352"/>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53" name="Google Shape;161;p28">
            <a:extLst>
              <a:ext uri="{FF2B5EF4-FFF2-40B4-BE49-F238E27FC236}">
                <a16:creationId xmlns:a16="http://schemas.microsoft.com/office/drawing/2014/main" id="{0D1A9F66-7281-5E76-3496-625B1DE1DB7A}"/>
              </a:ext>
            </a:extLst>
          </p:cNvPr>
          <p:cNvCxnSpPr>
            <a:cxnSpLocks/>
            <a:stCxn id="52" idx="1"/>
            <a:endCxn id="46" idx="3"/>
          </p:cNvCxnSpPr>
          <p:nvPr/>
        </p:nvCxnSpPr>
        <p:spPr>
          <a:xfrm flipH="1">
            <a:off x="7036490" y="2308552"/>
            <a:ext cx="636998" cy="0"/>
          </a:xfrm>
          <a:prstGeom prst="straightConnector1">
            <a:avLst/>
          </a:prstGeom>
          <a:noFill/>
          <a:ln w="9525" cap="flat" cmpd="sng">
            <a:solidFill>
              <a:srgbClr val="4A7DBA"/>
            </a:solidFill>
            <a:prstDash val="solid"/>
            <a:round/>
            <a:headEnd type="none" w="sm" len="sm"/>
            <a:tailEnd type="none" w="sm" len="sm"/>
          </a:ln>
        </p:spPr>
      </p:cxnSp>
      <p:cxnSp>
        <p:nvCxnSpPr>
          <p:cNvPr id="58" name="Google Shape;166;p28">
            <a:extLst>
              <a:ext uri="{FF2B5EF4-FFF2-40B4-BE49-F238E27FC236}">
                <a16:creationId xmlns:a16="http://schemas.microsoft.com/office/drawing/2014/main" id="{E7EF777F-81EA-26DB-5243-881ED33279DE}"/>
              </a:ext>
            </a:extLst>
          </p:cNvPr>
          <p:cNvCxnSpPr>
            <a:cxnSpLocks/>
            <a:stCxn id="134" idx="1"/>
            <a:endCxn id="52" idx="3"/>
          </p:cNvCxnSpPr>
          <p:nvPr/>
        </p:nvCxnSpPr>
        <p:spPr>
          <a:xfrm rot="10800000" flipV="1">
            <a:off x="8320239" y="2305944"/>
            <a:ext cx="648051" cy="2607"/>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63" name="Google Shape;152;p28">
            <a:extLst>
              <a:ext uri="{FF2B5EF4-FFF2-40B4-BE49-F238E27FC236}">
                <a16:creationId xmlns:a16="http://schemas.microsoft.com/office/drawing/2014/main" id="{2D0D19CD-3275-280D-EEFB-B11BD1248775}"/>
              </a:ext>
            </a:extLst>
          </p:cNvPr>
          <p:cNvSpPr txBox="1"/>
          <p:nvPr/>
        </p:nvSpPr>
        <p:spPr>
          <a:xfrm>
            <a:off x="10257662" y="4483884"/>
            <a:ext cx="2064326" cy="1707415"/>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sequence_number</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description</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start_month</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end_month</a:t>
            </a:r>
          </a:p>
        </p:txBody>
      </p:sp>
      <p:sp>
        <p:nvSpPr>
          <p:cNvPr id="94" name="Google Shape;155;p28">
            <a:extLst>
              <a:ext uri="{FF2B5EF4-FFF2-40B4-BE49-F238E27FC236}">
                <a16:creationId xmlns:a16="http://schemas.microsoft.com/office/drawing/2014/main" id="{45542BE9-FDA5-74B5-0956-ABEAA9829189}"/>
              </a:ext>
            </a:extLst>
          </p:cNvPr>
          <p:cNvSpPr txBox="1"/>
          <p:nvPr/>
        </p:nvSpPr>
        <p:spPr>
          <a:xfrm>
            <a:off x="7133406" y="2459893"/>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contains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97" name="Google Shape;165;p28">
            <a:extLst>
              <a:ext uri="{FF2B5EF4-FFF2-40B4-BE49-F238E27FC236}">
                <a16:creationId xmlns:a16="http://schemas.microsoft.com/office/drawing/2014/main" id="{007530A7-C594-CEDC-96E9-5BE2FEDC7D5B}"/>
              </a:ext>
            </a:extLst>
          </p:cNvPr>
          <p:cNvSpPr txBox="1"/>
          <p:nvPr/>
        </p:nvSpPr>
        <p:spPr>
          <a:xfrm>
            <a:off x="3078418" y="339963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98" name="Google Shape;165;p28">
            <a:extLst>
              <a:ext uri="{FF2B5EF4-FFF2-40B4-BE49-F238E27FC236}">
                <a16:creationId xmlns:a16="http://schemas.microsoft.com/office/drawing/2014/main" id="{05706400-94BB-441C-82FF-CA38CFE5C963}"/>
              </a:ext>
            </a:extLst>
          </p:cNvPr>
          <p:cNvSpPr txBox="1"/>
          <p:nvPr/>
        </p:nvSpPr>
        <p:spPr>
          <a:xfrm>
            <a:off x="5246768" y="2505092"/>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99" name="Google Shape;165;p28">
            <a:extLst>
              <a:ext uri="{FF2B5EF4-FFF2-40B4-BE49-F238E27FC236}">
                <a16:creationId xmlns:a16="http://schemas.microsoft.com/office/drawing/2014/main" id="{E333E74D-810A-3171-6663-38AC91388E68}"/>
              </a:ext>
            </a:extLst>
          </p:cNvPr>
          <p:cNvSpPr txBox="1"/>
          <p:nvPr/>
        </p:nvSpPr>
        <p:spPr>
          <a:xfrm>
            <a:off x="7049435" y="198293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00" name="Google Shape;165;p28">
            <a:extLst>
              <a:ext uri="{FF2B5EF4-FFF2-40B4-BE49-F238E27FC236}">
                <a16:creationId xmlns:a16="http://schemas.microsoft.com/office/drawing/2014/main" id="{22D823F7-C19F-E4BB-9BEE-E40B1ABF6B73}"/>
              </a:ext>
            </a:extLst>
          </p:cNvPr>
          <p:cNvSpPr txBox="1"/>
          <p:nvPr/>
        </p:nvSpPr>
        <p:spPr>
          <a:xfrm>
            <a:off x="8428208" y="200714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01" name="Google Shape;155;p28">
            <a:extLst>
              <a:ext uri="{FF2B5EF4-FFF2-40B4-BE49-F238E27FC236}">
                <a16:creationId xmlns:a16="http://schemas.microsoft.com/office/drawing/2014/main" id="{E585C423-89C9-EB86-E482-CC1B9F0EFB29}"/>
              </a:ext>
            </a:extLst>
          </p:cNvPr>
          <p:cNvSpPr txBox="1"/>
          <p:nvPr/>
        </p:nvSpPr>
        <p:spPr>
          <a:xfrm>
            <a:off x="3785131" y="3054721"/>
            <a:ext cx="1528132"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manages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02" name="Google Shape;156;p28">
            <a:extLst>
              <a:ext uri="{FF2B5EF4-FFF2-40B4-BE49-F238E27FC236}">
                <a16:creationId xmlns:a16="http://schemas.microsoft.com/office/drawing/2014/main" id="{301F5A9C-1276-2156-F6A7-9E325165C2C7}"/>
              </a:ext>
            </a:extLst>
          </p:cNvPr>
          <p:cNvSpPr/>
          <p:nvPr/>
        </p:nvSpPr>
        <p:spPr>
          <a:xfrm>
            <a:off x="4295129" y="2627621"/>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03" name="Google Shape;157;p28">
            <a:extLst>
              <a:ext uri="{FF2B5EF4-FFF2-40B4-BE49-F238E27FC236}">
                <a16:creationId xmlns:a16="http://schemas.microsoft.com/office/drawing/2014/main" id="{F419210E-06A3-C668-8DD9-B0B8F278A572}"/>
              </a:ext>
            </a:extLst>
          </p:cNvPr>
          <p:cNvCxnSpPr>
            <a:cxnSpLocks/>
            <a:endCxn id="102" idx="1"/>
          </p:cNvCxnSpPr>
          <p:nvPr/>
        </p:nvCxnSpPr>
        <p:spPr>
          <a:xfrm flipV="1">
            <a:off x="3195971" y="2890821"/>
            <a:ext cx="1099158" cy="978796"/>
          </a:xfrm>
          <a:prstGeom prst="straightConnector1">
            <a:avLst/>
          </a:prstGeom>
          <a:noFill/>
          <a:ln w="9525" cap="flat" cmpd="sng">
            <a:solidFill>
              <a:srgbClr val="4A7DBA"/>
            </a:solidFill>
            <a:prstDash val="solid"/>
            <a:round/>
            <a:headEnd type="none" w="sm" len="sm"/>
            <a:tailEnd type="none" w="sm" len="sm"/>
          </a:ln>
        </p:spPr>
      </p:cxnSp>
      <p:cxnSp>
        <p:nvCxnSpPr>
          <p:cNvPr id="104" name="Google Shape;158;p28">
            <a:extLst>
              <a:ext uri="{FF2B5EF4-FFF2-40B4-BE49-F238E27FC236}">
                <a16:creationId xmlns:a16="http://schemas.microsoft.com/office/drawing/2014/main" id="{272F0A0D-E2AC-B2EA-49E5-D7E65C5F20DF}"/>
              </a:ext>
            </a:extLst>
          </p:cNvPr>
          <p:cNvCxnSpPr>
            <a:cxnSpLocks/>
            <a:stCxn id="102" idx="3"/>
            <a:endCxn id="46" idx="1"/>
          </p:cNvCxnSpPr>
          <p:nvPr/>
        </p:nvCxnSpPr>
        <p:spPr>
          <a:xfrm flipV="1">
            <a:off x="4941879" y="2308552"/>
            <a:ext cx="762508" cy="582269"/>
          </a:xfrm>
          <a:prstGeom prst="straightConnector1">
            <a:avLst/>
          </a:prstGeom>
          <a:noFill/>
          <a:ln w="9525" cap="flat" cmpd="sng">
            <a:solidFill>
              <a:srgbClr val="4A7DBA"/>
            </a:solidFill>
            <a:prstDash val="solid"/>
            <a:round/>
            <a:headEnd type="none" w="sm" len="sm"/>
            <a:tailEnd type="none" w="sm" len="sm"/>
          </a:ln>
        </p:spPr>
      </p:cxnSp>
      <p:sp>
        <p:nvSpPr>
          <p:cNvPr id="105" name="Google Shape;165;p28">
            <a:extLst>
              <a:ext uri="{FF2B5EF4-FFF2-40B4-BE49-F238E27FC236}">
                <a16:creationId xmlns:a16="http://schemas.microsoft.com/office/drawing/2014/main" id="{3D109A6D-1981-4CBE-2FD7-E94C686CD417}"/>
              </a:ext>
            </a:extLst>
          </p:cNvPr>
          <p:cNvSpPr txBox="1"/>
          <p:nvPr/>
        </p:nvSpPr>
        <p:spPr>
          <a:xfrm>
            <a:off x="3562130" y="1806963"/>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06" name="Google Shape;165;p28">
            <a:extLst>
              <a:ext uri="{FF2B5EF4-FFF2-40B4-BE49-F238E27FC236}">
                <a16:creationId xmlns:a16="http://schemas.microsoft.com/office/drawing/2014/main" id="{202249CD-0B3A-428E-4910-7F836B0B79DD}"/>
              </a:ext>
            </a:extLst>
          </p:cNvPr>
          <p:cNvSpPr txBox="1"/>
          <p:nvPr/>
        </p:nvSpPr>
        <p:spPr>
          <a:xfrm>
            <a:off x="5213593" y="173917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31" name="Google Shape;153;p28">
            <a:extLst>
              <a:ext uri="{FF2B5EF4-FFF2-40B4-BE49-F238E27FC236}">
                <a16:creationId xmlns:a16="http://schemas.microsoft.com/office/drawing/2014/main" id="{9CD792EF-7029-0B99-E4BE-858924E4D03E}"/>
              </a:ext>
            </a:extLst>
          </p:cNvPr>
          <p:cNvSpPr/>
          <p:nvPr/>
        </p:nvSpPr>
        <p:spPr>
          <a:xfrm>
            <a:off x="8970344" y="4483884"/>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kern="0" noProof="1">
                <a:solidFill>
                  <a:srgbClr val="000000"/>
                </a:solidFill>
                <a:latin typeface="Calibri" panose="020F0502020204030204" pitchFamily="34" charset="0"/>
                <a:ea typeface="Calibri"/>
                <a:cs typeface="Calibri" panose="020F0502020204030204" pitchFamily="34" charset="0"/>
                <a:sym typeface="Calibri"/>
              </a:rPr>
              <a:t>Task</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34" name="Google Shape;153;p28">
            <a:extLst>
              <a:ext uri="{FF2B5EF4-FFF2-40B4-BE49-F238E27FC236}">
                <a16:creationId xmlns:a16="http://schemas.microsoft.com/office/drawing/2014/main" id="{F5A6A4A3-41DE-8099-8FC0-79FE669C326F}"/>
              </a:ext>
            </a:extLst>
          </p:cNvPr>
          <p:cNvSpPr/>
          <p:nvPr/>
        </p:nvSpPr>
        <p:spPr>
          <a:xfrm>
            <a:off x="8968289" y="2042745"/>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kern="0" noProof="1">
                <a:solidFill>
                  <a:srgbClr val="000000"/>
                </a:solidFill>
                <a:latin typeface="Calibri" panose="020F0502020204030204" pitchFamily="34" charset="0"/>
                <a:ea typeface="Calibri"/>
                <a:cs typeface="Calibri" panose="020F0502020204030204" pitchFamily="34" charset="0"/>
                <a:sym typeface="Calibri"/>
              </a:rPr>
              <a:t>WP</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37" name="Google Shape;160;p28">
            <a:extLst>
              <a:ext uri="{FF2B5EF4-FFF2-40B4-BE49-F238E27FC236}">
                <a16:creationId xmlns:a16="http://schemas.microsoft.com/office/drawing/2014/main" id="{645853E2-B9FC-1D36-F9BD-D998FE1744FE}"/>
              </a:ext>
            </a:extLst>
          </p:cNvPr>
          <p:cNvSpPr/>
          <p:nvPr/>
        </p:nvSpPr>
        <p:spPr>
          <a:xfrm>
            <a:off x="9310047" y="3302869"/>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38" name="Google Shape;161;p28">
            <a:extLst>
              <a:ext uri="{FF2B5EF4-FFF2-40B4-BE49-F238E27FC236}">
                <a16:creationId xmlns:a16="http://schemas.microsoft.com/office/drawing/2014/main" id="{0F569F59-0E7F-AF3D-2CC8-407F391CB886}"/>
              </a:ext>
            </a:extLst>
          </p:cNvPr>
          <p:cNvCxnSpPr>
            <a:cxnSpLocks/>
            <a:stCxn id="137" idx="0"/>
            <a:endCxn id="134" idx="2"/>
          </p:cNvCxnSpPr>
          <p:nvPr/>
        </p:nvCxnSpPr>
        <p:spPr>
          <a:xfrm flipV="1">
            <a:off x="9633422" y="2569145"/>
            <a:ext cx="919" cy="733724"/>
          </a:xfrm>
          <a:prstGeom prst="straightConnector1">
            <a:avLst/>
          </a:prstGeom>
          <a:noFill/>
          <a:ln w="9525" cap="flat" cmpd="sng">
            <a:solidFill>
              <a:srgbClr val="4A7DBA"/>
            </a:solidFill>
            <a:prstDash val="solid"/>
            <a:round/>
            <a:headEnd type="none" w="sm" len="sm"/>
            <a:tailEnd type="none" w="sm" len="sm"/>
          </a:ln>
        </p:spPr>
      </p:cxnSp>
      <p:cxnSp>
        <p:nvCxnSpPr>
          <p:cNvPr id="139" name="Google Shape;166;p28">
            <a:extLst>
              <a:ext uri="{FF2B5EF4-FFF2-40B4-BE49-F238E27FC236}">
                <a16:creationId xmlns:a16="http://schemas.microsoft.com/office/drawing/2014/main" id="{D3574FE5-31F8-999C-DAF8-7202FF580EE7}"/>
              </a:ext>
            </a:extLst>
          </p:cNvPr>
          <p:cNvCxnSpPr>
            <a:cxnSpLocks/>
            <a:stCxn id="131" idx="0"/>
            <a:endCxn id="137" idx="2"/>
          </p:cNvCxnSpPr>
          <p:nvPr/>
        </p:nvCxnSpPr>
        <p:spPr>
          <a:xfrm rot="16200000" flipV="1">
            <a:off x="9307602" y="4155090"/>
            <a:ext cx="654615" cy="2974"/>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53" name="Google Shape;155;p28">
            <a:extLst>
              <a:ext uri="{FF2B5EF4-FFF2-40B4-BE49-F238E27FC236}">
                <a16:creationId xmlns:a16="http://schemas.microsoft.com/office/drawing/2014/main" id="{86CDD963-4767-7A28-86AB-F9284B45F720}"/>
              </a:ext>
            </a:extLst>
          </p:cNvPr>
          <p:cNvSpPr txBox="1"/>
          <p:nvPr/>
        </p:nvSpPr>
        <p:spPr>
          <a:xfrm>
            <a:off x="8225488" y="3362969"/>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has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54" name="Google Shape;165;p28">
            <a:extLst>
              <a:ext uri="{FF2B5EF4-FFF2-40B4-BE49-F238E27FC236}">
                <a16:creationId xmlns:a16="http://schemas.microsoft.com/office/drawing/2014/main" id="{17A4287C-5FA8-2151-3F8C-8675040DE89F}"/>
              </a:ext>
            </a:extLst>
          </p:cNvPr>
          <p:cNvSpPr txBox="1"/>
          <p:nvPr/>
        </p:nvSpPr>
        <p:spPr>
          <a:xfrm>
            <a:off x="9153024" y="2613418"/>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55" name="Google Shape;165;p28">
            <a:extLst>
              <a:ext uri="{FF2B5EF4-FFF2-40B4-BE49-F238E27FC236}">
                <a16:creationId xmlns:a16="http://schemas.microsoft.com/office/drawing/2014/main" id="{A5DC3C8F-802B-C2DB-9C44-A761E763A26A}"/>
              </a:ext>
            </a:extLst>
          </p:cNvPr>
          <p:cNvSpPr txBox="1"/>
          <p:nvPr/>
        </p:nvSpPr>
        <p:spPr>
          <a:xfrm>
            <a:off x="9221462" y="4187311"/>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56" name="Google Shape;160;p28">
            <a:extLst>
              <a:ext uri="{FF2B5EF4-FFF2-40B4-BE49-F238E27FC236}">
                <a16:creationId xmlns:a16="http://schemas.microsoft.com/office/drawing/2014/main" id="{0405066B-3AE4-2B38-E311-7D7165C95E2A}"/>
              </a:ext>
            </a:extLst>
          </p:cNvPr>
          <p:cNvSpPr/>
          <p:nvPr/>
        </p:nvSpPr>
        <p:spPr>
          <a:xfrm>
            <a:off x="4295042" y="3866575"/>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57" name="Google Shape;161;p28">
            <a:extLst>
              <a:ext uri="{FF2B5EF4-FFF2-40B4-BE49-F238E27FC236}">
                <a16:creationId xmlns:a16="http://schemas.microsoft.com/office/drawing/2014/main" id="{03927E48-169E-B31D-8070-BE4E6C8CABCB}"/>
              </a:ext>
            </a:extLst>
          </p:cNvPr>
          <p:cNvCxnSpPr>
            <a:cxnSpLocks/>
            <a:stCxn id="156" idx="1"/>
          </p:cNvCxnSpPr>
          <p:nvPr/>
        </p:nvCxnSpPr>
        <p:spPr>
          <a:xfrm flipH="1">
            <a:off x="3197551" y="4129775"/>
            <a:ext cx="1097491" cy="721"/>
          </a:xfrm>
          <a:prstGeom prst="straightConnector1">
            <a:avLst/>
          </a:prstGeom>
          <a:noFill/>
          <a:ln w="9525" cap="flat" cmpd="sng">
            <a:solidFill>
              <a:srgbClr val="4A7DBA"/>
            </a:solidFill>
            <a:prstDash val="solid"/>
            <a:round/>
            <a:headEnd type="none" w="sm" len="sm"/>
            <a:tailEnd type="none" w="sm" len="sm"/>
          </a:ln>
        </p:spPr>
      </p:cxnSp>
      <p:cxnSp>
        <p:nvCxnSpPr>
          <p:cNvPr id="158" name="Google Shape;166;p28">
            <a:extLst>
              <a:ext uri="{FF2B5EF4-FFF2-40B4-BE49-F238E27FC236}">
                <a16:creationId xmlns:a16="http://schemas.microsoft.com/office/drawing/2014/main" id="{A89F929A-A13F-E99C-701F-6E8BE251D975}"/>
              </a:ext>
            </a:extLst>
          </p:cNvPr>
          <p:cNvCxnSpPr>
            <a:cxnSpLocks/>
            <a:endCxn id="156" idx="3"/>
          </p:cNvCxnSpPr>
          <p:nvPr/>
        </p:nvCxnSpPr>
        <p:spPr>
          <a:xfrm rot="10800000">
            <a:off x="4941793" y="4129775"/>
            <a:ext cx="4026497" cy="406362"/>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59" name="Google Shape;155;p28">
            <a:extLst>
              <a:ext uri="{FF2B5EF4-FFF2-40B4-BE49-F238E27FC236}">
                <a16:creationId xmlns:a16="http://schemas.microsoft.com/office/drawing/2014/main" id="{3C86D7E3-808B-3752-DB7E-F4629D646C15}"/>
              </a:ext>
            </a:extLst>
          </p:cNvPr>
          <p:cNvSpPr txBox="1"/>
          <p:nvPr/>
        </p:nvSpPr>
        <p:spPr>
          <a:xfrm>
            <a:off x="3702988" y="4268893"/>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assigned_to</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60" name="Google Shape;165;p28">
            <a:extLst>
              <a:ext uri="{FF2B5EF4-FFF2-40B4-BE49-F238E27FC236}">
                <a16:creationId xmlns:a16="http://schemas.microsoft.com/office/drawing/2014/main" id="{99C2C401-3245-43C8-AD1C-24F18E82073E}"/>
              </a:ext>
            </a:extLst>
          </p:cNvPr>
          <p:cNvSpPr txBox="1"/>
          <p:nvPr/>
        </p:nvSpPr>
        <p:spPr>
          <a:xfrm>
            <a:off x="3219276" y="3882928"/>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73" name="Google Shape;153;p28">
            <a:extLst>
              <a:ext uri="{FF2B5EF4-FFF2-40B4-BE49-F238E27FC236}">
                <a16:creationId xmlns:a16="http://schemas.microsoft.com/office/drawing/2014/main" id="{1E0995A8-AF1A-EBF9-C41E-6F0E9B71B4D4}"/>
              </a:ext>
            </a:extLst>
          </p:cNvPr>
          <p:cNvSpPr/>
          <p:nvPr/>
        </p:nvSpPr>
        <p:spPr>
          <a:xfrm>
            <a:off x="5249317" y="5798117"/>
            <a:ext cx="2385581"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Expected_Hours</a:t>
            </a:r>
          </a:p>
        </p:txBody>
      </p:sp>
      <p:sp>
        <p:nvSpPr>
          <p:cNvPr id="174" name="Google Shape;153;p28">
            <a:extLst>
              <a:ext uri="{FF2B5EF4-FFF2-40B4-BE49-F238E27FC236}">
                <a16:creationId xmlns:a16="http://schemas.microsoft.com/office/drawing/2014/main" id="{2F0454E4-A4C7-A4CE-8D93-B61E5004B95E}"/>
              </a:ext>
            </a:extLst>
          </p:cNvPr>
          <p:cNvSpPr/>
          <p:nvPr/>
        </p:nvSpPr>
        <p:spPr>
          <a:xfrm>
            <a:off x="2350684" y="5805866"/>
            <a:ext cx="2385581"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noProof="1"/>
              <a:t>Worked_Hours</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85" name="Google Shape;160;p28">
            <a:extLst>
              <a:ext uri="{FF2B5EF4-FFF2-40B4-BE49-F238E27FC236}">
                <a16:creationId xmlns:a16="http://schemas.microsoft.com/office/drawing/2014/main" id="{5E8C9928-1349-EB92-63F0-A02E59EAC4C4}"/>
              </a:ext>
            </a:extLst>
          </p:cNvPr>
          <p:cNvSpPr/>
          <p:nvPr/>
        </p:nvSpPr>
        <p:spPr>
          <a:xfrm>
            <a:off x="8494635" y="5800731"/>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87" name="Google Shape;166;p28">
            <a:extLst>
              <a:ext uri="{FF2B5EF4-FFF2-40B4-BE49-F238E27FC236}">
                <a16:creationId xmlns:a16="http://schemas.microsoft.com/office/drawing/2014/main" id="{981D1129-1CAB-EDE0-F7D8-E6DD717CEE94}"/>
              </a:ext>
            </a:extLst>
          </p:cNvPr>
          <p:cNvCxnSpPr>
            <a:cxnSpLocks/>
            <a:stCxn id="173" idx="3"/>
            <a:endCxn id="185" idx="1"/>
          </p:cNvCxnSpPr>
          <p:nvPr/>
        </p:nvCxnSpPr>
        <p:spPr>
          <a:xfrm>
            <a:off x="7634898" y="6061317"/>
            <a:ext cx="859737" cy="2614"/>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98" name="Google Shape;160;p28">
            <a:extLst>
              <a:ext uri="{FF2B5EF4-FFF2-40B4-BE49-F238E27FC236}">
                <a16:creationId xmlns:a16="http://schemas.microsoft.com/office/drawing/2014/main" id="{0D3735C6-3750-5246-7496-FBF5AA9201E2}"/>
              </a:ext>
            </a:extLst>
          </p:cNvPr>
          <p:cNvSpPr/>
          <p:nvPr/>
        </p:nvSpPr>
        <p:spPr>
          <a:xfrm>
            <a:off x="3805969" y="4876947"/>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200" name="Google Shape;166;p28">
            <a:extLst>
              <a:ext uri="{FF2B5EF4-FFF2-40B4-BE49-F238E27FC236}">
                <a16:creationId xmlns:a16="http://schemas.microsoft.com/office/drawing/2014/main" id="{A773CADD-3187-DA7E-D346-C12B986DCA7D}"/>
              </a:ext>
            </a:extLst>
          </p:cNvPr>
          <p:cNvCxnSpPr>
            <a:cxnSpLocks/>
            <a:stCxn id="174" idx="0"/>
            <a:endCxn id="198" idx="1"/>
          </p:cNvCxnSpPr>
          <p:nvPr/>
        </p:nvCxnSpPr>
        <p:spPr>
          <a:xfrm rot="5400000" flipH="1" flipV="1">
            <a:off x="3341863" y="5341760"/>
            <a:ext cx="665719" cy="262494"/>
          </a:xfrm>
          <a:prstGeom prst="bentConnector2">
            <a:avLst/>
          </a:prstGeom>
          <a:noFill/>
          <a:ln w="9525" cap="flat" cmpd="sng">
            <a:solidFill>
              <a:srgbClr val="3D85C6"/>
            </a:solidFill>
            <a:prstDash val="solid"/>
            <a:round/>
            <a:headEnd type="none" w="med" len="med"/>
            <a:tailEnd type="none" w="med" len="med"/>
          </a:ln>
        </p:spPr>
      </p:cxnSp>
      <p:sp>
        <p:nvSpPr>
          <p:cNvPr id="206" name="Google Shape;160;p28">
            <a:extLst>
              <a:ext uri="{FF2B5EF4-FFF2-40B4-BE49-F238E27FC236}">
                <a16:creationId xmlns:a16="http://schemas.microsoft.com/office/drawing/2014/main" id="{A4E85FDB-44A8-509F-726B-34E86D068798}"/>
              </a:ext>
            </a:extLst>
          </p:cNvPr>
          <p:cNvSpPr/>
          <p:nvPr/>
        </p:nvSpPr>
        <p:spPr>
          <a:xfrm>
            <a:off x="515884" y="5805866"/>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207" name="Google Shape;161;p28">
            <a:extLst>
              <a:ext uri="{FF2B5EF4-FFF2-40B4-BE49-F238E27FC236}">
                <a16:creationId xmlns:a16="http://schemas.microsoft.com/office/drawing/2014/main" id="{AFB72917-63B1-E35C-08F9-2ABD8A052BB0}"/>
              </a:ext>
            </a:extLst>
          </p:cNvPr>
          <p:cNvCxnSpPr>
            <a:cxnSpLocks/>
            <a:stCxn id="206" idx="3"/>
            <a:endCxn id="174" idx="1"/>
          </p:cNvCxnSpPr>
          <p:nvPr/>
        </p:nvCxnSpPr>
        <p:spPr>
          <a:xfrm>
            <a:off x="1162634" y="6069066"/>
            <a:ext cx="1188050" cy="0"/>
          </a:xfrm>
          <a:prstGeom prst="straightConnector1">
            <a:avLst/>
          </a:prstGeom>
          <a:noFill/>
          <a:ln w="9525" cap="flat" cmpd="sng">
            <a:solidFill>
              <a:srgbClr val="4A7DBA"/>
            </a:solidFill>
            <a:prstDash val="solid"/>
            <a:round/>
            <a:headEnd type="none" w="sm" len="sm"/>
            <a:tailEnd type="none" w="sm" len="sm"/>
          </a:ln>
        </p:spPr>
      </p:cxnSp>
      <p:cxnSp>
        <p:nvCxnSpPr>
          <p:cNvPr id="208" name="Google Shape;166;p28">
            <a:extLst>
              <a:ext uri="{FF2B5EF4-FFF2-40B4-BE49-F238E27FC236}">
                <a16:creationId xmlns:a16="http://schemas.microsoft.com/office/drawing/2014/main" id="{204A1F3C-BC31-034C-EC52-21E23CF80AA5}"/>
              </a:ext>
            </a:extLst>
          </p:cNvPr>
          <p:cNvCxnSpPr>
            <a:cxnSpLocks/>
            <a:stCxn id="291" idx="2"/>
            <a:endCxn id="206" idx="0"/>
          </p:cNvCxnSpPr>
          <p:nvPr/>
        </p:nvCxnSpPr>
        <p:spPr>
          <a:xfrm rot="5400000">
            <a:off x="980337" y="4257448"/>
            <a:ext cx="1407341" cy="1689495"/>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238" name="Google Shape;155;p28">
            <a:extLst>
              <a:ext uri="{FF2B5EF4-FFF2-40B4-BE49-F238E27FC236}">
                <a16:creationId xmlns:a16="http://schemas.microsoft.com/office/drawing/2014/main" id="{34526AA3-F70B-B225-4E3F-1C7DE1105F61}"/>
              </a:ext>
            </a:extLst>
          </p:cNvPr>
          <p:cNvSpPr txBox="1"/>
          <p:nvPr/>
        </p:nvSpPr>
        <p:spPr>
          <a:xfrm>
            <a:off x="7232906" y="6274570"/>
            <a:ext cx="3170208"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noProof="1"/>
              <a:t>requires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39" name="Google Shape;155;p28">
            <a:extLst>
              <a:ext uri="{FF2B5EF4-FFF2-40B4-BE49-F238E27FC236}">
                <a16:creationId xmlns:a16="http://schemas.microsoft.com/office/drawing/2014/main" id="{F12D573C-9B09-2BF2-AA30-D0C77C56931D}"/>
              </a:ext>
            </a:extLst>
          </p:cNvPr>
          <p:cNvSpPr txBox="1"/>
          <p:nvPr/>
        </p:nvSpPr>
        <p:spPr>
          <a:xfrm>
            <a:off x="3562130" y="5262209"/>
            <a:ext cx="101829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noProof="1"/>
              <a:t>records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44" name="Google Shape;165;p28">
            <a:extLst>
              <a:ext uri="{FF2B5EF4-FFF2-40B4-BE49-F238E27FC236}">
                <a16:creationId xmlns:a16="http://schemas.microsoft.com/office/drawing/2014/main" id="{B1EF59FE-DD81-4B80-A94B-2CB88095F99D}"/>
              </a:ext>
            </a:extLst>
          </p:cNvPr>
          <p:cNvSpPr txBox="1"/>
          <p:nvPr/>
        </p:nvSpPr>
        <p:spPr>
          <a:xfrm>
            <a:off x="8541357" y="423237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cxnSp>
        <p:nvCxnSpPr>
          <p:cNvPr id="255" name="Google Shape;166;p28">
            <a:extLst>
              <a:ext uri="{FF2B5EF4-FFF2-40B4-BE49-F238E27FC236}">
                <a16:creationId xmlns:a16="http://schemas.microsoft.com/office/drawing/2014/main" id="{96A3B543-9C9E-2A7D-E005-BEF2286BF763}"/>
              </a:ext>
            </a:extLst>
          </p:cNvPr>
          <p:cNvCxnSpPr>
            <a:cxnSpLocks/>
            <a:stCxn id="131" idx="2"/>
            <a:endCxn id="185" idx="3"/>
          </p:cNvCxnSpPr>
          <p:nvPr/>
        </p:nvCxnSpPr>
        <p:spPr>
          <a:xfrm rot="5400000">
            <a:off x="8862068" y="5289602"/>
            <a:ext cx="1053647" cy="495011"/>
          </a:xfrm>
          <a:prstGeom prst="bentConnector2">
            <a:avLst/>
          </a:prstGeom>
          <a:noFill/>
          <a:ln w="9525" cap="flat" cmpd="sng">
            <a:solidFill>
              <a:srgbClr val="3D85C6"/>
            </a:solidFill>
            <a:prstDash val="solid"/>
            <a:round/>
            <a:headEnd type="none" w="med" len="med"/>
            <a:tailEnd type="none" w="med" len="med"/>
          </a:ln>
        </p:spPr>
      </p:cxnSp>
      <p:sp>
        <p:nvSpPr>
          <p:cNvPr id="273" name="Google Shape;152;p28">
            <a:extLst>
              <a:ext uri="{FF2B5EF4-FFF2-40B4-BE49-F238E27FC236}">
                <a16:creationId xmlns:a16="http://schemas.microsoft.com/office/drawing/2014/main" id="{1739240F-B37C-4E93-6317-4507AFF54D40}"/>
              </a:ext>
            </a:extLst>
          </p:cNvPr>
          <p:cNvSpPr txBox="1"/>
          <p:nvPr/>
        </p:nvSpPr>
        <p:spPr>
          <a:xfrm>
            <a:off x="5249317" y="6273455"/>
            <a:ext cx="1858878" cy="653159"/>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month_index</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hours</a:t>
            </a:r>
          </a:p>
        </p:txBody>
      </p:sp>
      <p:sp>
        <p:nvSpPr>
          <p:cNvPr id="274" name="Google Shape;152;p28">
            <a:extLst>
              <a:ext uri="{FF2B5EF4-FFF2-40B4-BE49-F238E27FC236}">
                <a16:creationId xmlns:a16="http://schemas.microsoft.com/office/drawing/2014/main" id="{A622BB90-6B0C-5F70-98FC-F38AA601C42A}"/>
              </a:ext>
            </a:extLst>
          </p:cNvPr>
          <p:cNvSpPr txBox="1"/>
          <p:nvPr/>
        </p:nvSpPr>
        <p:spPr>
          <a:xfrm>
            <a:off x="2350684" y="6301181"/>
            <a:ext cx="1858878" cy="653159"/>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month_index</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hours</a:t>
            </a:r>
          </a:p>
        </p:txBody>
      </p:sp>
      <p:sp>
        <p:nvSpPr>
          <p:cNvPr id="275" name="Google Shape;155;p28">
            <a:extLst>
              <a:ext uri="{FF2B5EF4-FFF2-40B4-BE49-F238E27FC236}">
                <a16:creationId xmlns:a16="http://schemas.microsoft.com/office/drawing/2014/main" id="{1A1D538F-29F1-48BE-4D6D-21A8DEAEA1CB}"/>
              </a:ext>
            </a:extLst>
          </p:cNvPr>
          <p:cNvSpPr txBox="1"/>
          <p:nvPr/>
        </p:nvSpPr>
        <p:spPr>
          <a:xfrm>
            <a:off x="-80477" y="6259331"/>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logs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76" name="Google Shape;165;p28">
            <a:extLst>
              <a:ext uri="{FF2B5EF4-FFF2-40B4-BE49-F238E27FC236}">
                <a16:creationId xmlns:a16="http://schemas.microsoft.com/office/drawing/2014/main" id="{BD347546-EE35-FAAB-A02D-0F70A09E5EDF}"/>
              </a:ext>
            </a:extLst>
          </p:cNvPr>
          <p:cNvSpPr txBox="1"/>
          <p:nvPr/>
        </p:nvSpPr>
        <p:spPr>
          <a:xfrm>
            <a:off x="9584680" y="5092224"/>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77" name="Google Shape;165;p28">
            <a:extLst>
              <a:ext uri="{FF2B5EF4-FFF2-40B4-BE49-F238E27FC236}">
                <a16:creationId xmlns:a16="http://schemas.microsoft.com/office/drawing/2014/main" id="{1C9BA714-258D-44B1-87F5-4F39B7DA0CDA}"/>
              </a:ext>
            </a:extLst>
          </p:cNvPr>
          <p:cNvSpPr txBox="1"/>
          <p:nvPr/>
        </p:nvSpPr>
        <p:spPr>
          <a:xfrm>
            <a:off x="7662574" y="5786540"/>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278" name="Google Shape;165;p28">
            <a:extLst>
              <a:ext uri="{FF2B5EF4-FFF2-40B4-BE49-F238E27FC236}">
                <a16:creationId xmlns:a16="http://schemas.microsoft.com/office/drawing/2014/main" id="{202F472E-10EE-56F0-556F-044A495A03BC}"/>
              </a:ext>
            </a:extLst>
          </p:cNvPr>
          <p:cNvSpPr txBox="1"/>
          <p:nvPr/>
        </p:nvSpPr>
        <p:spPr>
          <a:xfrm>
            <a:off x="8446775" y="491315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79" name="Google Shape;165;p28">
            <a:extLst>
              <a:ext uri="{FF2B5EF4-FFF2-40B4-BE49-F238E27FC236}">
                <a16:creationId xmlns:a16="http://schemas.microsoft.com/office/drawing/2014/main" id="{A1B021C9-4C65-8A62-6EA9-16D2CE1FA5E0}"/>
              </a:ext>
            </a:extLst>
          </p:cNvPr>
          <p:cNvSpPr txBox="1"/>
          <p:nvPr/>
        </p:nvSpPr>
        <p:spPr>
          <a:xfrm>
            <a:off x="3024403" y="5415572"/>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280" name="Google Shape;165;p28">
            <a:extLst>
              <a:ext uri="{FF2B5EF4-FFF2-40B4-BE49-F238E27FC236}">
                <a16:creationId xmlns:a16="http://schemas.microsoft.com/office/drawing/2014/main" id="{52ECBAEA-AEC0-D438-0DC6-A7705288F66F}"/>
              </a:ext>
            </a:extLst>
          </p:cNvPr>
          <p:cNvSpPr txBox="1"/>
          <p:nvPr/>
        </p:nvSpPr>
        <p:spPr>
          <a:xfrm>
            <a:off x="2453910" y="438233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81" name="Google Shape;165;p28">
            <a:extLst>
              <a:ext uri="{FF2B5EF4-FFF2-40B4-BE49-F238E27FC236}">
                <a16:creationId xmlns:a16="http://schemas.microsoft.com/office/drawing/2014/main" id="{F1D42418-0E6C-39AA-C271-AD432FF46FB2}"/>
              </a:ext>
            </a:extLst>
          </p:cNvPr>
          <p:cNvSpPr txBox="1"/>
          <p:nvPr/>
        </p:nvSpPr>
        <p:spPr>
          <a:xfrm>
            <a:off x="1901291" y="5786540"/>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cxnSp>
        <p:nvCxnSpPr>
          <p:cNvPr id="282" name="Google Shape;166;p28">
            <a:extLst>
              <a:ext uri="{FF2B5EF4-FFF2-40B4-BE49-F238E27FC236}">
                <a16:creationId xmlns:a16="http://schemas.microsoft.com/office/drawing/2014/main" id="{7F2B5146-E05C-3275-0C32-9336EFE55AF6}"/>
              </a:ext>
            </a:extLst>
          </p:cNvPr>
          <p:cNvCxnSpPr>
            <a:cxnSpLocks/>
          </p:cNvCxnSpPr>
          <p:nvPr/>
        </p:nvCxnSpPr>
        <p:spPr>
          <a:xfrm rot="16200000" flipH="1">
            <a:off x="7262306" y="5716789"/>
            <a:ext cx="468435" cy="455117"/>
          </a:xfrm>
          <a:prstGeom prst="bentConnector3">
            <a:avLst>
              <a:gd name="adj1" fmla="val 372"/>
            </a:avLst>
          </a:prstGeom>
          <a:noFill/>
          <a:ln w="9525" cap="flat" cmpd="sng">
            <a:solidFill>
              <a:srgbClr val="3D85C6"/>
            </a:solidFill>
            <a:prstDash val="solid"/>
            <a:round/>
            <a:headEnd type="none" w="med" len="med"/>
            <a:tailEnd type="none" w="med" len="med"/>
          </a:ln>
        </p:spPr>
      </p:cxnSp>
      <p:cxnSp>
        <p:nvCxnSpPr>
          <p:cNvPr id="286" name="Google Shape;166;p28">
            <a:extLst>
              <a:ext uri="{FF2B5EF4-FFF2-40B4-BE49-F238E27FC236}">
                <a16:creationId xmlns:a16="http://schemas.microsoft.com/office/drawing/2014/main" id="{466AF4EE-44D0-3263-242E-ACF9DD2A1B53}"/>
              </a:ext>
            </a:extLst>
          </p:cNvPr>
          <p:cNvCxnSpPr>
            <a:cxnSpLocks/>
          </p:cNvCxnSpPr>
          <p:nvPr/>
        </p:nvCxnSpPr>
        <p:spPr>
          <a:xfrm>
            <a:off x="3298755" y="5723172"/>
            <a:ext cx="1518567" cy="478780"/>
          </a:xfrm>
          <a:prstGeom prst="bentConnector3">
            <a:avLst>
              <a:gd name="adj1" fmla="val 100041"/>
            </a:avLst>
          </a:prstGeom>
          <a:noFill/>
          <a:ln w="9525" cap="flat" cmpd="sng">
            <a:solidFill>
              <a:srgbClr val="3D85C6"/>
            </a:solidFill>
            <a:prstDash val="solid"/>
            <a:round/>
            <a:headEnd type="none" w="med" len="med"/>
            <a:tailEnd type="none" w="med" len="med"/>
          </a:ln>
        </p:spPr>
      </p:cxnSp>
      <p:sp>
        <p:nvSpPr>
          <p:cNvPr id="291" name="Google Shape;150;p28">
            <a:extLst>
              <a:ext uri="{FF2B5EF4-FFF2-40B4-BE49-F238E27FC236}">
                <a16:creationId xmlns:a16="http://schemas.microsoft.com/office/drawing/2014/main" id="{C3B3D506-FF04-541F-DC29-13D7E42E8AE6}"/>
              </a:ext>
            </a:extLst>
          </p:cNvPr>
          <p:cNvSpPr/>
          <p:nvPr/>
        </p:nvSpPr>
        <p:spPr>
          <a:xfrm>
            <a:off x="1861537" y="3872125"/>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kern="0" noProof="1">
                <a:solidFill>
                  <a:srgbClr val="000000"/>
                </a:solidFill>
                <a:latin typeface="Calibri" panose="020F0502020204030204" pitchFamily="34" charset="0"/>
                <a:ea typeface="Calibri"/>
                <a:cs typeface="Calibri" panose="020F0502020204030204" pitchFamily="34" charset="0"/>
                <a:sym typeface="Calibri"/>
              </a:rPr>
              <a:t>Technical</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292" name="Google Shape;150;p28">
            <a:extLst>
              <a:ext uri="{FF2B5EF4-FFF2-40B4-BE49-F238E27FC236}">
                <a16:creationId xmlns:a16="http://schemas.microsoft.com/office/drawing/2014/main" id="{BE8F61D5-5E31-1A1D-EA50-57AFBE202C48}"/>
              </a:ext>
            </a:extLst>
          </p:cNvPr>
          <p:cNvSpPr/>
          <p:nvPr/>
        </p:nvSpPr>
        <p:spPr>
          <a:xfrm>
            <a:off x="2157810" y="2037986"/>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kern="0" noProof="1">
                <a:solidFill>
                  <a:srgbClr val="000000"/>
                </a:solidFill>
                <a:latin typeface="Calibri" panose="020F0502020204030204" pitchFamily="34" charset="0"/>
                <a:ea typeface="Calibri"/>
                <a:cs typeface="Calibri" panose="020F0502020204030204" pitchFamily="34" charset="0"/>
                <a:sym typeface="Calibri"/>
              </a:rPr>
              <a:t>Admin</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305" name="Google Shape;166;p28">
            <a:extLst>
              <a:ext uri="{FF2B5EF4-FFF2-40B4-BE49-F238E27FC236}">
                <a16:creationId xmlns:a16="http://schemas.microsoft.com/office/drawing/2014/main" id="{A5BE847B-1C42-389A-B5E4-EAE9EF6A03E4}"/>
              </a:ext>
            </a:extLst>
          </p:cNvPr>
          <p:cNvCxnSpPr>
            <a:cxnSpLocks/>
            <a:stCxn id="198" idx="3"/>
          </p:cNvCxnSpPr>
          <p:nvPr/>
        </p:nvCxnSpPr>
        <p:spPr>
          <a:xfrm flipV="1">
            <a:off x="4452719" y="4955312"/>
            <a:ext cx="4515570" cy="184835"/>
          </a:xfrm>
          <a:prstGeom prst="bentConnector3">
            <a:avLst>
              <a:gd name="adj1" fmla="val 50000"/>
            </a:avLst>
          </a:prstGeom>
          <a:noFill/>
          <a:ln w="9525" cap="flat" cmpd="sng">
            <a:solidFill>
              <a:srgbClr val="3D85C6"/>
            </a:solidFill>
            <a:prstDash val="solid"/>
            <a:round/>
            <a:headEnd type="none" w="med" len="med"/>
            <a:tailEnd type="none" w="med" len="med"/>
          </a:ln>
        </p:spPr>
      </p:cxnSp>
      <p:cxnSp>
        <p:nvCxnSpPr>
          <p:cNvPr id="328" name="Elbow Connector 327">
            <a:extLst>
              <a:ext uri="{FF2B5EF4-FFF2-40B4-BE49-F238E27FC236}">
                <a16:creationId xmlns:a16="http://schemas.microsoft.com/office/drawing/2014/main" id="{234481AF-3C8F-44DD-BEBD-2F9861968671}"/>
              </a:ext>
            </a:extLst>
          </p:cNvPr>
          <p:cNvCxnSpPr>
            <a:cxnSpLocks/>
            <a:stCxn id="292" idx="1"/>
            <a:endCxn id="43" idx="3"/>
          </p:cNvCxnSpPr>
          <p:nvPr/>
        </p:nvCxnSpPr>
        <p:spPr>
          <a:xfrm rot="10800000" flipV="1">
            <a:off x="1435396" y="2301185"/>
            <a:ext cx="722414" cy="305327"/>
          </a:xfrm>
          <a:prstGeom prst="bentConnector3">
            <a:avLst>
              <a:gd name="adj1" fmla="val 70956"/>
            </a:avLst>
          </a:prstGeom>
          <a:ln w="952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36" name="Elbow Connector 335">
            <a:extLst>
              <a:ext uri="{FF2B5EF4-FFF2-40B4-BE49-F238E27FC236}">
                <a16:creationId xmlns:a16="http://schemas.microsoft.com/office/drawing/2014/main" id="{0A99EE1C-245F-82C7-8421-99320E8C6393}"/>
              </a:ext>
            </a:extLst>
          </p:cNvPr>
          <p:cNvCxnSpPr>
            <a:cxnSpLocks/>
            <a:stCxn id="291" idx="1"/>
            <a:endCxn id="43" idx="3"/>
          </p:cNvCxnSpPr>
          <p:nvPr/>
        </p:nvCxnSpPr>
        <p:spPr>
          <a:xfrm rot="10800000">
            <a:off x="1435397" y="2606513"/>
            <a:ext cx="426141" cy="1528812"/>
          </a:xfrm>
          <a:prstGeom prst="bentConnector3">
            <a:avLst/>
          </a:prstGeom>
          <a:ln w="952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40" name="Google Shape;165;p28">
            <a:extLst>
              <a:ext uri="{FF2B5EF4-FFF2-40B4-BE49-F238E27FC236}">
                <a16:creationId xmlns:a16="http://schemas.microsoft.com/office/drawing/2014/main" id="{580EBAE8-606D-C35C-A073-0D48908A8D5B}"/>
              </a:ext>
            </a:extLst>
          </p:cNvPr>
          <p:cNvSpPr txBox="1"/>
          <p:nvPr/>
        </p:nvSpPr>
        <p:spPr>
          <a:xfrm>
            <a:off x="1593497" y="2455469"/>
            <a:ext cx="538219"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(t,e)</a:t>
            </a:r>
          </a:p>
        </p:txBody>
      </p:sp>
    </p:spTree>
    <p:extLst>
      <p:ext uri="{BB962C8B-B14F-4D97-AF65-F5344CB8AC3E}">
        <p14:creationId xmlns:p14="http://schemas.microsoft.com/office/powerpoint/2010/main" val="322953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0742F-C20C-10D2-A04D-B26377053CC2}"/>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FA8609B-0910-2CD3-8B6C-35646D91F0C5}"/>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523D56CD-12A3-7DEC-8BD1-CC6A3CA0C008}"/>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endParaRPr lang="en-US" sz="1500" kern="0" noProof="1">
              <a:solidFill>
                <a:srgbClr val="00B0F0"/>
              </a:solidFill>
            </a:endParaRPr>
          </a:p>
        </p:txBody>
      </p:sp>
    </p:spTree>
    <p:extLst>
      <p:ext uri="{BB962C8B-B14F-4D97-AF65-F5344CB8AC3E}">
        <p14:creationId xmlns:p14="http://schemas.microsoft.com/office/powerpoint/2010/main" val="255013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3899-CEEF-C760-A092-B8573618E788}"/>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3CC680FE-3F17-AC92-6A01-8CD3136D7FC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B4A7F727-0058-CD2E-9FCC-8695A255221F}"/>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endParaRPr lang="en-US" sz="1500" kern="0" noProof="1">
              <a:solidFill>
                <a:srgbClr val="00B0F0"/>
              </a:solidFill>
            </a:endParaRPr>
          </a:p>
        </p:txBody>
      </p:sp>
    </p:spTree>
    <p:extLst>
      <p:ext uri="{BB962C8B-B14F-4D97-AF65-F5344CB8AC3E}">
        <p14:creationId xmlns:p14="http://schemas.microsoft.com/office/powerpoint/2010/main" val="1556688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F1DC-4C99-1205-B06A-25992AB73F3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CB50491-9225-48B3-4039-2F9B4148445D}"/>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AA9E65FF-7688-E8A5-A2A1-87E107A08B8D}"/>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endParaRPr lang="en-US" sz="1500" kern="0" noProof="1">
              <a:solidFill>
                <a:srgbClr val="00B0F0"/>
              </a:solidFill>
            </a:endParaRPr>
          </a:p>
        </p:txBody>
      </p:sp>
    </p:spTree>
    <p:extLst>
      <p:ext uri="{BB962C8B-B14F-4D97-AF65-F5344CB8AC3E}">
        <p14:creationId xmlns:p14="http://schemas.microsoft.com/office/powerpoint/2010/main" val="1236738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774A3-D484-055E-A199-1498F485047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92B6E1C-34C8-8B52-F62F-1D018D2FD5B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Admin</a:t>
            </a:r>
          </a:p>
        </p:txBody>
      </p:sp>
      <p:sp>
        <p:nvSpPr>
          <p:cNvPr id="5" name="Google Shape;136;p26">
            <a:extLst>
              <a:ext uri="{FF2B5EF4-FFF2-40B4-BE49-F238E27FC236}">
                <a16:creationId xmlns:a16="http://schemas.microsoft.com/office/drawing/2014/main" id="{6FFB5C73-ACEA-6376-5DDB-433C98BEC2ED}"/>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l’amministratore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AMMINISTRATORE </a:t>
            </a:r>
            <a:r>
              <a:rPr lang="en-US" sz="1500" kern="0" noProof="1">
                <a:solidFill>
                  <a:schemeClr val="tx1"/>
                </a:solidFill>
              </a:rPr>
              <a:t>con una </a:t>
            </a:r>
            <a:r>
              <a:rPr lang="en-US" sz="1500" kern="0" noProof="1">
                <a:solidFill>
                  <a:srgbClr val="00B050"/>
                </a:solidFill>
              </a:rPr>
              <a:t>form</a:t>
            </a:r>
            <a:r>
              <a:rPr lang="en-US" sz="1500" kern="0" noProof="1">
                <a:solidFill>
                  <a:schemeClr val="tx1"/>
                </a:solidFill>
              </a:rPr>
              <a:t> per creare un nuovo progetto. La form per creare un progetto permette di creare un nuovo progetto e di </a:t>
            </a:r>
            <a:r>
              <a:rPr lang="en-US" sz="1500" kern="0" noProof="1">
                <a:solidFill>
                  <a:srgbClr val="00B0F0"/>
                </a:solidFill>
              </a:rPr>
              <a:t>inserire il valore di tutti i suoi attributi </a:t>
            </a:r>
            <a:r>
              <a:rPr lang="en-US" sz="1500" kern="0" noProof="1">
                <a:solidFill>
                  <a:schemeClr val="tx1"/>
                </a:solidFill>
              </a:rPr>
              <a:t>(titolo e  durata in mesi, ad esempio, 24 o 36). Mediante la stessa form, l’amministratore </a:t>
            </a:r>
            <a:r>
              <a:rPr lang="en-US" sz="1500" kern="0" noProof="1">
                <a:solidFill>
                  <a:srgbClr val="00B0F0"/>
                </a:solidFill>
              </a:rPr>
              <a:t>seleziona l'utente </a:t>
            </a:r>
            <a:r>
              <a:rPr lang="en-US" sz="1500" kern="0" noProof="1">
                <a:solidFill>
                  <a:schemeClr val="tx1"/>
                </a:solidFill>
              </a:rPr>
              <a:t>del personale tecnico responsabile del progetto.  </a:t>
            </a:r>
            <a:r>
              <a:rPr lang="en-US" sz="1500" kern="0" noProof="1">
                <a:solidFill>
                  <a:srgbClr val="00B0F0"/>
                </a:solidFill>
              </a:rPr>
              <a:t>L’invio della form </a:t>
            </a:r>
            <a:r>
              <a:rPr lang="en-US" sz="1500" kern="0" noProof="1">
                <a:solidFill>
                  <a:schemeClr val="tx1"/>
                </a:solidFill>
              </a:rPr>
              <a:t>di creazione del progetto mediante il </a:t>
            </a:r>
            <a:r>
              <a:rPr lang="en-US" sz="1500" kern="0" noProof="1">
                <a:solidFill>
                  <a:srgbClr val="00B050"/>
                </a:solidFill>
              </a:rPr>
              <a:t>bottone SALVA PROGETTO </a:t>
            </a:r>
            <a:r>
              <a:rPr lang="en-US" sz="1500" kern="0" noProof="1">
                <a:solidFill>
                  <a:schemeClr val="tx1"/>
                </a:solidFill>
              </a:rPr>
              <a:t>produce </a:t>
            </a:r>
            <a:r>
              <a:rPr lang="en-US" sz="1500" kern="0" noProof="1">
                <a:solidFill>
                  <a:srgbClr val="FFC000"/>
                </a:solidFill>
              </a:rPr>
              <a:t>l’inserimento nella base di </a:t>
            </a:r>
            <a:r>
              <a:rPr lang="en-US" sz="1500" kern="0" noProof="1">
                <a:solidFill>
                  <a:schemeClr val="tx1"/>
                </a:solidFill>
              </a:rPr>
              <a:t>dati del progetto nello stato creato e la sua associazione al responsabile.</a:t>
            </a:r>
          </a:p>
          <a:p>
            <a:pPr marL="0" indent="0" algn="just">
              <a:spcBef>
                <a:spcPts val="0"/>
              </a:spcBef>
              <a:spcAft>
                <a:spcPts val="1173"/>
              </a:spcAft>
              <a:buClr>
                <a:srgbClr val="000000"/>
              </a:buClr>
              <a:buSzPts val="1100"/>
              <a:buNone/>
            </a:pPr>
            <a:r>
              <a:rPr lang="en-US" sz="1500" kern="0" noProof="1">
                <a:solidFill>
                  <a:schemeClr val="tx1"/>
                </a:solidFill>
              </a:rPr>
              <a:t>La pagina HOME contiene una </a:t>
            </a:r>
            <a:r>
              <a:rPr lang="en-US" sz="1500" kern="0" noProof="1">
                <a:solidFill>
                  <a:srgbClr val="00B050"/>
                </a:solidFill>
              </a:rPr>
              <a:t>form</a:t>
            </a:r>
            <a:r>
              <a:rPr lang="en-US" sz="1500" kern="0" noProof="1">
                <a:solidFill>
                  <a:schemeClr val="tx1"/>
                </a:solidFill>
              </a:rPr>
              <a:t> per creare un WP con tutti gli attributi necessari. Tale form permette di </a:t>
            </a:r>
            <a:r>
              <a:rPr lang="en-US" sz="1500" kern="0" noProof="1">
                <a:solidFill>
                  <a:srgbClr val="00B0F0"/>
                </a:solidFill>
              </a:rPr>
              <a:t>selezionare il progetto </a:t>
            </a:r>
            <a:r>
              <a:rPr lang="en-US" sz="1500" kern="0" noProof="1">
                <a:solidFill>
                  <a:schemeClr val="tx1"/>
                </a:solidFill>
              </a:rPr>
              <a:t>a cui il WP appartiene. I progetti assegnabili sono solo quelli nello stato CREATO. </a:t>
            </a:r>
            <a:r>
              <a:rPr lang="en-US" sz="1500" kern="0" noProof="1">
                <a:solidFill>
                  <a:srgbClr val="00B0F0"/>
                </a:solidFill>
              </a:rPr>
              <a:t>L’invio della form </a:t>
            </a:r>
            <a:r>
              <a:rPr lang="en-US" sz="1500" kern="0" noProof="1">
                <a:solidFill>
                  <a:schemeClr val="tx1"/>
                </a:solidFill>
              </a:rPr>
              <a:t>di creazione del WP mediante il </a:t>
            </a:r>
            <a:r>
              <a:rPr lang="en-US" sz="1500" kern="0" noProof="1">
                <a:solidFill>
                  <a:srgbClr val="00B050"/>
                </a:solidFill>
              </a:rPr>
              <a:t>bottone  SALVA WP </a:t>
            </a:r>
            <a:r>
              <a:rPr lang="en-US" sz="1500" kern="0" noProof="1">
                <a:solidFill>
                  <a:srgbClr val="FFC000"/>
                </a:solidFill>
              </a:rPr>
              <a:t>produce l’inserimento del WP nella base di dati </a:t>
            </a:r>
            <a:r>
              <a:rPr lang="en-US" sz="1500" kern="0" noProof="1">
                <a:solidFill>
                  <a:schemeClr val="tx1"/>
                </a:solidFill>
              </a:rPr>
              <a:t>e la sua associazione al progetto scelto. Il numero d’ordine di un WP è assegnato in modo automatico a partire dall’ultimo valore inserito (il primo WP ha numero d’ordine 1). Se il mese di inizio o di fine di un WP non risulta contenuto nell’intervallo del progetto si produce un </a:t>
            </a:r>
            <a:r>
              <a:rPr lang="en-US" sz="1500" kern="0" noProof="1">
                <a:solidFill>
                  <a:srgbClr val="FFC000"/>
                </a:solidFill>
              </a:rPr>
              <a:t>errore e l’inserimento fallisce</a:t>
            </a:r>
            <a:r>
              <a:rPr lang="en-US" sz="1500" kern="0" noProof="1">
                <a:solidFill>
                  <a:schemeClr val="tx1"/>
                </a:solidFill>
              </a:rPr>
              <a:t>.</a:t>
            </a:r>
          </a:p>
          <a:p>
            <a:pPr marL="0" indent="0" algn="just">
              <a:spcBef>
                <a:spcPts val="0"/>
              </a:spcBef>
              <a:spcAft>
                <a:spcPts val="1173"/>
              </a:spcAft>
              <a:buClr>
                <a:srgbClr val="000000"/>
              </a:buClr>
              <a:buSzPts val="1100"/>
              <a:buNone/>
            </a:pPr>
            <a:r>
              <a:rPr lang="en-US" sz="1500" kern="0" noProof="1">
                <a:solidFill>
                  <a:schemeClr val="tx1"/>
                </a:solidFill>
              </a:rPr>
              <a:t>La pagina HOME contiene una </a:t>
            </a:r>
            <a:r>
              <a:rPr lang="en-US" sz="1500" kern="0" noProof="1">
                <a:solidFill>
                  <a:srgbClr val="00B050"/>
                </a:solidFill>
              </a:rPr>
              <a:t>form</a:t>
            </a:r>
            <a:r>
              <a:rPr lang="en-US" sz="1500" kern="0" noProof="1">
                <a:solidFill>
                  <a:schemeClr val="tx1"/>
                </a:solidFill>
              </a:rPr>
              <a:t> per creare task. Tale form permette di </a:t>
            </a:r>
            <a:r>
              <a:rPr lang="en-US" sz="1500" kern="0" noProof="1">
                <a:solidFill>
                  <a:srgbClr val="00B0F0"/>
                </a:solidFill>
              </a:rPr>
              <a:t>selezionare il progetto e il WP </a:t>
            </a:r>
            <a:r>
              <a:rPr lang="en-US" sz="1500" kern="0" noProof="1">
                <a:solidFill>
                  <a:schemeClr val="tx1"/>
                </a:solidFill>
              </a:rPr>
              <a:t>a cui il task appartiene.  I progetti selezionabili sono solo quelli nello stato creato e amministrati dall’utente. </a:t>
            </a:r>
            <a:r>
              <a:rPr lang="en-US" sz="1500" kern="0" noProof="1">
                <a:solidFill>
                  <a:srgbClr val="00B0F0"/>
                </a:solidFill>
              </a:rPr>
              <a:t>L’invio della form </a:t>
            </a:r>
            <a:r>
              <a:rPr lang="en-US" sz="1500" kern="0" noProof="1">
                <a:solidFill>
                  <a:schemeClr val="tx1"/>
                </a:solidFill>
              </a:rPr>
              <a:t>di creazione del task mediante il </a:t>
            </a:r>
            <a:r>
              <a:rPr lang="en-US" sz="1500" kern="0" noProof="1">
                <a:solidFill>
                  <a:srgbClr val="00B050"/>
                </a:solidFill>
              </a:rPr>
              <a:t>bottone SALVA TASK </a:t>
            </a:r>
            <a:r>
              <a:rPr lang="en-US" sz="1500" kern="0" noProof="1">
                <a:solidFill>
                  <a:srgbClr val="FFC000"/>
                </a:solidFill>
              </a:rPr>
              <a:t>produce l’inserimento del task con tutti i suoi attributi nella base di dati </a:t>
            </a:r>
            <a:r>
              <a:rPr lang="en-US" sz="1500" kern="0" noProof="1">
                <a:solidFill>
                  <a:schemeClr val="tx1"/>
                </a:solidFill>
              </a:rPr>
              <a:t>e la sua associazione al WP scelto. Se il mese di inizio o di fine del task non risulta contenuto nell’intervallo del WP si produce un </a:t>
            </a:r>
            <a:r>
              <a:rPr lang="en-US" sz="1500" kern="0" noProof="1">
                <a:solidFill>
                  <a:srgbClr val="FFC000"/>
                </a:solidFill>
              </a:rPr>
              <a:t>errore e l’inserimento fallisce</a:t>
            </a:r>
            <a:r>
              <a:rPr lang="en-US" sz="1500" kern="0" noProof="1">
                <a:solidFill>
                  <a:schemeClr val="tx1"/>
                </a:solidFill>
              </a:rPr>
              <a:t>. Il valore iniziale delle ore previste e lavorate mese per mese per un task appena creato è 0. Il numero d’ordine di un task è assegnato in modo automatico a partire dall’ultimo valore inserito (il primo task ha numero d’ordine X.1, dove X è il numero d’ordine del WP a cui il task appartiene).</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3337462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C0CCB-0FDB-7208-2A4E-FE5DFEEA37E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54BF2249-0698-30F5-66AE-B3CE00755376}"/>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Admin</a:t>
            </a:r>
          </a:p>
        </p:txBody>
      </p:sp>
      <p:sp>
        <p:nvSpPr>
          <p:cNvPr id="5" name="Google Shape;136;p26">
            <a:extLst>
              <a:ext uri="{FF2B5EF4-FFF2-40B4-BE49-F238E27FC236}">
                <a16:creationId xmlns:a16="http://schemas.microsoft.com/office/drawing/2014/main" id="{29D21FAA-D7CB-4198-D3B1-5A2425770CE0}"/>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chemeClr val="tx1"/>
                </a:solidFill>
              </a:rPr>
              <a:t>L'interfaccia dell’amministratore contiene anche una pagina </a:t>
            </a:r>
            <a:r>
              <a:rPr lang="en-US" sz="1500" kern="0" noProof="1">
                <a:solidFill>
                  <a:srgbClr val="FF0000"/>
                </a:solidFill>
              </a:rPr>
              <a:t>VERIFICA PROGETTI</a:t>
            </a:r>
            <a:r>
              <a:rPr lang="en-US" sz="1500" kern="0" noProof="1">
                <a:solidFill>
                  <a:schemeClr val="tx1"/>
                </a:solidFill>
              </a:rPr>
              <a:t>. Tale pagina </a:t>
            </a:r>
            <a:r>
              <a:rPr lang="en-US" sz="1500" kern="0" noProof="1">
                <a:solidFill>
                  <a:srgbClr val="00B0F0"/>
                </a:solidFill>
              </a:rPr>
              <a:t>visualizza</a:t>
            </a:r>
            <a:r>
              <a:rPr lang="en-US" sz="1500" kern="0" noProof="1">
                <a:solidFill>
                  <a:schemeClr val="tx1"/>
                </a:solidFill>
              </a:rPr>
              <a:t> un </a:t>
            </a:r>
            <a:r>
              <a:rPr lang="en-US" sz="1500" kern="0" noProof="1">
                <a:solidFill>
                  <a:srgbClr val="00B050"/>
                </a:solidFill>
              </a:rPr>
              <a:t>elenco selezionabile dei progetti </a:t>
            </a:r>
            <a:r>
              <a:rPr lang="en-US" sz="1500" kern="0" noProof="1">
                <a:solidFill>
                  <a:schemeClr val="tx1"/>
                </a:solidFill>
              </a:rPr>
              <a:t>creati dall’amministratore. Per default, la pagina VERIFICA PROGETTI visualizza la struttura del progetto in costruzione e </a:t>
            </a:r>
            <a:r>
              <a:rPr lang="en-US" sz="1500" kern="0" noProof="1">
                <a:solidFill>
                  <a:srgbClr val="FFC000"/>
                </a:solidFill>
              </a:rPr>
              <a:t>mostra la gerarchia di progetto in WP e task </a:t>
            </a:r>
            <a:r>
              <a:rPr lang="en-US" sz="1500" kern="0" noProof="1">
                <a:solidFill>
                  <a:schemeClr val="tx1"/>
                </a:solidFill>
              </a:rPr>
              <a:t>(NB: per </a:t>
            </a:r>
            <a:r>
              <a:rPr lang="en-US" sz="1500" kern="0" noProof="1">
                <a:solidFill>
                  <a:srgbClr val="00B050"/>
                </a:solidFill>
              </a:rPr>
              <a:t>totale ore </a:t>
            </a:r>
            <a:r>
              <a:rPr lang="en-US" sz="1500" kern="0" noProof="1">
                <a:solidFill>
                  <a:schemeClr val="tx1"/>
                </a:solidFill>
              </a:rPr>
              <a:t>si intende la somma delle ore di tutti i mesi del progetto).</a:t>
            </a:r>
          </a:p>
          <a:p>
            <a:pPr marL="0" indent="0" algn="just">
              <a:spcBef>
                <a:spcPts val="0"/>
              </a:spcBef>
              <a:spcAft>
                <a:spcPts val="1173"/>
              </a:spcAft>
              <a:buClr>
                <a:srgbClr val="000000"/>
              </a:buClr>
              <a:buSzPts val="1100"/>
              <a:buNone/>
            </a:pPr>
            <a:r>
              <a:rPr lang="en-US" sz="1500" kern="0" noProof="1">
                <a:solidFill>
                  <a:schemeClr val="tx1"/>
                </a:solidFill>
              </a:rPr>
              <a:t>Nella pagina VERIFICA PROGETTI il valore del "totale ore lavorate" di un task  è la somma su tutti i collaboratori e tutti i mesi.</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527630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996B-0935-4262-C1CA-2FC695FD5E6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5C7BDE39-0635-AF1A-6EDB-B83E6FD9B9AD}"/>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Responsabile</a:t>
            </a:r>
          </a:p>
        </p:txBody>
      </p:sp>
      <p:sp>
        <p:nvSpPr>
          <p:cNvPr id="5" name="Google Shape;136;p26">
            <a:extLst>
              <a:ext uri="{FF2B5EF4-FFF2-40B4-BE49-F238E27FC236}">
                <a16:creationId xmlns:a16="http://schemas.microsoft.com/office/drawing/2014/main" id="{9734F63F-B14D-D8B6-A0BD-6D9FC8C9314D}"/>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il responsabile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RESPONSABILE </a:t>
            </a:r>
            <a:r>
              <a:rPr lang="en-US" sz="1500" kern="0" noProof="1">
                <a:solidFill>
                  <a:schemeClr val="tx1"/>
                </a:solidFill>
              </a:rPr>
              <a:t>con una </a:t>
            </a:r>
            <a:r>
              <a:rPr lang="en-US" sz="1500" kern="0" noProof="1">
                <a:solidFill>
                  <a:srgbClr val="00B050"/>
                </a:solidFill>
              </a:rPr>
              <a:t>form</a:t>
            </a:r>
            <a:r>
              <a:rPr lang="en-US" sz="1500" kern="0" noProof="1">
                <a:solidFill>
                  <a:schemeClr val="tx1"/>
                </a:solidFill>
              </a:rPr>
              <a:t> per assegnare i collaboratori e le ore previste mese per mese  ai task. L’utente può </a:t>
            </a:r>
            <a:r>
              <a:rPr lang="en-US" sz="1500" kern="0" noProof="1">
                <a:solidFill>
                  <a:srgbClr val="00B0F0"/>
                </a:solidFill>
              </a:rPr>
              <a:t>selezionare un progetto </a:t>
            </a:r>
            <a:r>
              <a:rPr lang="en-US" sz="1500" kern="0" noProof="1">
                <a:solidFill>
                  <a:schemeClr val="tx1"/>
                </a:solidFill>
              </a:rPr>
              <a:t>di cui è responsabile, </a:t>
            </a:r>
            <a:r>
              <a:rPr lang="en-US" sz="1500" kern="0" noProof="1">
                <a:solidFill>
                  <a:srgbClr val="00B0F0"/>
                </a:solidFill>
              </a:rPr>
              <a:t>selezionare un WP e un task</a:t>
            </a:r>
            <a:r>
              <a:rPr lang="en-US" sz="1500" kern="0" noProof="1">
                <a:solidFill>
                  <a:schemeClr val="tx1"/>
                </a:solidFill>
              </a:rPr>
              <a:t>, </a:t>
            </a:r>
            <a:r>
              <a:rPr lang="en-US" sz="1500" kern="0" noProof="1">
                <a:solidFill>
                  <a:srgbClr val="00B0F0"/>
                </a:solidFill>
              </a:rPr>
              <a:t>inserire le ore </a:t>
            </a:r>
            <a:r>
              <a:rPr lang="en-US" sz="1500" kern="0" noProof="1">
                <a:solidFill>
                  <a:schemeClr val="tx1"/>
                </a:solidFill>
              </a:rPr>
              <a:t>previste mese per mese e </a:t>
            </a:r>
            <a:r>
              <a:rPr lang="en-US" sz="1500" kern="0" noProof="1">
                <a:solidFill>
                  <a:srgbClr val="00B0F0"/>
                </a:solidFill>
              </a:rPr>
              <a:t>scegliere i collaboratori </a:t>
            </a:r>
            <a:r>
              <a:rPr lang="en-US" sz="1500" kern="0" noProof="1">
                <a:solidFill>
                  <a:schemeClr val="tx1"/>
                </a:solidFill>
              </a:rPr>
              <a:t>incaricati del task (l’autoassegnazione non è permessa).  </a:t>
            </a:r>
            <a:r>
              <a:rPr lang="en-US" sz="1500" kern="0" noProof="1">
                <a:solidFill>
                  <a:srgbClr val="00B050"/>
                </a:solidFill>
              </a:rPr>
              <a:t>Un bottone SALVA </a:t>
            </a:r>
            <a:r>
              <a:rPr lang="en-US" sz="1500" kern="0" noProof="1">
                <a:solidFill>
                  <a:schemeClr val="tx1"/>
                </a:solidFill>
              </a:rPr>
              <a:t>permette il </a:t>
            </a:r>
            <a:r>
              <a:rPr lang="en-US" sz="1500" kern="0" noProof="1">
                <a:solidFill>
                  <a:srgbClr val="FFC000"/>
                </a:solidFill>
              </a:rPr>
              <a:t>salvataggio dei dati inseriti nella base di dati</a:t>
            </a:r>
            <a:r>
              <a:rPr lang="en-US" sz="1500" kern="0" noProof="1">
                <a:solidFill>
                  <a:schemeClr val="tx1"/>
                </a:solidFill>
              </a:rPr>
              <a:t>. Quando l’assegnamento è completato </a:t>
            </a:r>
            <a:r>
              <a:rPr lang="en-US" sz="1500" kern="0" noProof="1">
                <a:solidFill>
                  <a:srgbClr val="00B050"/>
                </a:solidFill>
              </a:rPr>
              <a:t>un bottone ASSEGNA </a:t>
            </a:r>
            <a:r>
              <a:rPr lang="en-US" sz="1500" kern="0" noProof="1">
                <a:solidFill>
                  <a:schemeClr val="tx1"/>
                </a:solidFill>
              </a:rPr>
              <a:t>permette di porre il </a:t>
            </a:r>
            <a:r>
              <a:rPr lang="en-US" sz="1500" kern="0" noProof="1">
                <a:solidFill>
                  <a:srgbClr val="FFC000"/>
                </a:solidFill>
              </a:rPr>
              <a:t>progetto nello stato assegnato</a:t>
            </a:r>
            <a:r>
              <a:rPr lang="en-US" sz="1500" kern="0" noProof="1">
                <a:solidFill>
                  <a:schemeClr val="tx1"/>
                </a:solidFill>
              </a:rPr>
              <a:t>. Il tentativo di porre il progetto nello stato assegnato quando mancano ancora collaboratori o ore previste in qualche mese produce un </a:t>
            </a:r>
            <a:r>
              <a:rPr lang="en-US" sz="1500" kern="0" noProof="1">
                <a:solidFill>
                  <a:srgbClr val="FFC000"/>
                </a:solidFill>
              </a:rPr>
              <a:t>errore e il ricarico della pagina</a:t>
            </a:r>
            <a:r>
              <a:rPr lang="en-US" sz="1500" kern="0" noProof="1">
                <a:solidFill>
                  <a:schemeClr val="tx1"/>
                </a:solidFill>
              </a:rPr>
              <a:t> HOME RESPONSABILE, senza perdita di tutti i dati già inseriti compresi quelli inseriti ma non ancora salvati nella base di dati.</a:t>
            </a:r>
          </a:p>
          <a:p>
            <a:pPr marL="0" indent="0" algn="just">
              <a:spcBef>
                <a:spcPts val="0"/>
              </a:spcBef>
              <a:spcAft>
                <a:spcPts val="1173"/>
              </a:spcAft>
              <a:buClr>
                <a:srgbClr val="000000"/>
              </a:buClr>
              <a:buSzPts val="1100"/>
              <a:buNone/>
            </a:pPr>
            <a:r>
              <a:rPr lang="en-US" sz="1500" kern="0" noProof="1">
                <a:solidFill>
                  <a:schemeClr val="tx1"/>
                </a:solidFill>
              </a:rPr>
              <a:t>L'interfaccia del responsabile contiene anche una pagina </a:t>
            </a:r>
            <a:r>
              <a:rPr lang="en-US" sz="1500" kern="0" noProof="1">
                <a:solidFill>
                  <a:srgbClr val="FF0000"/>
                </a:solidFill>
              </a:rPr>
              <a:t>MONITORAGGIO PROGETTI</a:t>
            </a:r>
            <a:r>
              <a:rPr lang="en-US" sz="1500" kern="0" noProof="1">
                <a:solidFill>
                  <a:schemeClr val="tx1"/>
                </a:solidFill>
              </a:rPr>
              <a:t>. In tale pagina l’utente può </a:t>
            </a:r>
            <a:r>
              <a:rPr lang="en-US" sz="1500" kern="0" noProof="1">
                <a:solidFill>
                  <a:srgbClr val="00B0F0"/>
                </a:solidFill>
              </a:rPr>
              <a:t>selezionare un progetto </a:t>
            </a:r>
            <a:r>
              <a:rPr lang="en-US" sz="1500" kern="0" noProof="1">
                <a:solidFill>
                  <a:schemeClr val="tx1"/>
                </a:solidFill>
              </a:rPr>
              <a:t>di cui è responsabile e </a:t>
            </a:r>
            <a:r>
              <a:rPr lang="en-US" sz="1500" kern="0" noProof="1">
                <a:solidFill>
                  <a:srgbClr val="00B0F0"/>
                </a:solidFill>
              </a:rPr>
              <a:t>vedere</a:t>
            </a:r>
            <a:r>
              <a:rPr lang="en-US" sz="1500" kern="0" noProof="1">
                <a:solidFill>
                  <a:schemeClr val="tx1"/>
                </a:solidFill>
              </a:rPr>
              <a:t> </a:t>
            </a:r>
            <a:r>
              <a:rPr lang="en-US" sz="1500" kern="0" noProof="1">
                <a:solidFill>
                  <a:srgbClr val="00B050"/>
                </a:solidFill>
              </a:rPr>
              <a:t>una tabella </a:t>
            </a:r>
            <a:r>
              <a:rPr lang="en-US" sz="1500" kern="0" noProof="1">
                <a:solidFill>
                  <a:schemeClr val="tx1"/>
                </a:solidFill>
              </a:rPr>
              <a:t>che mostra le ore previste e lavorate di ogni WP e task mese per mese, secondo lo schema seguente (MN indica l’ultimo mese del progetto).</a:t>
            </a:r>
          </a:p>
          <a:p>
            <a:pPr marL="0" indent="0" algn="just">
              <a:spcBef>
                <a:spcPts val="0"/>
              </a:spcBef>
              <a:spcAft>
                <a:spcPts val="1173"/>
              </a:spcAft>
              <a:buClr>
                <a:srgbClr val="000000"/>
              </a:buClr>
              <a:buSzPts val="1100"/>
              <a:buNone/>
            </a:pPr>
            <a:r>
              <a:rPr lang="en-US" sz="1500" kern="0" noProof="1">
                <a:solidFill>
                  <a:schemeClr val="tx1"/>
                </a:solidFill>
              </a:rPr>
              <a:t>Se, per ogni task, la somma delle ore lavorate da tutti i collaboratori in tutti i mesi è non inferiore alla somma delle ore previste, sotto la tabella compare </a:t>
            </a:r>
            <a:r>
              <a:rPr lang="en-US" sz="1500" kern="0" noProof="1">
                <a:solidFill>
                  <a:srgbClr val="00B050"/>
                </a:solidFill>
              </a:rPr>
              <a:t>un bottone CONCLUDI</a:t>
            </a:r>
            <a:r>
              <a:rPr lang="en-US" sz="1500" kern="0" noProof="1">
                <a:solidFill>
                  <a:schemeClr val="tx1"/>
                </a:solidFill>
              </a:rPr>
              <a:t>, con cui il responsabile può </a:t>
            </a:r>
            <a:r>
              <a:rPr lang="en-US" sz="1500" kern="0" noProof="1">
                <a:solidFill>
                  <a:srgbClr val="FFC000"/>
                </a:solidFill>
              </a:rPr>
              <a:t>mettere il progetto nello stato CONCLUSO</a:t>
            </a:r>
            <a:r>
              <a:rPr lang="en-US" sz="1500" kern="0" noProof="1">
                <a:solidFill>
                  <a:schemeClr val="tx1"/>
                </a:solidFill>
              </a:rPr>
              <a:t>. </a:t>
            </a:r>
          </a:p>
          <a:p>
            <a:pPr marL="0" indent="0" algn="just">
              <a:spcBef>
                <a:spcPts val="0"/>
              </a:spcBef>
              <a:spcAft>
                <a:spcPts val="1173"/>
              </a:spcAft>
              <a:buClr>
                <a:srgbClr val="000000"/>
              </a:buClr>
              <a:buSzPts val="1100"/>
              <a:buNone/>
            </a:pPr>
            <a:r>
              <a:rPr lang="en-US" sz="1500" kern="0" noProof="1">
                <a:solidFill>
                  <a:schemeClr val="tx1"/>
                </a:solidFill>
              </a:rPr>
              <a:t>L'interfaccia del responsabile contiene anche una pagina </a:t>
            </a:r>
            <a:r>
              <a:rPr lang="en-US" sz="1500" kern="0" noProof="1">
                <a:solidFill>
                  <a:srgbClr val="FF0000"/>
                </a:solidFill>
              </a:rPr>
              <a:t>MONITORAGGIO COLLABORATORI</a:t>
            </a:r>
            <a:r>
              <a:rPr lang="en-US" sz="1500" kern="0" noProof="1">
                <a:solidFill>
                  <a:schemeClr val="tx1"/>
                </a:solidFill>
              </a:rPr>
              <a:t>. In tale pagina l’utente può </a:t>
            </a:r>
            <a:r>
              <a:rPr lang="en-US" sz="1500" kern="0" noProof="1">
                <a:solidFill>
                  <a:srgbClr val="00B0F0"/>
                </a:solidFill>
              </a:rPr>
              <a:t>selezionare un collaboratore </a:t>
            </a:r>
            <a:r>
              <a:rPr lang="en-US" sz="1500" kern="0" noProof="1">
                <a:solidFill>
                  <a:schemeClr val="tx1"/>
                </a:solidFill>
              </a:rPr>
              <a:t>e</a:t>
            </a:r>
            <a:r>
              <a:rPr lang="en-US" sz="1500" kern="0" noProof="1">
                <a:solidFill>
                  <a:srgbClr val="FFC000"/>
                </a:solidFill>
              </a:rPr>
              <a:t> </a:t>
            </a:r>
            <a:r>
              <a:rPr lang="en-US" sz="1500" kern="0" noProof="1">
                <a:solidFill>
                  <a:srgbClr val="00B0F0"/>
                </a:solidFill>
              </a:rPr>
              <a:t>vedere</a:t>
            </a:r>
            <a:r>
              <a:rPr lang="en-US" sz="1500" kern="0" noProof="1">
                <a:solidFill>
                  <a:srgbClr val="FFC000"/>
                </a:solidFill>
              </a:rPr>
              <a:t> </a:t>
            </a:r>
            <a:r>
              <a:rPr lang="en-US" sz="1500" kern="0" noProof="1">
                <a:solidFill>
                  <a:schemeClr val="tx1"/>
                </a:solidFill>
              </a:rPr>
              <a:t>le ore lavorate di ogni progetto, WP e task, mese per mese, secondo lo schema seguente. </a:t>
            </a:r>
          </a:p>
          <a:p>
            <a:pPr marL="0" indent="0" algn="just">
              <a:spcBef>
                <a:spcPts val="0"/>
              </a:spcBef>
              <a:spcAft>
                <a:spcPts val="1173"/>
              </a:spcAft>
              <a:buClr>
                <a:srgbClr val="000000"/>
              </a:buClr>
              <a:buSzPts val="1100"/>
              <a:buNone/>
            </a:pPr>
            <a:r>
              <a:rPr lang="en-US" sz="1500" kern="0" noProof="1">
                <a:solidFill>
                  <a:schemeClr val="tx1"/>
                </a:solidFill>
              </a:rPr>
              <a:t>La visualizzazione deve essere limitata ai collaboratori che lavorano nei progetti di cui l’utente è responsabile. Se un collaboratore lavora su progetti di responsabili diversi si mostrano solo le ore relative ai progetti del responsabile corrente.</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6565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2260-E684-374A-67E1-6D62C6C0564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A73C09D-F70B-0176-5BA0-27B491038F9A}"/>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Collaboratore</a:t>
            </a:r>
          </a:p>
        </p:txBody>
      </p:sp>
      <p:sp>
        <p:nvSpPr>
          <p:cNvPr id="5" name="Google Shape;136;p26">
            <a:extLst>
              <a:ext uri="{FF2B5EF4-FFF2-40B4-BE49-F238E27FC236}">
                <a16:creationId xmlns:a16="http://schemas.microsoft.com/office/drawing/2014/main" id="{186C2040-EE29-B239-FEAB-464ADA6E4511}"/>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il collaboratore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COLLABORATORE </a:t>
            </a:r>
            <a:r>
              <a:rPr lang="en-US" sz="1500" kern="0" noProof="1">
                <a:solidFill>
                  <a:schemeClr val="tx1"/>
                </a:solidFill>
              </a:rPr>
              <a:t>con </a:t>
            </a:r>
            <a:r>
              <a:rPr lang="en-US" sz="1500" kern="0" noProof="1">
                <a:solidFill>
                  <a:srgbClr val="00B050"/>
                </a:solidFill>
              </a:rPr>
              <a:t>l’elenco dei progetti </a:t>
            </a:r>
            <a:r>
              <a:rPr lang="en-US" sz="1500" kern="0" noProof="1">
                <a:solidFill>
                  <a:schemeClr val="tx1"/>
                </a:solidFill>
              </a:rPr>
              <a:t>in cui il collaboratore è assegnato ad almeno un task. </a:t>
            </a:r>
            <a:r>
              <a:rPr lang="en-US" sz="1500" kern="0" noProof="1">
                <a:solidFill>
                  <a:srgbClr val="00B0F0"/>
                </a:solidFill>
              </a:rPr>
              <a:t>Selezionando un progetto </a:t>
            </a:r>
            <a:r>
              <a:rPr lang="en-US" sz="1500" kern="0" noProof="1">
                <a:solidFill>
                  <a:schemeClr val="tx1"/>
                </a:solidFill>
              </a:rPr>
              <a:t>dall’elenco </a:t>
            </a:r>
            <a:r>
              <a:rPr lang="en-US" sz="1500" kern="0" noProof="1">
                <a:solidFill>
                  <a:srgbClr val="FFC000"/>
                </a:solidFill>
              </a:rPr>
              <a:t>compare</a:t>
            </a:r>
            <a:r>
              <a:rPr lang="en-US" sz="1500" kern="0" noProof="1">
                <a:solidFill>
                  <a:schemeClr val="tx1"/>
                </a:solidFill>
              </a:rPr>
              <a:t> </a:t>
            </a:r>
            <a:r>
              <a:rPr lang="en-US" sz="1500" kern="0" noProof="1">
                <a:solidFill>
                  <a:srgbClr val="00B050"/>
                </a:solidFill>
              </a:rPr>
              <a:t>la lista dei WP </a:t>
            </a:r>
            <a:r>
              <a:rPr lang="en-US" sz="1500" kern="0" noProof="1">
                <a:solidFill>
                  <a:schemeClr val="tx1"/>
                </a:solidFill>
              </a:rPr>
              <a:t>del progetto per cui il collaboratore è assegnato ad almeno un task. </a:t>
            </a:r>
            <a:r>
              <a:rPr lang="en-US" sz="1500" kern="0" noProof="1">
                <a:solidFill>
                  <a:srgbClr val="00B0F0"/>
                </a:solidFill>
              </a:rPr>
              <a:t>Selezionando un task</a:t>
            </a:r>
            <a:r>
              <a:rPr lang="en-US" sz="1500" kern="0" noProof="1">
                <a:solidFill>
                  <a:schemeClr val="tx1"/>
                </a:solidFill>
              </a:rPr>
              <a:t>, </a:t>
            </a:r>
            <a:r>
              <a:rPr lang="en-US" sz="1500" kern="0" noProof="1">
                <a:solidFill>
                  <a:srgbClr val="FFC000"/>
                </a:solidFill>
              </a:rPr>
              <a:t>compare</a:t>
            </a:r>
            <a:r>
              <a:rPr lang="en-US" sz="1500" kern="0" noProof="1">
                <a:solidFill>
                  <a:schemeClr val="tx1"/>
                </a:solidFill>
              </a:rPr>
              <a:t> </a:t>
            </a:r>
            <a:r>
              <a:rPr lang="en-US" sz="1500" kern="0" noProof="1">
                <a:solidFill>
                  <a:srgbClr val="00B050"/>
                </a:solidFill>
              </a:rPr>
              <a:t>una descrizione del task </a:t>
            </a:r>
            <a:r>
              <a:rPr lang="en-US" sz="1500" kern="0" noProof="1">
                <a:solidFill>
                  <a:schemeClr val="tx1"/>
                </a:solidFill>
              </a:rPr>
              <a:t>(titolo, mese, inizio e fine, numero di ore di lavoro previste, ore di lavoro effettuate) e </a:t>
            </a:r>
            <a:r>
              <a:rPr lang="en-US" sz="1500" kern="0" noProof="1">
                <a:solidFill>
                  <a:srgbClr val="00B050"/>
                </a:solidFill>
              </a:rPr>
              <a:t>una form </a:t>
            </a:r>
            <a:r>
              <a:rPr lang="en-US" sz="1500" kern="0" noProof="1">
                <a:solidFill>
                  <a:schemeClr val="tx1"/>
                </a:solidFill>
              </a:rPr>
              <a:t>in cui l’utente può </a:t>
            </a:r>
            <a:r>
              <a:rPr lang="en-US" sz="1500" kern="0" noProof="1">
                <a:solidFill>
                  <a:srgbClr val="00B0F0"/>
                </a:solidFill>
              </a:rPr>
              <a:t>scegliere un mese </a:t>
            </a:r>
            <a:r>
              <a:rPr lang="en-US" sz="1500" kern="0" noProof="1">
                <a:solidFill>
                  <a:schemeClr val="tx1"/>
                </a:solidFill>
              </a:rPr>
              <a:t>da un </a:t>
            </a:r>
            <a:r>
              <a:rPr lang="en-US" sz="1500" kern="0" noProof="1">
                <a:solidFill>
                  <a:srgbClr val="00B050"/>
                </a:solidFill>
              </a:rPr>
              <a:t>menu a tendina </a:t>
            </a:r>
            <a:r>
              <a:rPr lang="en-US" sz="1500" kern="0" noProof="1">
                <a:solidFill>
                  <a:schemeClr val="tx1"/>
                </a:solidFill>
              </a:rPr>
              <a:t>e </a:t>
            </a:r>
            <a:r>
              <a:rPr lang="en-US" sz="1500" kern="0" noProof="1">
                <a:solidFill>
                  <a:srgbClr val="00B0F0"/>
                </a:solidFill>
              </a:rPr>
              <a:t>inserire il numero di ore lavorate</a:t>
            </a:r>
            <a:r>
              <a:rPr lang="en-US" sz="1500" kern="0" noProof="1">
                <a:solidFill>
                  <a:schemeClr val="tx1"/>
                </a:solidFill>
              </a:rPr>
              <a:t> in quel mese in un </a:t>
            </a:r>
            <a:r>
              <a:rPr lang="en-US" sz="1500" kern="0" noProof="1">
                <a:solidFill>
                  <a:srgbClr val="00B050"/>
                </a:solidFill>
              </a:rPr>
              <a:t>campo di input</a:t>
            </a:r>
            <a:r>
              <a:rPr lang="en-US" sz="1500" kern="0" noProof="1">
                <a:solidFill>
                  <a:schemeClr val="tx1"/>
                </a:solidFill>
              </a:rPr>
              <a:t>. </a:t>
            </a:r>
            <a:r>
              <a:rPr lang="en-US" sz="1500" kern="0" noProof="1">
                <a:solidFill>
                  <a:srgbClr val="00B0F0"/>
                </a:solidFill>
              </a:rPr>
              <a:t>Premendo</a:t>
            </a:r>
            <a:r>
              <a:rPr lang="en-US" sz="1500" kern="0" noProof="1">
                <a:solidFill>
                  <a:schemeClr val="tx1"/>
                </a:solidFill>
              </a:rPr>
              <a:t> </a:t>
            </a:r>
            <a:r>
              <a:rPr lang="en-US" sz="1500" kern="0" noProof="1">
                <a:solidFill>
                  <a:srgbClr val="00B050"/>
                </a:solidFill>
              </a:rPr>
              <a:t>il bottone SALVA </a:t>
            </a:r>
            <a:r>
              <a:rPr lang="en-US" sz="1500" kern="0" noProof="1">
                <a:solidFill>
                  <a:schemeClr val="tx1"/>
                </a:solidFill>
              </a:rPr>
              <a:t>della form le ore lavorate dal collaboratore nel task nel mese </a:t>
            </a:r>
            <a:r>
              <a:rPr lang="en-US" sz="1500" kern="0" noProof="1">
                <a:solidFill>
                  <a:srgbClr val="FFC000"/>
                </a:solidFill>
              </a:rPr>
              <a:t>sono registrate permanentemente nella base di dati </a:t>
            </a:r>
            <a:r>
              <a:rPr lang="en-US" sz="1500" kern="0" noProof="1">
                <a:solidFill>
                  <a:schemeClr val="tx1"/>
                </a:solidFill>
              </a:rPr>
              <a:t>in sostituzione del valore precedente, che per default è 0.</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94953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21BA-AC53-D274-B2A8-EED78001B10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2FC4006-9376-7143-E999-A6EEF6BD276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Interfacce</a:t>
            </a:r>
          </a:p>
        </p:txBody>
      </p:sp>
      <p:sp>
        <p:nvSpPr>
          <p:cNvPr id="5" name="Google Shape;136;p26">
            <a:extLst>
              <a:ext uri="{FF2B5EF4-FFF2-40B4-BE49-F238E27FC236}">
                <a16:creationId xmlns:a16="http://schemas.microsoft.com/office/drawing/2014/main" id="{65BCC953-AA92-5965-4ACD-8666F37D349E}"/>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lgn="just">
              <a:spcBef>
                <a:spcPts val="0"/>
              </a:spcBef>
              <a:spcAft>
                <a:spcPts val="1173"/>
              </a:spcAft>
              <a:buClr>
                <a:srgbClr val="000000"/>
              </a:buClr>
              <a:buSzPts val="1100"/>
            </a:pPr>
            <a:r>
              <a:rPr lang="en-US" sz="1500" kern="0" noProof="1">
                <a:solidFill>
                  <a:schemeClr val="tx1"/>
                </a:solidFill>
              </a:rPr>
              <a:t>Tutte le interfacce contengono </a:t>
            </a:r>
            <a:r>
              <a:rPr lang="en-US" sz="1500" kern="0" noProof="1">
                <a:solidFill>
                  <a:srgbClr val="00B050"/>
                </a:solidFill>
              </a:rPr>
              <a:t>un link LOGOUT </a:t>
            </a:r>
            <a:r>
              <a:rPr lang="en-US" sz="1500" kern="0" noProof="1">
                <a:solidFill>
                  <a:schemeClr val="tx1"/>
                </a:solidFill>
              </a:rPr>
              <a:t>che </a:t>
            </a:r>
            <a:r>
              <a:rPr lang="en-US" sz="1500" kern="0" noProof="1">
                <a:solidFill>
                  <a:srgbClr val="FFC000"/>
                </a:solidFill>
              </a:rPr>
              <a:t>annulla la sessione </a:t>
            </a:r>
            <a:r>
              <a:rPr lang="en-US" sz="1500" kern="0" noProof="1">
                <a:solidFill>
                  <a:schemeClr val="tx1"/>
                </a:solidFill>
              </a:rPr>
              <a:t>dell'utente e </a:t>
            </a:r>
            <a:r>
              <a:rPr lang="en-US" sz="1500" kern="0" noProof="1">
                <a:solidFill>
                  <a:srgbClr val="FFC000"/>
                </a:solidFill>
              </a:rPr>
              <a:t>riporta alla pagina di login</a:t>
            </a:r>
            <a:r>
              <a:rPr lang="en-US" sz="1500" kern="0" noProof="1">
                <a:solidFill>
                  <a:schemeClr val="tx1"/>
                </a:solidFill>
              </a:rPr>
              <a:t>.</a:t>
            </a:r>
          </a:p>
          <a:p>
            <a:pPr marL="285750" indent="-285750" algn="just">
              <a:spcBef>
                <a:spcPts val="0"/>
              </a:spcBef>
              <a:spcAft>
                <a:spcPts val="1173"/>
              </a:spcAft>
              <a:buClr>
                <a:srgbClr val="000000"/>
              </a:buClr>
              <a:buSzPts val="1100"/>
            </a:pPr>
            <a:r>
              <a:rPr lang="en-US" sz="1500" kern="0" noProof="1">
                <a:solidFill>
                  <a:schemeClr val="tx1"/>
                </a:solidFill>
              </a:rPr>
              <a:t>Nelle interfacce con più pagine, ogni pagina diversa dalla HOME contiene </a:t>
            </a:r>
            <a:r>
              <a:rPr lang="en-US" sz="1500" kern="0" noProof="1">
                <a:solidFill>
                  <a:srgbClr val="00B050"/>
                </a:solidFill>
              </a:rPr>
              <a:t>un link HOME </a:t>
            </a:r>
            <a:r>
              <a:rPr lang="en-US" sz="1500" kern="0" noProof="1">
                <a:solidFill>
                  <a:schemeClr val="tx1"/>
                </a:solidFill>
              </a:rPr>
              <a:t>che </a:t>
            </a:r>
            <a:r>
              <a:rPr lang="en-US" sz="1500" kern="0" noProof="1">
                <a:solidFill>
                  <a:srgbClr val="FFC000"/>
                </a:solidFill>
              </a:rPr>
              <a:t>riporta alla home page </a:t>
            </a:r>
            <a:r>
              <a:rPr lang="en-US" sz="1500" kern="0" noProof="1">
                <a:solidFill>
                  <a:schemeClr val="tx1"/>
                </a:solidFill>
              </a:rPr>
              <a:t>dell’interfaccia.</a:t>
            </a:r>
          </a:p>
          <a:p>
            <a:pPr marL="285750" indent="-285750" algn="just">
              <a:spcBef>
                <a:spcPts val="0"/>
              </a:spcBef>
              <a:spcAft>
                <a:spcPts val="1173"/>
              </a:spcAft>
              <a:buClr>
                <a:srgbClr val="000000"/>
              </a:buClr>
              <a:buSzPts val="1100"/>
            </a:pPr>
            <a:r>
              <a:rPr lang="en-US" sz="1500" kern="0" noProof="1">
                <a:solidFill>
                  <a:schemeClr val="tx1"/>
                </a:solidFill>
              </a:rPr>
              <a:t>Ogni pagina HOME riporta un </a:t>
            </a:r>
            <a:r>
              <a:rPr lang="en-US" sz="1500" kern="0" noProof="1">
                <a:solidFill>
                  <a:srgbClr val="00B050"/>
                </a:solidFill>
              </a:rPr>
              <a:t>messaggio di saluto </a:t>
            </a:r>
            <a:r>
              <a:rPr lang="en-US" sz="1500" kern="0" noProof="1">
                <a:solidFill>
                  <a:schemeClr val="tx1"/>
                </a:solidFill>
              </a:rPr>
              <a:t>che mostra il nome e il cognome dell’utente.</a:t>
            </a:r>
          </a:p>
          <a:p>
            <a:pPr marL="285750" indent="-285750" algn="just">
              <a:spcBef>
                <a:spcPts val="0"/>
              </a:spcBef>
              <a:spcAft>
                <a:spcPts val="1173"/>
              </a:spcAft>
              <a:buClr>
                <a:srgbClr val="000000"/>
              </a:buClr>
              <a:buSzPts val="1100"/>
            </a:pPr>
            <a:r>
              <a:rPr lang="en-US" sz="1500" kern="0" noProof="1">
                <a:solidFill>
                  <a:schemeClr val="tx1"/>
                </a:solidFill>
              </a:rPr>
              <a:t>Ogni pagina che mostra o modifica i dati di un determinato progetto </a:t>
            </a:r>
            <a:r>
              <a:rPr lang="en-US" sz="1500" kern="0" noProof="1">
                <a:solidFill>
                  <a:srgbClr val="00B050"/>
                </a:solidFill>
              </a:rPr>
              <a:t>mostra il titolo del progetto</a:t>
            </a:r>
            <a:r>
              <a:rPr lang="en-US" sz="1500" kern="0" noProof="1">
                <a:solidFill>
                  <a:schemeClr val="tx1"/>
                </a:solidFill>
              </a:rPr>
              <a:t>.</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180639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B898-4D1F-20CA-D955-5D524E62D05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C806F273-8ECA-45C8-252D-F8E5A4151814}"/>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Completamento delle specifiche</a:t>
            </a:r>
          </a:p>
        </p:txBody>
      </p:sp>
      <p:sp>
        <p:nvSpPr>
          <p:cNvPr id="5" name="Google Shape;136;p26">
            <a:extLst>
              <a:ext uri="{FF2B5EF4-FFF2-40B4-BE49-F238E27FC236}">
                <a16:creationId xmlns:a16="http://schemas.microsoft.com/office/drawing/2014/main" id="{A008FA09-ACB0-CAC3-F8AF-ED77C817902F}"/>
              </a:ext>
            </a:extLst>
          </p:cNvPr>
          <p:cNvSpPr txBox="1">
            <a:spLocks/>
          </p:cNvSpPr>
          <p:nvPr/>
        </p:nvSpPr>
        <p:spPr>
          <a:xfrm>
            <a:off x="299104" y="1401833"/>
            <a:ext cx="11673554"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0"/>
              </a:spcBef>
              <a:spcAft>
                <a:spcPts val="1173"/>
              </a:spcAft>
              <a:buClr>
                <a:srgbClr val="000000"/>
              </a:buClr>
              <a:buSzPts val="1100"/>
            </a:pPr>
            <a:r>
              <a:rPr lang="en-US" sz="1500" kern="0" noProof="1">
                <a:solidFill>
                  <a:schemeClr val="tx1"/>
                </a:solidFill>
              </a:rPr>
              <a:t>Accesso all’applicazione: all’apertura dell’applicazione viene mostrata la form di login tramite servlet e template Thymeleaf.</a:t>
            </a:r>
          </a:p>
          <a:p>
            <a:pPr marL="285750" indent="-285750">
              <a:spcBef>
                <a:spcPts val="0"/>
              </a:spcBef>
              <a:spcAft>
                <a:spcPts val="1173"/>
              </a:spcAft>
              <a:buClr>
                <a:srgbClr val="000000"/>
              </a:buClr>
              <a:buSzPts val="1100"/>
            </a:pPr>
            <a:r>
              <a:rPr lang="en-US" sz="1500" kern="0" noProof="1">
                <a:solidFill>
                  <a:schemeClr val="tx1"/>
                </a:solidFill>
              </a:rPr>
              <a:t>Amministratore – struttura del progetto: nella versione HTML puro, un work package senza task è considerato un caso estremo valido e viene mostrato tramite messaggio di stato vuoto.</a:t>
            </a:r>
          </a:p>
          <a:p>
            <a:pPr marL="285750" indent="-285750">
              <a:spcBef>
                <a:spcPts val="0"/>
              </a:spcBef>
              <a:spcAft>
                <a:spcPts val="1173"/>
              </a:spcAft>
              <a:buClr>
                <a:srgbClr val="000000"/>
              </a:buClr>
              <a:buSzPts val="1100"/>
            </a:pPr>
            <a:r>
              <a:rPr lang="en-US" sz="1500" kern="0" noProof="1">
                <a:solidFill>
                  <a:schemeClr val="tx1"/>
                </a:solidFill>
              </a:rPr>
              <a:t>Amministratore – HOME AMMINISTRATORE: nella form di creazione task, la selezione di progetto e WP è realizzata tramite un unico menu a tendina contenente i WP raggruppati per progetto.</a:t>
            </a:r>
          </a:p>
          <a:p>
            <a:pPr marL="285750" indent="-285750">
              <a:spcBef>
                <a:spcPts val="0"/>
              </a:spcBef>
              <a:spcAft>
                <a:spcPts val="1173"/>
              </a:spcAft>
              <a:buClr>
                <a:srgbClr val="000000"/>
              </a:buClr>
              <a:buSzPts val="1100"/>
            </a:pPr>
            <a:r>
              <a:rPr lang="en-US" sz="1500" kern="0" noProof="1">
                <a:solidFill>
                  <a:schemeClr val="tx1"/>
                </a:solidFill>
              </a:rPr>
              <a:t>Amministratore – HOME AMMINISTRATORE: alla creazione di un task, le ore previste e lavorate iniziali pari a 0 non vengono inserite nel database. L’assenza del valore è interpretata come 0.</a:t>
            </a:r>
          </a:p>
          <a:p>
            <a:pPr marL="285750" indent="-285750">
              <a:spcBef>
                <a:spcPts val="0"/>
              </a:spcBef>
              <a:spcAft>
                <a:spcPts val="1173"/>
              </a:spcAft>
              <a:buClr>
                <a:srgbClr val="000000"/>
              </a:buClr>
              <a:buSzPts val="1100"/>
            </a:pPr>
            <a:r>
              <a:rPr lang="en-US" sz="1500" kern="0" noProof="1">
                <a:solidFill>
                  <a:schemeClr val="tx1"/>
                </a:solidFill>
              </a:rPr>
              <a:t>Amministratore – VERIFICA PROGETTI: all’apertura della pagina viene mostrato di default il progetto in stato created più recente tra quelli creati dall’amministratore corrente, individuato tramite l’id più grande.</a:t>
            </a:r>
          </a:p>
          <a:p>
            <a:pPr marL="285750" indent="-285750">
              <a:spcBef>
                <a:spcPts val="0"/>
              </a:spcBef>
              <a:buClr>
                <a:srgbClr val="000000"/>
              </a:buClr>
              <a:buSzPts val="1100"/>
            </a:pPr>
            <a:r>
              <a:rPr lang="en-US" sz="1500" kern="0" noProof="1">
                <a:solidFill>
                  <a:schemeClr val="tx1"/>
                </a:solidFill>
              </a:rPr>
              <a:t>Controllo degli accessi: l’accesso alle pagine protette è gestito tramite filtri Jakarta Servlet.</a:t>
            </a:r>
          </a:p>
          <a:p>
            <a:pPr marL="822183" lvl="1" indent="-285750">
              <a:spcBef>
                <a:spcPts val="0"/>
              </a:spcBef>
              <a:buClr>
                <a:srgbClr val="000000"/>
              </a:buClr>
              <a:buSzPts val="1100"/>
            </a:pPr>
            <a:r>
              <a:rPr lang="en-US" sz="1500" kern="0" noProof="1">
                <a:solidFill>
                  <a:schemeClr val="tx1"/>
                </a:solidFill>
              </a:rPr>
              <a:t>Se un utente non autenticato richiede una pagina protetta, viene reindirizzato alla form di login.</a:t>
            </a:r>
          </a:p>
          <a:p>
            <a:pPr marL="822183" lvl="1" indent="-285750">
              <a:spcBef>
                <a:spcPts val="0"/>
              </a:spcBef>
              <a:spcAft>
                <a:spcPts val="1173"/>
              </a:spcAft>
              <a:buClr>
                <a:srgbClr val="000000"/>
              </a:buClr>
              <a:buSzPts val="1100"/>
            </a:pPr>
            <a:r>
              <a:rPr lang="en-US" sz="1500" kern="0" noProof="1">
                <a:solidFill>
                  <a:schemeClr val="tx1"/>
                </a:solidFill>
              </a:rPr>
              <a:t>Se un utente autenticato richiede una pagina non compatibile con il suo ruolo, la richiesta viene rifiutata con errore HTTP 403 Forbidden.</a:t>
            </a:r>
            <a:endParaRPr lang="en-US" sz="1800" kern="0" noProof="1">
              <a:solidFill>
                <a:schemeClr val="tx1"/>
              </a:solidFill>
            </a:endParaRPr>
          </a:p>
          <a:p>
            <a:pPr marL="285750" indent="-285750">
              <a:spcBef>
                <a:spcPts val="0"/>
              </a:spcBef>
              <a:spcAft>
                <a:spcPts val="1173"/>
              </a:spcAft>
              <a:buClr>
                <a:srgbClr val="000000"/>
              </a:buClr>
              <a:buSzPts val="1100"/>
            </a:pPr>
            <a:r>
              <a:rPr lang="en-US" sz="1500" kern="0" noProof="1">
                <a:solidFill>
                  <a:schemeClr val="tx1"/>
                </a:solidFill>
              </a:rPr>
              <a:t>Instradamento utenti technical: dopo il login, gli utenti con ruolo technical accedono a una pagina intermedia HOME TECNICO, dalla quale possono scegliere se entrare nell’area Responsabile o nell’area Collaboratore.</a:t>
            </a:r>
          </a:p>
          <a:p>
            <a:pPr marL="285750" indent="-285750">
              <a:spcBef>
                <a:spcPts val="0"/>
              </a:spcBef>
              <a:spcAft>
                <a:spcPts val="1173"/>
              </a:spcAft>
              <a:buClr>
                <a:srgbClr val="000000"/>
              </a:buClr>
              <a:buSzPts val="1100"/>
            </a:pPr>
            <a:r>
              <a:rPr lang="en-US" sz="1500" kern="0" noProof="1">
                <a:solidFill>
                  <a:schemeClr val="tx1"/>
                </a:solidFill>
              </a:rPr>
              <a:t>Responsabile – HOME RESPONSABILE: nella form di selezione del task, i task sono visualizzati in un unico menu a tendina, raggruppati per progetto e suddivisi per work package.</a:t>
            </a:r>
          </a:p>
        </p:txBody>
      </p:sp>
    </p:spTree>
    <p:extLst>
      <p:ext uri="{BB962C8B-B14F-4D97-AF65-F5344CB8AC3E}">
        <p14:creationId xmlns:p14="http://schemas.microsoft.com/office/powerpoint/2010/main" val="2865171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DE9B7-B6B9-423C-FB84-CE103E863AD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03D3FA5-98F2-E774-85FD-CC360133DD1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(login)</a:t>
            </a:r>
          </a:p>
        </p:txBody>
      </p:sp>
      <p:sp>
        <p:nvSpPr>
          <p:cNvPr id="2" name="Rectangle 1">
            <a:extLst>
              <a:ext uri="{FF2B5EF4-FFF2-40B4-BE49-F238E27FC236}">
                <a16:creationId xmlns:a16="http://schemas.microsoft.com/office/drawing/2014/main" id="{AD59093A-BFA4-0085-A8E5-3B505053AA3F}"/>
              </a:ext>
            </a:extLst>
          </p:cNvPr>
          <p:cNvSpPr/>
          <p:nvPr/>
        </p:nvSpPr>
        <p:spPr>
          <a:xfrm>
            <a:off x="600668" y="2777384"/>
            <a:ext cx="2830461" cy="194844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Login</a:t>
            </a:r>
          </a:p>
        </p:txBody>
      </p:sp>
      <p:sp>
        <p:nvSpPr>
          <p:cNvPr id="3" name="Rounded Rectangle 2">
            <a:extLst>
              <a:ext uri="{FF2B5EF4-FFF2-40B4-BE49-F238E27FC236}">
                <a16:creationId xmlns:a16="http://schemas.microsoft.com/office/drawing/2014/main" id="{8866FE2D-163E-1392-8077-13A106A9315A}"/>
              </a:ext>
            </a:extLst>
          </p:cNvPr>
          <p:cNvSpPr/>
          <p:nvPr/>
        </p:nvSpPr>
        <p:spPr>
          <a:xfrm>
            <a:off x="761177" y="3766481"/>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Login Form</a:t>
            </a:r>
          </a:p>
        </p:txBody>
      </p:sp>
      <p:sp>
        <p:nvSpPr>
          <p:cNvPr id="11" name="Parallelogram 10">
            <a:extLst>
              <a:ext uri="{FF2B5EF4-FFF2-40B4-BE49-F238E27FC236}">
                <a16:creationId xmlns:a16="http://schemas.microsoft.com/office/drawing/2014/main" id="{2543432D-04C3-3AA6-DC6E-F49FAFED44D4}"/>
              </a:ext>
            </a:extLst>
          </p:cNvPr>
          <p:cNvSpPr/>
          <p:nvPr/>
        </p:nvSpPr>
        <p:spPr>
          <a:xfrm>
            <a:off x="3854176" y="3476565"/>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Login</a:t>
            </a:r>
          </a:p>
        </p:txBody>
      </p:sp>
      <p:sp>
        <p:nvSpPr>
          <p:cNvPr id="45" name="Oval 44">
            <a:extLst>
              <a:ext uri="{FF2B5EF4-FFF2-40B4-BE49-F238E27FC236}">
                <a16:creationId xmlns:a16="http://schemas.microsoft.com/office/drawing/2014/main" id="{B462DCD3-5B68-23DB-BE78-9AC161684D1C}"/>
              </a:ext>
            </a:extLst>
          </p:cNvPr>
          <p:cNvSpPr/>
          <p:nvPr/>
        </p:nvSpPr>
        <p:spPr>
          <a:xfrm>
            <a:off x="2924017" y="364250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CDAC5660-B468-B6BB-91BE-55139A59C924}"/>
              </a:ext>
            </a:extLst>
          </p:cNvPr>
          <p:cNvSpPr txBox="1"/>
          <p:nvPr/>
        </p:nvSpPr>
        <p:spPr>
          <a:xfrm>
            <a:off x="2219263" y="3491869"/>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86" name="Straight Connector 85">
            <a:extLst>
              <a:ext uri="{FF2B5EF4-FFF2-40B4-BE49-F238E27FC236}">
                <a16:creationId xmlns:a16="http://schemas.microsoft.com/office/drawing/2014/main" id="{FADC3A6B-44EE-E39E-8DA5-B104410BDAC9}"/>
              </a:ext>
            </a:extLst>
          </p:cNvPr>
          <p:cNvCxnSpPr>
            <a:cxnSpLocks/>
            <a:stCxn id="45" idx="6"/>
          </p:cNvCxnSpPr>
          <p:nvPr/>
        </p:nvCxnSpPr>
        <p:spPr>
          <a:xfrm>
            <a:off x="3212049" y="3786525"/>
            <a:ext cx="727562"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AEFA222-18D0-A019-ADF8-8AB395126B9F}"/>
              </a:ext>
            </a:extLst>
          </p:cNvPr>
          <p:cNvCxnSpPr>
            <a:cxnSpLocks/>
            <a:stCxn id="11" idx="2"/>
          </p:cNvCxnSpPr>
          <p:nvPr/>
        </p:nvCxnSpPr>
        <p:spPr>
          <a:xfrm>
            <a:off x="5140533" y="3803745"/>
            <a:ext cx="1782492"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7" name="Elbow Connector 116">
            <a:extLst>
              <a:ext uri="{FF2B5EF4-FFF2-40B4-BE49-F238E27FC236}">
                <a16:creationId xmlns:a16="http://schemas.microsoft.com/office/drawing/2014/main" id="{8BC0BF5C-3CF6-7841-4F5D-3A83BDDB784A}"/>
              </a:ext>
            </a:extLst>
          </p:cNvPr>
          <p:cNvCxnSpPr>
            <a:cxnSpLocks/>
            <a:stCxn id="11" idx="3"/>
          </p:cNvCxnSpPr>
          <p:nvPr/>
        </p:nvCxnSpPr>
        <p:spPr>
          <a:xfrm rot="16200000" flipH="1">
            <a:off x="4848507" y="3738874"/>
            <a:ext cx="1090557" cy="1874656"/>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71B936C3-4AEB-6B0D-8315-936A72B4AC2B}"/>
              </a:ext>
            </a:extLst>
          </p:cNvPr>
          <p:cNvSpPr/>
          <p:nvPr/>
        </p:nvSpPr>
        <p:spPr>
          <a:xfrm>
            <a:off x="6331113" y="4670903"/>
            <a:ext cx="2267219" cy="192826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Technical</a:t>
            </a:r>
          </a:p>
        </p:txBody>
      </p:sp>
      <p:sp>
        <p:nvSpPr>
          <p:cNvPr id="122" name="Rectangle 121">
            <a:extLst>
              <a:ext uri="{FF2B5EF4-FFF2-40B4-BE49-F238E27FC236}">
                <a16:creationId xmlns:a16="http://schemas.microsoft.com/office/drawing/2014/main" id="{F9375187-9A36-8A6B-F8E6-D880627D10DF}"/>
              </a:ext>
            </a:extLst>
          </p:cNvPr>
          <p:cNvSpPr/>
          <p:nvPr/>
        </p:nvSpPr>
        <p:spPr>
          <a:xfrm>
            <a:off x="6923025" y="3020658"/>
            <a:ext cx="2272250" cy="12809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Admin</a:t>
            </a:r>
          </a:p>
        </p:txBody>
      </p:sp>
      <p:sp>
        <p:nvSpPr>
          <p:cNvPr id="125" name="Oval 124">
            <a:extLst>
              <a:ext uri="{FF2B5EF4-FFF2-40B4-BE49-F238E27FC236}">
                <a16:creationId xmlns:a16="http://schemas.microsoft.com/office/drawing/2014/main" id="{6F86E661-B495-EC49-4358-7E2C06814813}"/>
              </a:ext>
            </a:extLst>
          </p:cNvPr>
          <p:cNvSpPr/>
          <p:nvPr/>
        </p:nvSpPr>
        <p:spPr>
          <a:xfrm>
            <a:off x="9061068" y="28562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EC832A95-BCFC-EE7D-6EBF-0FE4AC634BC8}"/>
              </a:ext>
            </a:extLst>
          </p:cNvPr>
          <p:cNvSpPr txBox="1"/>
          <p:nvPr/>
        </p:nvSpPr>
        <p:spPr>
          <a:xfrm>
            <a:off x="8343993" y="2713524"/>
            <a:ext cx="720262" cy="338554"/>
          </a:xfrm>
          <a:prstGeom prst="rect">
            <a:avLst/>
          </a:prstGeom>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29" name="Oval 128">
            <a:extLst>
              <a:ext uri="{FF2B5EF4-FFF2-40B4-BE49-F238E27FC236}">
                <a16:creationId xmlns:a16="http://schemas.microsoft.com/office/drawing/2014/main" id="{A9FD4277-DC96-2A54-4933-A865164FA8EB}"/>
              </a:ext>
            </a:extLst>
          </p:cNvPr>
          <p:cNvSpPr/>
          <p:nvPr/>
        </p:nvSpPr>
        <p:spPr>
          <a:xfrm>
            <a:off x="8454316" y="453253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B73329B2-AE2F-CB7C-6B62-9B5D606AE33D}"/>
              </a:ext>
            </a:extLst>
          </p:cNvPr>
          <p:cNvSpPr txBox="1"/>
          <p:nvPr/>
        </p:nvSpPr>
        <p:spPr>
          <a:xfrm>
            <a:off x="7754333" y="4406891"/>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cxnSp>
        <p:nvCxnSpPr>
          <p:cNvPr id="131" name="Elbow Connector 130">
            <a:extLst>
              <a:ext uri="{FF2B5EF4-FFF2-40B4-BE49-F238E27FC236}">
                <a16:creationId xmlns:a16="http://schemas.microsoft.com/office/drawing/2014/main" id="{D5EBEDAE-9747-4F0D-6325-733400A07D67}"/>
              </a:ext>
            </a:extLst>
          </p:cNvPr>
          <p:cNvCxnSpPr>
            <a:cxnSpLocks/>
            <a:stCxn id="125" idx="0"/>
            <a:endCxn id="2" idx="0"/>
          </p:cNvCxnSpPr>
          <p:nvPr/>
        </p:nvCxnSpPr>
        <p:spPr>
          <a:xfrm rot="16200000" flipV="1">
            <a:off x="5571053" y="-777769"/>
            <a:ext cx="78879" cy="7189185"/>
          </a:xfrm>
          <a:prstGeom prst="bentConnector3">
            <a:avLst>
              <a:gd name="adj1" fmla="val 38981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4" name="Elbow Connector 133">
            <a:extLst>
              <a:ext uri="{FF2B5EF4-FFF2-40B4-BE49-F238E27FC236}">
                <a16:creationId xmlns:a16="http://schemas.microsoft.com/office/drawing/2014/main" id="{21A43A73-1CB2-1D4A-95EC-69E289F5D1D4}"/>
              </a:ext>
            </a:extLst>
          </p:cNvPr>
          <p:cNvCxnSpPr>
            <a:cxnSpLocks/>
            <a:stCxn id="129" idx="6"/>
            <a:endCxn id="2" idx="0"/>
          </p:cNvCxnSpPr>
          <p:nvPr/>
        </p:nvCxnSpPr>
        <p:spPr>
          <a:xfrm flipH="1" flipV="1">
            <a:off x="2015899" y="2777384"/>
            <a:ext cx="6726449" cy="1899170"/>
          </a:xfrm>
          <a:prstGeom prst="bentConnector4">
            <a:avLst>
              <a:gd name="adj1" fmla="val -13055"/>
              <a:gd name="adj2" fmla="val 125986"/>
            </a:avLst>
          </a:prstGeom>
          <a:ln>
            <a:tailEnd type="arrow"/>
          </a:ln>
        </p:spPr>
        <p:style>
          <a:lnRef idx="2">
            <a:schemeClr val="accent1"/>
          </a:lnRef>
          <a:fillRef idx="0">
            <a:schemeClr val="accent1"/>
          </a:fillRef>
          <a:effectRef idx="1">
            <a:schemeClr val="accent1"/>
          </a:effectRef>
          <a:fontRef idx="minor">
            <a:schemeClr val="tx1"/>
          </a:fontRef>
        </p:style>
      </p:cxnSp>
      <p:sp>
        <p:nvSpPr>
          <p:cNvPr id="141" name="Oval 140">
            <a:extLst>
              <a:ext uri="{FF2B5EF4-FFF2-40B4-BE49-F238E27FC236}">
                <a16:creationId xmlns:a16="http://schemas.microsoft.com/office/drawing/2014/main" id="{42CF3BDD-0E89-CA05-C25D-A5807DB4B618}"/>
              </a:ext>
            </a:extLst>
          </p:cNvPr>
          <p:cNvSpPr/>
          <p:nvPr/>
        </p:nvSpPr>
        <p:spPr>
          <a:xfrm>
            <a:off x="8454316" y="52325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42" name="TextBox 141">
            <a:extLst>
              <a:ext uri="{FF2B5EF4-FFF2-40B4-BE49-F238E27FC236}">
                <a16:creationId xmlns:a16="http://schemas.microsoft.com/office/drawing/2014/main" id="{276447A3-33D7-28B3-ABF5-9562C5AD7525}"/>
              </a:ext>
            </a:extLst>
          </p:cNvPr>
          <p:cNvSpPr txBox="1"/>
          <p:nvPr/>
        </p:nvSpPr>
        <p:spPr>
          <a:xfrm>
            <a:off x="8732538" y="5085668"/>
            <a:ext cx="119750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collaborator</a:t>
            </a:r>
          </a:p>
        </p:txBody>
      </p:sp>
      <p:sp>
        <p:nvSpPr>
          <p:cNvPr id="143" name="Oval 142">
            <a:extLst>
              <a:ext uri="{FF2B5EF4-FFF2-40B4-BE49-F238E27FC236}">
                <a16:creationId xmlns:a16="http://schemas.microsoft.com/office/drawing/2014/main" id="{81AC0210-DCE6-74FC-9E75-C59D111BE0E1}"/>
              </a:ext>
            </a:extLst>
          </p:cNvPr>
          <p:cNvSpPr/>
          <p:nvPr/>
        </p:nvSpPr>
        <p:spPr>
          <a:xfrm>
            <a:off x="8444506" y="592078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44" name="TextBox 143">
            <a:extLst>
              <a:ext uri="{FF2B5EF4-FFF2-40B4-BE49-F238E27FC236}">
                <a16:creationId xmlns:a16="http://schemas.microsoft.com/office/drawing/2014/main" id="{EA5F7032-A44D-6B80-0160-4E81E9943014}"/>
              </a:ext>
            </a:extLst>
          </p:cNvPr>
          <p:cNvSpPr txBox="1"/>
          <p:nvPr/>
        </p:nvSpPr>
        <p:spPr>
          <a:xfrm>
            <a:off x="8686818" y="5764968"/>
            <a:ext cx="1241558" cy="338554"/>
          </a:xfrm>
          <a:prstGeom prst="rect">
            <a:avLst/>
          </a:prstGeom>
          <a:noFill/>
        </p:spPr>
        <p:txBody>
          <a:bodyPr wrap="none" rtlCol="0">
            <a:spAutoFit/>
          </a:bodyPr>
          <a:lstStyle/>
          <a:p>
            <a:r>
              <a:rPr lang="en-US" sz="1600" dirty="0" err="1">
                <a:solidFill>
                  <a:prstClr val="black"/>
                </a:solidFill>
                <a:latin typeface="Calibri" panose="020F0502020204030204" pitchFamily="34" charset="0"/>
                <a:cs typeface="Calibri" panose="020F0502020204030204" pitchFamily="34" charset="0"/>
              </a:rPr>
              <a:t>responsabile</a:t>
            </a:r>
            <a:endParaRPr lang="en-US" sz="1600" dirty="0">
              <a:solidFill>
                <a:prstClr val="black"/>
              </a:solidFill>
              <a:latin typeface="Calibri" panose="020F0502020204030204" pitchFamily="34" charset="0"/>
              <a:cs typeface="Calibri" panose="020F0502020204030204" pitchFamily="34" charset="0"/>
            </a:endParaRPr>
          </a:p>
        </p:txBody>
      </p:sp>
      <p:cxnSp>
        <p:nvCxnSpPr>
          <p:cNvPr id="145" name="Straight Connector 144">
            <a:extLst>
              <a:ext uri="{FF2B5EF4-FFF2-40B4-BE49-F238E27FC236}">
                <a16:creationId xmlns:a16="http://schemas.microsoft.com/office/drawing/2014/main" id="{1C37B45D-2A34-3044-A358-BA5D53147C63}"/>
              </a:ext>
            </a:extLst>
          </p:cNvPr>
          <p:cNvCxnSpPr>
            <a:cxnSpLocks/>
          </p:cNvCxnSpPr>
          <p:nvPr/>
        </p:nvCxnSpPr>
        <p:spPr>
          <a:xfrm>
            <a:off x="8732538" y="5390038"/>
            <a:ext cx="11757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73CB1EC4-6964-E887-8EC4-0657CBF2EAE2}"/>
              </a:ext>
            </a:extLst>
          </p:cNvPr>
          <p:cNvCxnSpPr>
            <a:cxnSpLocks/>
          </p:cNvCxnSpPr>
          <p:nvPr/>
        </p:nvCxnSpPr>
        <p:spPr>
          <a:xfrm>
            <a:off x="8742347" y="6064797"/>
            <a:ext cx="11757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7" name="Rounded Rectangle 146">
            <a:extLst>
              <a:ext uri="{FF2B5EF4-FFF2-40B4-BE49-F238E27FC236}">
                <a16:creationId xmlns:a16="http://schemas.microsoft.com/office/drawing/2014/main" id="{5ACA4A9A-F2AF-8880-24C7-2E38FACC00C8}"/>
              </a:ext>
            </a:extLst>
          </p:cNvPr>
          <p:cNvSpPr/>
          <p:nvPr/>
        </p:nvSpPr>
        <p:spPr>
          <a:xfrm>
            <a:off x="6510859" y="5183877"/>
            <a:ext cx="1853238" cy="67171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Role Links Selection</a:t>
            </a:r>
          </a:p>
        </p:txBody>
      </p:sp>
      <p:sp>
        <p:nvSpPr>
          <p:cNvPr id="153" name="TextBox 152">
            <a:extLst>
              <a:ext uri="{FF2B5EF4-FFF2-40B4-BE49-F238E27FC236}">
                <a16:creationId xmlns:a16="http://schemas.microsoft.com/office/drawing/2014/main" id="{139C026C-F0D9-5237-6366-582101E765E7}"/>
              </a:ext>
            </a:extLst>
          </p:cNvPr>
          <p:cNvSpPr txBox="1"/>
          <p:nvPr/>
        </p:nvSpPr>
        <p:spPr>
          <a:xfrm>
            <a:off x="5361039" y="3465757"/>
            <a:ext cx="1116011" cy="338554"/>
          </a:xfrm>
          <a:prstGeom prst="rect">
            <a:avLst/>
          </a:prstGeom>
          <a:noFill/>
        </p:spPr>
        <p:txBody>
          <a:bodyPr wrap="none" rtlCol="0">
            <a:spAutoFit/>
          </a:bodyPr>
          <a:lstStyle/>
          <a:p>
            <a:r>
              <a:rPr lang="en-US" sz="1600" dirty="0">
                <a:solidFill>
                  <a:prstClr val="black"/>
                </a:solidFill>
                <a:latin typeface="Calibri"/>
              </a:rPr>
              <a:t>admin user</a:t>
            </a:r>
          </a:p>
        </p:txBody>
      </p:sp>
      <p:sp>
        <p:nvSpPr>
          <p:cNvPr id="154" name="TextBox 153">
            <a:extLst>
              <a:ext uri="{FF2B5EF4-FFF2-40B4-BE49-F238E27FC236}">
                <a16:creationId xmlns:a16="http://schemas.microsoft.com/office/drawing/2014/main" id="{B8C1C963-2D07-7DF5-8C31-662147328E68}"/>
              </a:ext>
            </a:extLst>
          </p:cNvPr>
          <p:cNvSpPr txBox="1"/>
          <p:nvPr/>
        </p:nvSpPr>
        <p:spPr>
          <a:xfrm>
            <a:off x="4483624" y="4911429"/>
            <a:ext cx="1339726" cy="338554"/>
          </a:xfrm>
          <a:prstGeom prst="rect">
            <a:avLst/>
          </a:prstGeom>
          <a:noFill/>
        </p:spPr>
        <p:txBody>
          <a:bodyPr wrap="none" rtlCol="0">
            <a:spAutoFit/>
          </a:bodyPr>
          <a:lstStyle/>
          <a:p>
            <a:r>
              <a:rPr lang="en-US" sz="1600" dirty="0">
                <a:solidFill>
                  <a:prstClr val="black"/>
                </a:solidFill>
                <a:latin typeface="Calibri"/>
              </a:rPr>
              <a:t>technical user</a:t>
            </a:r>
          </a:p>
        </p:txBody>
      </p:sp>
      <p:sp>
        <p:nvSpPr>
          <p:cNvPr id="155" name="TextBox 154">
            <a:extLst>
              <a:ext uri="{FF2B5EF4-FFF2-40B4-BE49-F238E27FC236}">
                <a16:creationId xmlns:a16="http://schemas.microsoft.com/office/drawing/2014/main" id="{5E1B44CE-5A2F-E4F3-684C-8A482805BE79}"/>
              </a:ext>
            </a:extLst>
          </p:cNvPr>
          <p:cNvSpPr txBox="1"/>
          <p:nvPr/>
        </p:nvSpPr>
        <p:spPr>
          <a:xfrm>
            <a:off x="5071864" y="3819669"/>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6" name="TextBox 155">
            <a:extLst>
              <a:ext uri="{FF2B5EF4-FFF2-40B4-BE49-F238E27FC236}">
                <a16:creationId xmlns:a16="http://schemas.microsoft.com/office/drawing/2014/main" id="{30B27D62-673B-F273-A212-C2EF506931AA}"/>
              </a:ext>
            </a:extLst>
          </p:cNvPr>
          <p:cNvSpPr txBox="1"/>
          <p:nvPr/>
        </p:nvSpPr>
        <p:spPr>
          <a:xfrm>
            <a:off x="4476760" y="5220760"/>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9" name="Rectangle 158">
            <a:extLst>
              <a:ext uri="{FF2B5EF4-FFF2-40B4-BE49-F238E27FC236}">
                <a16:creationId xmlns:a16="http://schemas.microsoft.com/office/drawing/2014/main" id="{D9EEE9CA-710F-5169-0D1F-F1CEA6B97009}"/>
              </a:ext>
            </a:extLst>
          </p:cNvPr>
          <p:cNvSpPr/>
          <p:nvPr/>
        </p:nvSpPr>
        <p:spPr>
          <a:xfrm>
            <a:off x="9908277" y="5058461"/>
            <a:ext cx="214351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Collaborator</a:t>
            </a:r>
          </a:p>
        </p:txBody>
      </p:sp>
      <p:sp>
        <p:nvSpPr>
          <p:cNvPr id="160" name="Rectangle 159">
            <a:extLst>
              <a:ext uri="{FF2B5EF4-FFF2-40B4-BE49-F238E27FC236}">
                <a16:creationId xmlns:a16="http://schemas.microsoft.com/office/drawing/2014/main" id="{4E31FF43-E293-BDF0-65AE-EAE3B6CE90E0}"/>
              </a:ext>
            </a:extLst>
          </p:cNvPr>
          <p:cNvSpPr/>
          <p:nvPr/>
        </p:nvSpPr>
        <p:spPr>
          <a:xfrm>
            <a:off x="9908276" y="5860065"/>
            <a:ext cx="214351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t>
            </a:r>
            <a:r>
              <a:rPr lang="en-US" dirty="0" err="1">
                <a:latin typeface="Calibri" panose="020F0502020204030204" pitchFamily="34" charset="0"/>
                <a:cs typeface="Calibri" panose="020F0502020204030204" pitchFamily="34" charset="0"/>
              </a:rPr>
              <a:t>Responsabile</a:t>
            </a:r>
            <a:endParaRPr lang="en-US" dirty="0">
              <a:latin typeface="Calibri" panose="020F0502020204030204" pitchFamily="34" charset="0"/>
              <a:cs typeface="Calibri" panose="020F0502020204030204" pitchFamily="34" charset="0"/>
            </a:endParaRPr>
          </a:p>
        </p:txBody>
      </p:sp>
      <p:cxnSp>
        <p:nvCxnSpPr>
          <p:cNvPr id="10" name="Elbow Connector 9">
            <a:extLst>
              <a:ext uri="{FF2B5EF4-FFF2-40B4-BE49-F238E27FC236}">
                <a16:creationId xmlns:a16="http://schemas.microsoft.com/office/drawing/2014/main" id="{20081987-E33C-5BE3-1D78-356C3482269F}"/>
              </a:ext>
            </a:extLst>
          </p:cNvPr>
          <p:cNvCxnSpPr>
            <a:cxnSpLocks/>
          </p:cNvCxnSpPr>
          <p:nvPr/>
        </p:nvCxnSpPr>
        <p:spPr>
          <a:xfrm rot="10800000">
            <a:off x="3425972" y="3078338"/>
            <a:ext cx="1420387" cy="391826"/>
          </a:xfrm>
          <a:prstGeom prst="bentConnector3">
            <a:avLst>
              <a:gd name="adj1" fmla="val 430"/>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9468727-50D5-1BBF-691F-3C332EF5F2EB}"/>
              </a:ext>
            </a:extLst>
          </p:cNvPr>
          <p:cNvSpPr txBox="1"/>
          <p:nvPr/>
        </p:nvSpPr>
        <p:spPr>
          <a:xfrm>
            <a:off x="3502116" y="2759585"/>
            <a:ext cx="2005679" cy="338554"/>
          </a:xfrm>
          <a:prstGeom prst="rect">
            <a:avLst/>
          </a:prstGeom>
          <a:noFill/>
        </p:spPr>
        <p:txBody>
          <a:bodyPr wrap="square" rtlCol="0">
            <a:spAutoFit/>
          </a:bodyPr>
          <a:lstStyle/>
          <a:p>
            <a:r>
              <a:rPr lang="en-US" sz="1600" dirty="0">
                <a:solidFill>
                  <a:prstClr val="black"/>
                </a:solidFill>
                <a:latin typeface="Calibri"/>
              </a:rPr>
              <a:t>wrong credentials</a:t>
            </a:r>
          </a:p>
        </p:txBody>
      </p:sp>
    </p:spTree>
    <p:extLst>
      <p:ext uri="{BB962C8B-B14F-4D97-AF65-F5344CB8AC3E}">
        <p14:creationId xmlns:p14="http://schemas.microsoft.com/office/powerpoint/2010/main" val="404006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BFF13-7784-DD92-E1B2-B6B25EAB6E4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139D31B-9E8D-D085-E6D2-18343AFE6ED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(admin)</a:t>
            </a:r>
          </a:p>
        </p:txBody>
      </p:sp>
      <p:sp>
        <p:nvSpPr>
          <p:cNvPr id="2" name="Rectangle 1">
            <a:extLst>
              <a:ext uri="{FF2B5EF4-FFF2-40B4-BE49-F238E27FC236}">
                <a16:creationId xmlns:a16="http://schemas.microsoft.com/office/drawing/2014/main" id="{F19AFED9-47D2-3DEA-075F-88C61DA44688}"/>
              </a:ext>
            </a:extLst>
          </p:cNvPr>
          <p:cNvSpPr/>
          <p:nvPr/>
        </p:nvSpPr>
        <p:spPr>
          <a:xfrm>
            <a:off x="2019271" y="1613117"/>
            <a:ext cx="2830461" cy="49888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5F0FE1EF-3ACB-453F-10F9-7E6DC2BCF4B3}"/>
              </a:ext>
            </a:extLst>
          </p:cNvPr>
          <p:cNvSpPr/>
          <p:nvPr/>
        </p:nvSpPr>
        <p:spPr>
          <a:xfrm>
            <a:off x="2179780" y="3766481"/>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Project Form</a:t>
            </a:r>
          </a:p>
        </p:txBody>
      </p:sp>
      <p:sp>
        <p:nvSpPr>
          <p:cNvPr id="6" name="Oval 5">
            <a:extLst>
              <a:ext uri="{FF2B5EF4-FFF2-40B4-BE49-F238E27FC236}">
                <a16:creationId xmlns:a16="http://schemas.microsoft.com/office/drawing/2014/main" id="{CE400873-2B2B-0183-EE82-264273BCBBE9}"/>
              </a:ext>
            </a:extLst>
          </p:cNvPr>
          <p:cNvSpPr/>
          <p:nvPr/>
        </p:nvSpPr>
        <p:spPr>
          <a:xfrm>
            <a:off x="4727549" y="2594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B275FF8D-0F44-625D-902A-E9E8709542CE}"/>
              </a:ext>
            </a:extLst>
          </p:cNvPr>
          <p:cNvCxnSpPr>
            <a:cxnSpLocks/>
            <a:stCxn id="45" idx="2"/>
            <a:endCxn id="11" idx="5"/>
          </p:cNvCxnSpPr>
          <p:nvPr/>
        </p:nvCxnSpPr>
        <p:spPr>
          <a:xfrm rot="10800000" flipV="1">
            <a:off x="364557" y="3766479"/>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Parallelogram 10">
            <a:extLst>
              <a:ext uri="{FF2B5EF4-FFF2-40B4-BE49-F238E27FC236}">
                <a16:creationId xmlns:a16="http://schemas.microsoft.com/office/drawing/2014/main" id="{F102C7EE-EF99-6EAA-BE45-3F4A8BE002A9}"/>
              </a:ext>
            </a:extLst>
          </p:cNvPr>
          <p:cNvSpPr/>
          <p:nvPr/>
        </p:nvSpPr>
        <p:spPr>
          <a:xfrm>
            <a:off x="282761" y="384942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Project</a:t>
            </a:r>
          </a:p>
        </p:txBody>
      </p:sp>
      <p:cxnSp>
        <p:nvCxnSpPr>
          <p:cNvPr id="12" name="Elbow Connector 11">
            <a:extLst>
              <a:ext uri="{FF2B5EF4-FFF2-40B4-BE49-F238E27FC236}">
                <a16:creationId xmlns:a16="http://schemas.microsoft.com/office/drawing/2014/main" id="{B18D8414-215C-5B25-6561-C09826263B5D}"/>
              </a:ext>
            </a:extLst>
          </p:cNvPr>
          <p:cNvCxnSpPr>
            <a:cxnSpLocks/>
            <a:stCxn id="11" idx="2"/>
          </p:cNvCxnSpPr>
          <p:nvPr/>
        </p:nvCxnSpPr>
        <p:spPr>
          <a:xfrm flipV="1">
            <a:off x="1569118" y="4055113"/>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1C3D15A4-BDE4-9B83-02C2-E9630E5A6F74}"/>
              </a:ext>
            </a:extLst>
          </p:cNvPr>
          <p:cNvSpPr/>
          <p:nvPr/>
        </p:nvSpPr>
        <p:spPr>
          <a:xfrm>
            <a:off x="8482471" y="242875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14" name="Rectangle 13">
            <a:extLst>
              <a:ext uri="{FF2B5EF4-FFF2-40B4-BE49-F238E27FC236}">
                <a16:creationId xmlns:a16="http://schemas.microsoft.com/office/drawing/2014/main" id="{4617F98E-F8B0-239C-DDC3-239DD75934D9}"/>
              </a:ext>
            </a:extLst>
          </p:cNvPr>
          <p:cNvSpPr/>
          <p:nvPr/>
        </p:nvSpPr>
        <p:spPr>
          <a:xfrm>
            <a:off x="6517931" y="1613117"/>
            <a:ext cx="3494289" cy="511153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Verify Projects</a:t>
            </a:r>
          </a:p>
        </p:txBody>
      </p:sp>
      <p:sp>
        <p:nvSpPr>
          <p:cNvPr id="21" name="Parallelogram 20">
            <a:extLst>
              <a:ext uri="{FF2B5EF4-FFF2-40B4-BE49-F238E27FC236}">
                <a16:creationId xmlns:a16="http://schemas.microsoft.com/office/drawing/2014/main" id="{0644236A-3877-9E65-58E4-8833E5F266DE}"/>
              </a:ext>
            </a:extLst>
          </p:cNvPr>
          <p:cNvSpPr/>
          <p:nvPr/>
        </p:nvSpPr>
        <p:spPr>
          <a:xfrm>
            <a:off x="10212714" y="19244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Verify project</a:t>
            </a:r>
          </a:p>
        </p:txBody>
      </p:sp>
      <p:sp>
        <p:nvSpPr>
          <p:cNvPr id="37" name="Rounded Rectangle 36">
            <a:extLst>
              <a:ext uri="{FF2B5EF4-FFF2-40B4-BE49-F238E27FC236}">
                <a16:creationId xmlns:a16="http://schemas.microsoft.com/office/drawing/2014/main" id="{9A478992-E9F9-F931-7746-BD3964ECE335}"/>
              </a:ext>
            </a:extLst>
          </p:cNvPr>
          <p:cNvSpPr/>
          <p:nvPr/>
        </p:nvSpPr>
        <p:spPr>
          <a:xfrm>
            <a:off x="2196732" y="4810385"/>
            <a:ext cx="2387349"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WP Form</a:t>
            </a:r>
          </a:p>
        </p:txBody>
      </p:sp>
      <p:sp>
        <p:nvSpPr>
          <p:cNvPr id="38" name="Rounded Rectangle 37">
            <a:extLst>
              <a:ext uri="{FF2B5EF4-FFF2-40B4-BE49-F238E27FC236}">
                <a16:creationId xmlns:a16="http://schemas.microsoft.com/office/drawing/2014/main" id="{E98A4347-452D-7B21-A36F-B6248BF220E2}"/>
              </a:ext>
            </a:extLst>
          </p:cNvPr>
          <p:cNvSpPr/>
          <p:nvPr/>
        </p:nvSpPr>
        <p:spPr>
          <a:xfrm>
            <a:off x="2196732" y="5902453"/>
            <a:ext cx="2411676"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Task Form</a:t>
            </a:r>
          </a:p>
        </p:txBody>
      </p:sp>
      <p:sp>
        <p:nvSpPr>
          <p:cNvPr id="45" name="Oval 44">
            <a:extLst>
              <a:ext uri="{FF2B5EF4-FFF2-40B4-BE49-F238E27FC236}">
                <a16:creationId xmlns:a16="http://schemas.microsoft.com/office/drawing/2014/main" id="{C4D6B8BB-0816-25B0-4993-F6574A8E5D91}"/>
              </a:ext>
            </a:extLst>
          </p:cNvPr>
          <p:cNvSpPr/>
          <p:nvPr/>
        </p:nvSpPr>
        <p:spPr>
          <a:xfrm>
            <a:off x="2093259" y="36224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DF44920E-2736-7849-A547-DB906394F3EA}"/>
              </a:ext>
            </a:extLst>
          </p:cNvPr>
          <p:cNvSpPr/>
          <p:nvPr/>
        </p:nvSpPr>
        <p:spPr>
          <a:xfrm>
            <a:off x="2089976" y="470556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CAFE5DDE-8557-EBE8-6BEE-FBF5193E3AAD}"/>
              </a:ext>
            </a:extLst>
          </p:cNvPr>
          <p:cNvSpPr/>
          <p:nvPr/>
        </p:nvSpPr>
        <p:spPr>
          <a:xfrm>
            <a:off x="2093783" y="575757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58" name="Elbow Connector 57">
            <a:extLst>
              <a:ext uri="{FF2B5EF4-FFF2-40B4-BE49-F238E27FC236}">
                <a16:creationId xmlns:a16="http://schemas.microsoft.com/office/drawing/2014/main" id="{A6D09323-4A5E-0BA1-B11D-5DAA0CDB57FE}"/>
              </a:ext>
            </a:extLst>
          </p:cNvPr>
          <p:cNvCxnSpPr>
            <a:cxnSpLocks/>
            <a:endCxn id="59" idx="5"/>
          </p:cNvCxnSpPr>
          <p:nvPr/>
        </p:nvCxnSpPr>
        <p:spPr>
          <a:xfrm rot="10800000" flipV="1">
            <a:off x="361274" y="4854246"/>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59" name="Parallelogram 58">
            <a:extLst>
              <a:ext uri="{FF2B5EF4-FFF2-40B4-BE49-F238E27FC236}">
                <a16:creationId xmlns:a16="http://schemas.microsoft.com/office/drawing/2014/main" id="{ADED0630-2C92-5912-81D0-43FF2981A6A1}"/>
              </a:ext>
            </a:extLst>
          </p:cNvPr>
          <p:cNvSpPr/>
          <p:nvPr/>
        </p:nvSpPr>
        <p:spPr>
          <a:xfrm>
            <a:off x="279478" y="4937188"/>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WP</a:t>
            </a:r>
          </a:p>
        </p:txBody>
      </p:sp>
      <p:cxnSp>
        <p:nvCxnSpPr>
          <p:cNvPr id="60" name="Elbow Connector 59">
            <a:extLst>
              <a:ext uri="{FF2B5EF4-FFF2-40B4-BE49-F238E27FC236}">
                <a16:creationId xmlns:a16="http://schemas.microsoft.com/office/drawing/2014/main" id="{6E385B02-6867-1EBD-462C-264C9728F6BE}"/>
              </a:ext>
            </a:extLst>
          </p:cNvPr>
          <p:cNvCxnSpPr>
            <a:cxnSpLocks/>
            <a:stCxn id="59" idx="2"/>
          </p:cNvCxnSpPr>
          <p:nvPr/>
        </p:nvCxnSpPr>
        <p:spPr>
          <a:xfrm flipV="1">
            <a:off x="1565835" y="5142880"/>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2" name="Elbow Connector 61">
            <a:extLst>
              <a:ext uri="{FF2B5EF4-FFF2-40B4-BE49-F238E27FC236}">
                <a16:creationId xmlns:a16="http://schemas.microsoft.com/office/drawing/2014/main" id="{99EAE30A-DE64-0FE1-776B-E5846E395BB1}"/>
              </a:ext>
            </a:extLst>
          </p:cNvPr>
          <p:cNvCxnSpPr>
            <a:cxnSpLocks/>
            <a:endCxn id="63" idx="5"/>
          </p:cNvCxnSpPr>
          <p:nvPr/>
        </p:nvCxnSpPr>
        <p:spPr>
          <a:xfrm rot="10800000" flipV="1">
            <a:off x="361274" y="5907012"/>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63" name="Parallelogram 62">
            <a:extLst>
              <a:ext uri="{FF2B5EF4-FFF2-40B4-BE49-F238E27FC236}">
                <a16:creationId xmlns:a16="http://schemas.microsoft.com/office/drawing/2014/main" id="{B23E39BF-09BD-0CF5-2866-4C5BE33162C1}"/>
              </a:ext>
            </a:extLst>
          </p:cNvPr>
          <p:cNvSpPr/>
          <p:nvPr/>
        </p:nvSpPr>
        <p:spPr>
          <a:xfrm>
            <a:off x="279478" y="5989954"/>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task</a:t>
            </a:r>
          </a:p>
        </p:txBody>
      </p:sp>
      <p:cxnSp>
        <p:nvCxnSpPr>
          <p:cNvPr id="64" name="Elbow Connector 63">
            <a:extLst>
              <a:ext uri="{FF2B5EF4-FFF2-40B4-BE49-F238E27FC236}">
                <a16:creationId xmlns:a16="http://schemas.microsoft.com/office/drawing/2014/main" id="{5891A452-D6E1-1814-EB05-B1DF80598004}"/>
              </a:ext>
            </a:extLst>
          </p:cNvPr>
          <p:cNvCxnSpPr>
            <a:cxnSpLocks/>
            <a:stCxn id="63" idx="2"/>
          </p:cNvCxnSpPr>
          <p:nvPr/>
        </p:nvCxnSpPr>
        <p:spPr>
          <a:xfrm flipV="1">
            <a:off x="1565835" y="6195646"/>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2E1D9C77-93D3-F018-278C-471EDC5F34E4}"/>
              </a:ext>
            </a:extLst>
          </p:cNvPr>
          <p:cNvSpPr txBox="1"/>
          <p:nvPr/>
        </p:nvSpPr>
        <p:spPr>
          <a:xfrm>
            <a:off x="2315303" y="350108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6" name="TextBox 65">
            <a:extLst>
              <a:ext uri="{FF2B5EF4-FFF2-40B4-BE49-F238E27FC236}">
                <a16:creationId xmlns:a16="http://schemas.microsoft.com/office/drawing/2014/main" id="{66D5B2D7-906B-639E-434C-2231A5E1C6B6}"/>
              </a:ext>
            </a:extLst>
          </p:cNvPr>
          <p:cNvSpPr txBox="1"/>
          <p:nvPr/>
        </p:nvSpPr>
        <p:spPr>
          <a:xfrm>
            <a:off x="2312021" y="4538861"/>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7" name="TextBox 66">
            <a:extLst>
              <a:ext uri="{FF2B5EF4-FFF2-40B4-BE49-F238E27FC236}">
                <a16:creationId xmlns:a16="http://schemas.microsoft.com/office/drawing/2014/main" id="{219CF746-E1E7-CB5B-D00E-86114BABB718}"/>
              </a:ext>
            </a:extLst>
          </p:cNvPr>
          <p:cNvSpPr txBox="1"/>
          <p:nvPr/>
        </p:nvSpPr>
        <p:spPr>
          <a:xfrm>
            <a:off x="2312020" y="562753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80" name="TextBox 79">
            <a:extLst>
              <a:ext uri="{FF2B5EF4-FFF2-40B4-BE49-F238E27FC236}">
                <a16:creationId xmlns:a16="http://schemas.microsoft.com/office/drawing/2014/main" id="{72CB1D70-FF1A-CA31-8D71-241858BCA078}"/>
              </a:ext>
            </a:extLst>
          </p:cNvPr>
          <p:cNvSpPr txBox="1"/>
          <p:nvPr/>
        </p:nvSpPr>
        <p:spPr>
          <a:xfrm>
            <a:off x="4819973" y="2296991"/>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verify projects</a:t>
            </a:r>
          </a:p>
        </p:txBody>
      </p:sp>
      <p:cxnSp>
        <p:nvCxnSpPr>
          <p:cNvPr id="81" name="Straight Connector 80">
            <a:extLst>
              <a:ext uri="{FF2B5EF4-FFF2-40B4-BE49-F238E27FC236}">
                <a16:creationId xmlns:a16="http://schemas.microsoft.com/office/drawing/2014/main" id="{B06CFC03-1245-470B-2729-329A9DFC8EDE}"/>
              </a:ext>
            </a:extLst>
          </p:cNvPr>
          <p:cNvCxnSpPr>
            <a:cxnSpLocks/>
            <a:stCxn id="6" idx="6"/>
          </p:cNvCxnSpPr>
          <p:nvPr/>
        </p:nvCxnSpPr>
        <p:spPr>
          <a:xfrm>
            <a:off x="5015581" y="2738679"/>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B51D8BFB-F3F1-BA94-9847-B24BE68B7B0B}"/>
              </a:ext>
            </a:extLst>
          </p:cNvPr>
          <p:cNvSpPr/>
          <p:nvPr/>
        </p:nvSpPr>
        <p:spPr>
          <a:xfrm>
            <a:off x="6360430" y="339764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5" name="TextBox 84">
            <a:extLst>
              <a:ext uri="{FF2B5EF4-FFF2-40B4-BE49-F238E27FC236}">
                <a16:creationId xmlns:a16="http://schemas.microsoft.com/office/drawing/2014/main" id="{6D8D322F-FE80-4B30-75F7-AE4D4ECF351B}"/>
              </a:ext>
            </a:extLst>
          </p:cNvPr>
          <p:cNvSpPr txBox="1"/>
          <p:nvPr/>
        </p:nvSpPr>
        <p:spPr>
          <a:xfrm>
            <a:off x="5737489" y="3265445"/>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home</a:t>
            </a:r>
          </a:p>
        </p:txBody>
      </p:sp>
      <p:cxnSp>
        <p:nvCxnSpPr>
          <p:cNvPr id="86" name="Straight Connector 85">
            <a:extLst>
              <a:ext uri="{FF2B5EF4-FFF2-40B4-BE49-F238E27FC236}">
                <a16:creationId xmlns:a16="http://schemas.microsoft.com/office/drawing/2014/main" id="{D17F0A6B-AEF2-E9B7-6703-7429516759F4}"/>
              </a:ext>
            </a:extLst>
          </p:cNvPr>
          <p:cNvCxnSpPr>
            <a:cxnSpLocks/>
            <a:stCxn id="84" idx="2"/>
          </p:cNvCxnSpPr>
          <p:nvPr/>
        </p:nvCxnSpPr>
        <p:spPr>
          <a:xfrm flipH="1">
            <a:off x="4849732" y="3541658"/>
            <a:ext cx="151069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689DA22A-8DFC-3A13-13B7-739C923CBDBE}"/>
              </a:ext>
            </a:extLst>
          </p:cNvPr>
          <p:cNvSpPr/>
          <p:nvPr/>
        </p:nvSpPr>
        <p:spPr>
          <a:xfrm>
            <a:off x="4727549" y="197233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F3A1A469-FA40-F23B-9410-8830521012DD}"/>
              </a:ext>
            </a:extLst>
          </p:cNvPr>
          <p:cNvSpPr txBox="1"/>
          <p:nvPr/>
        </p:nvSpPr>
        <p:spPr>
          <a:xfrm>
            <a:off x="4819973" y="167465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1" name="Oval 90">
            <a:extLst>
              <a:ext uri="{FF2B5EF4-FFF2-40B4-BE49-F238E27FC236}">
                <a16:creationId xmlns:a16="http://schemas.microsoft.com/office/drawing/2014/main" id="{C84EFAF3-013F-C8EC-96E8-D6294CB7E337}"/>
              </a:ext>
            </a:extLst>
          </p:cNvPr>
          <p:cNvSpPr/>
          <p:nvPr/>
        </p:nvSpPr>
        <p:spPr>
          <a:xfrm>
            <a:off x="6369821" y="385353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6B16DDA0-D5C1-6F77-ACB7-26328C04E31F}"/>
              </a:ext>
            </a:extLst>
          </p:cNvPr>
          <p:cNvSpPr txBox="1"/>
          <p:nvPr/>
        </p:nvSpPr>
        <p:spPr>
          <a:xfrm>
            <a:off x="5668952" y="380970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87190B9D-2D2E-3C23-A379-003418A3CEFA}"/>
              </a:ext>
            </a:extLst>
          </p:cNvPr>
          <p:cNvSpPr/>
          <p:nvPr/>
        </p:nvSpPr>
        <p:spPr>
          <a:xfrm>
            <a:off x="6718425" y="2243246"/>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Projects List</a:t>
            </a:r>
            <a:endParaRPr lang="en-US" sz="1600" dirty="0">
              <a:solidFill>
                <a:schemeClr val="tx1"/>
              </a:solidFill>
              <a:latin typeface="Calibri" panose="020F0502020204030204" pitchFamily="34" charset="0"/>
              <a:cs typeface="Calibri" panose="020F0502020204030204" pitchFamily="34" charset="0"/>
            </a:endParaRPr>
          </a:p>
        </p:txBody>
      </p:sp>
      <p:sp>
        <p:nvSpPr>
          <p:cNvPr id="98" name="Rounded Rectangle 97">
            <a:extLst>
              <a:ext uri="{FF2B5EF4-FFF2-40B4-BE49-F238E27FC236}">
                <a16:creationId xmlns:a16="http://schemas.microsoft.com/office/drawing/2014/main" id="{2F6AC14A-A23D-241A-AF30-4E74962DE7E5}"/>
              </a:ext>
            </a:extLst>
          </p:cNvPr>
          <p:cNvSpPr/>
          <p:nvPr/>
        </p:nvSpPr>
        <p:spPr>
          <a:xfrm>
            <a:off x="6778324" y="2956778"/>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Projects Structure</a:t>
            </a:r>
            <a:endParaRPr lang="en-US" sz="1600" dirty="0">
              <a:solidFill>
                <a:schemeClr val="tx1"/>
              </a:solidFill>
              <a:latin typeface="Calibri" panose="020F0502020204030204" pitchFamily="34" charset="0"/>
              <a:cs typeface="Calibri" panose="020F0502020204030204" pitchFamily="34" charset="0"/>
            </a:endParaRPr>
          </a:p>
        </p:txBody>
      </p:sp>
      <p:grpSp>
        <p:nvGrpSpPr>
          <p:cNvPr id="99" name="Group 98">
            <a:extLst>
              <a:ext uri="{FF2B5EF4-FFF2-40B4-BE49-F238E27FC236}">
                <a16:creationId xmlns:a16="http://schemas.microsoft.com/office/drawing/2014/main" id="{0B3B19F1-0E0C-172C-17DA-03F225D8A04C}"/>
              </a:ext>
            </a:extLst>
          </p:cNvPr>
          <p:cNvGrpSpPr/>
          <p:nvPr/>
        </p:nvGrpSpPr>
        <p:grpSpPr>
          <a:xfrm>
            <a:off x="8959628" y="1814420"/>
            <a:ext cx="1523801" cy="585704"/>
            <a:chOff x="8959628" y="1814420"/>
            <a:chExt cx="1523801" cy="585704"/>
          </a:xfrm>
        </p:grpSpPr>
        <p:sp>
          <p:nvSpPr>
            <p:cNvPr id="94" name="Oval 93">
              <a:extLst>
                <a:ext uri="{FF2B5EF4-FFF2-40B4-BE49-F238E27FC236}">
                  <a16:creationId xmlns:a16="http://schemas.microsoft.com/office/drawing/2014/main" id="{A12F80CD-855D-0D2A-D9B0-63985EDFE7BD}"/>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DCB07CD6-EDA5-8D55-131F-7321B59A5552}"/>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cxnSp>
          <p:nvCxnSpPr>
            <p:cNvPr id="96" name="Straight Connector 95">
              <a:extLst>
                <a:ext uri="{FF2B5EF4-FFF2-40B4-BE49-F238E27FC236}">
                  <a16:creationId xmlns:a16="http://schemas.microsoft.com/office/drawing/2014/main" id="{4DD8565D-E9AA-357E-33DD-647DAAA57573}"/>
                </a:ext>
              </a:extLst>
            </p:cNvPr>
            <p:cNvCxnSpPr>
              <a:cxnSpLocks/>
              <a:stCxn id="94" idx="6"/>
              <a:endCxn id="21" idx="5"/>
            </p:cNvCxnSpPr>
            <p:nvPr/>
          </p:nvCxnSpPr>
          <p:spPr>
            <a:xfrm flipV="1">
              <a:off x="9247660" y="2251662"/>
              <a:ext cx="1046849"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101" name="Elbow Connector 100">
            <a:extLst>
              <a:ext uri="{FF2B5EF4-FFF2-40B4-BE49-F238E27FC236}">
                <a16:creationId xmlns:a16="http://schemas.microsoft.com/office/drawing/2014/main" id="{1E334096-AAAB-87F0-B308-A85E7E805B2C}"/>
              </a:ext>
            </a:extLst>
          </p:cNvPr>
          <p:cNvCxnSpPr>
            <a:cxnSpLocks/>
            <a:stCxn id="21" idx="3"/>
          </p:cNvCxnSpPr>
          <p:nvPr/>
        </p:nvCxnSpPr>
        <p:spPr>
          <a:xfrm rot="5400000">
            <a:off x="9817309" y="1942104"/>
            <a:ext cx="611597" cy="188507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398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442B-9F99-C4B7-0639-11841833437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5B63991-572C-F546-3E02-88C01F0E86D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(responsabile)</a:t>
            </a:r>
          </a:p>
        </p:txBody>
      </p:sp>
      <p:sp>
        <p:nvSpPr>
          <p:cNvPr id="2" name="Rectangle 1">
            <a:extLst>
              <a:ext uri="{FF2B5EF4-FFF2-40B4-BE49-F238E27FC236}">
                <a16:creationId xmlns:a16="http://schemas.microsoft.com/office/drawing/2014/main" id="{27F68F27-D6C2-1629-6422-A13289BDDC1C}"/>
              </a:ext>
            </a:extLst>
          </p:cNvPr>
          <p:cNvSpPr/>
          <p:nvPr/>
        </p:nvSpPr>
        <p:spPr>
          <a:xfrm>
            <a:off x="2019271" y="1613117"/>
            <a:ext cx="2830461" cy="49888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E58AE25F-CA2C-0A70-0DE7-B04440D27AEC}"/>
              </a:ext>
            </a:extLst>
          </p:cNvPr>
          <p:cNvSpPr/>
          <p:nvPr/>
        </p:nvSpPr>
        <p:spPr>
          <a:xfrm>
            <a:off x="2179780" y="3766481"/>
            <a:ext cx="2402248" cy="60211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Managed Tasks</a:t>
            </a:r>
          </a:p>
          <a:p>
            <a:pPr algn="ctr"/>
            <a:r>
              <a:rPr lang="en-US" dirty="0">
                <a:solidFill>
                  <a:schemeClr val="tx1"/>
                </a:solidFill>
                <a:latin typeface="Calibri" panose="020F0502020204030204" pitchFamily="34" charset="0"/>
                <a:cs typeface="Calibri" panose="020F0502020204030204" pitchFamily="34" charset="0"/>
              </a:rPr>
              <a:t>List + Form</a:t>
            </a:r>
          </a:p>
        </p:txBody>
      </p:sp>
      <p:sp>
        <p:nvSpPr>
          <p:cNvPr id="6" name="Oval 5">
            <a:extLst>
              <a:ext uri="{FF2B5EF4-FFF2-40B4-BE49-F238E27FC236}">
                <a16:creationId xmlns:a16="http://schemas.microsoft.com/office/drawing/2014/main" id="{211951AB-7A27-3807-0972-AC29F98498CD}"/>
              </a:ext>
            </a:extLst>
          </p:cNvPr>
          <p:cNvSpPr/>
          <p:nvPr/>
        </p:nvSpPr>
        <p:spPr>
          <a:xfrm>
            <a:off x="4727549" y="2594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EB7AD75E-A3D6-838B-D1E2-8FC40EC4EFA0}"/>
              </a:ext>
            </a:extLst>
          </p:cNvPr>
          <p:cNvCxnSpPr>
            <a:cxnSpLocks/>
            <a:stCxn id="45" idx="2"/>
            <a:endCxn id="11" idx="5"/>
          </p:cNvCxnSpPr>
          <p:nvPr/>
        </p:nvCxnSpPr>
        <p:spPr>
          <a:xfrm rot="10800000" flipV="1">
            <a:off x="364557" y="3766479"/>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Parallelogram 10">
            <a:extLst>
              <a:ext uri="{FF2B5EF4-FFF2-40B4-BE49-F238E27FC236}">
                <a16:creationId xmlns:a16="http://schemas.microsoft.com/office/drawing/2014/main" id="{1ECDC917-F81D-FF3E-7E54-B7DDFACB26B6}"/>
              </a:ext>
            </a:extLst>
          </p:cNvPr>
          <p:cNvSpPr/>
          <p:nvPr/>
        </p:nvSpPr>
        <p:spPr>
          <a:xfrm>
            <a:off x="282761" y="384942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Home</a:t>
            </a:r>
          </a:p>
        </p:txBody>
      </p:sp>
      <p:cxnSp>
        <p:nvCxnSpPr>
          <p:cNvPr id="12" name="Elbow Connector 11">
            <a:extLst>
              <a:ext uri="{FF2B5EF4-FFF2-40B4-BE49-F238E27FC236}">
                <a16:creationId xmlns:a16="http://schemas.microsoft.com/office/drawing/2014/main" id="{ED76F2C7-F36A-BD44-3129-4BAD1DDC563A}"/>
              </a:ext>
            </a:extLst>
          </p:cNvPr>
          <p:cNvCxnSpPr>
            <a:cxnSpLocks/>
            <a:stCxn id="11" idx="2"/>
          </p:cNvCxnSpPr>
          <p:nvPr/>
        </p:nvCxnSpPr>
        <p:spPr>
          <a:xfrm flipV="1">
            <a:off x="1569118" y="4055113"/>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17E9E28A-23F7-D046-F8FE-9DFD98EC550D}"/>
              </a:ext>
            </a:extLst>
          </p:cNvPr>
          <p:cNvSpPr/>
          <p:nvPr/>
        </p:nvSpPr>
        <p:spPr>
          <a:xfrm>
            <a:off x="8482471" y="242875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14" name="Rectangle 13">
            <a:extLst>
              <a:ext uri="{FF2B5EF4-FFF2-40B4-BE49-F238E27FC236}">
                <a16:creationId xmlns:a16="http://schemas.microsoft.com/office/drawing/2014/main" id="{A0B36409-875C-4F9C-14A3-3796B6BA069A}"/>
              </a:ext>
            </a:extLst>
          </p:cNvPr>
          <p:cNvSpPr/>
          <p:nvPr/>
        </p:nvSpPr>
        <p:spPr>
          <a:xfrm>
            <a:off x="6517931" y="1613118"/>
            <a:ext cx="3494289" cy="229737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Monitor Projects</a:t>
            </a:r>
          </a:p>
        </p:txBody>
      </p:sp>
      <p:sp>
        <p:nvSpPr>
          <p:cNvPr id="21" name="Parallelogram 20">
            <a:extLst>
              <a:ext uri="{FF2B5EF4-FFF2-40B4-BE49-F238E27FC236}">
                <a16:creationId xmlns:a16="http://schemas.microsoft.com/office/drawing/2014/main" id="{633CF42E-A0A5-1BA9-B468-4FC6A54F2986}"/>
              </a:ext>
            </a:extLst>
          </p:cNvPr>
          <p:cNvSpPr/>
          <p:nvPr/>
        </p:nvSpPr>
        <p:spPr>
          <a:xfrm>
            <a:off x="10336539" y="19244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Monitor Projects</a:t>
            </a:r>
          </a:p>
        </p:txBody>
      </p:sp>
      <p:sp>
        <p:nvSpPr>
          <p:cNvPr id="37" name="Rounded Rectangle 36">
            <a:extLst>
              <a:ext uri="{FF2B5EF4-FFF2-40B4-BE49-F238E27FC236}">
                <a16:creationId xmlns:a16="http://schemas.microsoft.com/office/drawing/2014/main" id="{3C8E622E-EDF4-E244-8076-485ED2BB097B}"/>
              </a:ext>
            </a:extLst>
          </p:cNvPr>
          <p:cNvSpPr/>
          <p:nvPr/>
        </p:nvSpPr>
        <p:spPr>
          <a:xfrm>
            <a:off x="2196732" y="4810385"/>
            <a:ext cx="2387349"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Task Assignment Form</a:t>
            </a:r>
          </a:p>
        </p:txBody>
      </p:sp>
      <p:sp>
        <p:nvSpPr>
          <p:cNvPr id="45" name="Oval 44">
            <a:extLst>
              <a:ext uri="{FF2B5EF4-FFF2-40B4-BE49-F238E27FC236}">
                <a16:creationId xmlns:a16="http://schemas.microsoft.com/office/drawing/2014/main" id="{5E469F4E-74F6-68CC-E685-C0BE9E6E833E}"/>
              </a:ext>
            </a:extLst>
          </p:cNvPr>
          <p:cNvSpPr/>
          <p:nvPr/>
        </p:nvSpPr>
        <p:spPr>
          <a:xfrm>
            <a:off x="2093259" y="36224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54876444-35AB-DAA2-59A2-8EDF424546F8}"/>
              </a:ext>
            </a:extLst>
          </p:cNvPr>
          <p:cNvSpPr/>
          <p:nvPr/>
        </p:nvSpPr>
        <p:spPr>
          <a:xfrm>
            <a:off x="2089976" y="470556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58" name="Elbow Connector 57">
            <a:extLst>
              <a:ext uri="{FF2B5EF4-FFF2-40B4-BE49-F238E27FC236}">
                <a16:creationId xmlns:a16="http://schemas.microsoft.com/office/drawing/2014/main" id="{03577C2B-77F7-01C4-3313-B230264E4C84}"/>
              </a:ext>
            </a:extLst>
          </p:cNvPr>
          <p:cNvCxnSpPr>
            <a:cxnSpLocks/>
            <a:endCxn id="59" idx="5"/>
          </p:cNvCxnSpPr>
          <p:nvPr/>
        </p:nvCxnSpPr>
        <p:spPr>
          <a:xfrm rot="10800000" flipV="1">
            <a:off x="361274" y="4854246"/>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59" name="Parallelogram 58">
            <a:extLst>
              <a:ext uri="{FF2B5EF4-FFF2-40B4-BE49-F238E27FC236}">
                <a16:creationId xmlns:a16="http://schemas.microsoft.com/office/drawing/2014/main" id="{279E0FB7-C40C-E456-0D12-75CE47976DB4}"/>
              </a:ext>
            </a:extLst>
          </p:cNvPr>
          <p:cNvSpPr/>
          <p:nvPr/>
        </p:nvSpPr>
        <p:spPr>
          <a:xfrm>
            <a:off x="279478" y="4937188"/>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60" name="Elbow Connector 59">
            <a:extLst>
              <a:ext uri="{FF2B5EF4-FFF2-40B4-BE49-F238E27FC236}">
                <a16:creationId xmlns:a16="http://schemas.microsoft.com/office/drawing/2014/main" id="{2E25FE3A-BB27-98A4-D897-3B3E9736B2F5}"/>
              </a:ext>
            </a:extLst>
          </p:cNvPr>
          <p:cNvCxnSpPr>
            <a:cxnSpLocks/>
            <a:stCxn id="59" idx="2"/>
          </p:cNvCxnSpPr>
          <p:nvPr/>
        </p:nvCxnSpPr>
        <p:spPr>
          <a:xfrm flipV="1">
            <a:off x="1565835" y="5142880"/>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CFF4A2F2-3B71-EB18-3E05-463CAB9373F5}"/>
              </a:ext>
            </a:extLst>
          </p:cNvPr>
          <p:cNvSpPr txBox="1"/>
          <p:nvPr/>
        </p:nvSpPr>
        <p:spPr>
          <a:xfrm>
            <a:off x="2315303" y="350108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6" name="TextBox 65">
            <a:extLst>
              <a:ext uri="{FF2B5EF4-FFF2-40B4-BE49-F238E27FC236}">
                <a16:creationId xmlns:a16="http://schemas.microsoft.com/office/drawing/2014/main" id="{5F3BD5ED-122F-D7A7-70A6-8B09671446D8}"/>
              </a:ext>
            </a:extLst>
          </p:cNvPr>
          <p:cNvSpPr txBox="1"/>
          <p:nvPr/>
        </p:nvSpPr>
        <p:spPr>
          <a:xfrm>
            <a:off x="2312021" y="4538861"/>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80" name="TextBox 79">
            <a:extLst>
              <a:ext uri="{FF2B5EF4-FFF2-40B4-BE49-F238E27FC236}">
                <a16:creationId xmlns:a16="http://schemas.microsoft.com/office/drawing/2014/main" id="{94C135CC-AA15-008C-356D-B79808824571}"/>
              </a:ext>
            </a:extLst>
          </p:cNvPr>
          <p:cNvSpPr txBox="1"/>
          <p:nvPr/>
        </p:nvSpPr>
        <p:spPr>
          <a:xfrm>
            <a:off x="4819972" y="2296991"/>
            <a:ext cx="168447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monitor</a:t>
            </a:r>
            <a:r>
              <a:rPr lang="en-US" sz="1600" dirty="0">
                <a:solidFill>
                  <a:prstClr val="black"/>
                </a:solidFill>
                <a:latin typeface="Calibri" panose="020F0502020204030204" pitchFamily="34" charset="0"/>
                <a:cs typeface="Calibri" panose="020F0502020204030204" pitchFamily="34" charset="0"/>
              </a:rPr>
              <a:t> projects</a:t>
            </a:r>
          </a:p>
        </p:txBody>
      </p:sp>
      <p:cxnSp>
        <p:nvCxnSpPr>
          <p:cNvPr id="81" name="Straight Connector 80">
            <a:extLst>
              <a:ext uri="{FF2B5EF4-FFF2-40B4-BE49-F238E27FC236}">
                <a16:creationId xmlns:a16="http://schemas.microsoft.com/office/drawing/2014/main" id="{881DCADA-8AB0-2C8A-F719-619B03C4CE9C}"/>
              </a:ext>
            </a:extLst>
          </p:cNvPr>
          <p:cNvCxnSpPr>
            <a:cxnSpLocks/>
            <a:stCxn id="6" idx="6"/>
          </p:cNvCxnSpPr>
          <p:nvPr/>
        </p:nvCxnSpPr>
        <p:spPr>
          <a:xfrm>
            <a:off x="5015581" y="2738679"/>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D7CE74AB-1FEA-01B3-FD1C-D8B395F6FACC}"/>
              </a:ext>
            </a:extLst>
          </p:cNvPr>
          <p:cNvSpPr/>
          <p:nvPr/>
        </p:nvSpPr>
        <p:spPr>
          <a:xfrm>
            <a:off x="4727549" y="197233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15A41EFF-CC68-B1C9-C83C-2D07B020EFB0}"/>
              </a:ext>
            </a:extLst>
          </p:cNvPr>
          <p:cNvSpPr txBox="1"/>
          <p:nvPr/>
        </p:nvSpPr>
        <p:spPr>
          <a:xfrm>
            <a:off x="4819973" y="167465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1" name="Oval 90">
            <a:extLst>
              <a:ext uri="{FF2B5EF4-FFF2-40B4-BE49-F238E27FC236}">
                <a16:creationId xmlns:a16="http://schemas.microsoft.com/office/drawing/2014/main" id="{4B28F78C-7CBB-B225-4159-63CCFCBB88D7}"/>
              </a:ext>
            </a:extLst>
          </p:cNvPr>
          <p:cNvSpPr/>
          <p:nvPr/>
        </p:nvSpPr>
        <p:spPr>
          <a:xfrm>
            <a:off x="6369821" y="354588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3F533B70-4F70-97E1-382D-E13ACDB52CDE}"/>
              </a:ext>
            </a:extLst>
          </p:cNvPr>
          <p:cNvSpPr txBox="1"/>
          <p:nvPr/>
        </p:nvSpPr>
        <p:spPr>
          <a:xfrm>
            <a:off x="5668952" y="354478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ED2A92B3-A0E1-80D5-699C-E469DA96C988}"/>
              </a:ext>
            </a:extLst>
          </p:cNvPr>
          <p:cNvSpPr/>
          <p:nvPr/>
        </p:nvSpPr>
        <p:spPr>
          <a:xfrm>
            <a:off x="7026074" y="2081452"/>
            <a:ext cx="2081490" cy="61577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Managed Projects List + Form</a:t>
            </a:r>
            <a:endParaRPr lang="en-US" sz="1600" dirty="0">
              <a:solidFill>
                <a:schemeClr val="tx1"/>
              </a:solidFill>
              <a:latin typeface="Calibri" panose="020F0502020204030204" pitchFamily="34" charset="0"/>
              <a:cs typeface="Calibri" panose="020F0502020204030204" pitchFamily="34" charset="0"/>
            </a:endParaRPr>
          </a:p>
        </p:txBody>
      </p:sp>
      <p:sp>
        <p:nvSpPr>
          <p:cNvPr id="98" name="Rounded Rectangle 97">
            <a:extLst>
              <a:ext uri="{FF2B5EF4-FFF2-40B4-BE49-F238E27FC236}">
                <a16:creationId xmlns:a16="http://schemas.microsoft.com/office/drawing/2014/main" id="{61D1BD69-58A6-996A-E4A6-9820A96BF988}"/>
              </a:ext>
            </a:extLst>
          </p:cNvPr>
          <p:cNvSpPr/>
          <p:nvPr/>
        </p:nvSpPr>
        <p:spPr>
          <a:xfrm>
            <a:off x="6993102" y="3071080"/>
            <a:ext cx="2081490" cy="5861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 Monthly Report + Form</a:t>
            </a:r>
            <a:endParaRPr lang="en-US" sz="1600" dirty="0">
              <a:solidFill>
                <a:schemeClr val="tx1"/>
              </a:solidFill>
              <a:latin typeface="Calibri" panose="020F0502020204030204" pitchFamily="34" charset="0"/>
              <a:cs typeface="Calibri" panose="020F0502020204030204" pitchFamily="34" charset="0"/>
            </a:endParaRPr>
          </a:p>
        </p:txBody>
      </p:sp>
      <p:grpSp>
        <p:nvGrpSpPr>
          <p:cNvPr id="99" name="Group 98">
            <a:extLst>
              <a:ext uri="{FF2B5EF4-FFF2-40B4-BE49-F238E27FC236}">
                <a16:creationId xmlns:a16="http://schemas.microsoft.com/office/drawing/2014/main" id="{A8FD712C-4142-7314-E052-750079DC74B4}"/>
              </a:ext>
            </a:extLst>
          </p:cNvPr>
          <p:cNvGrpSpPr/>
          <p:nvPr/>
        </p:nvGrpSpPr>
        <p:grpSpPr>
          <a:xfrm>
            <a:off x="8959628" y="1814420"/>
            <a:ext cx="1523801" cy="585704"/>
            <a:chOff x="8959628" y="1814420"/>
            <a:chExt cx="1523801" cy="585704"/>
          </a:xfrm>
        </p:grpSpPr>
        <p:sp>
          <p:nvSpPr>
            <p:cNvPr id="94" name="Oval 93">
              <a:extLst>
                <a:ext uri="{FF2B5EF4-FFF2-40B4-BE49-F238E27FC236}">
                  <a16:creationId xmlns:a16="http://schemas.microsoft.com/office/drawing/2014/main" id="{64DD2405-795E-CB30-5031-724AB5585073}"/>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DC90F47C-5991-857F-5FBB-6813E299BF28}"/>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96" name="Straight Connector 95">
              <a:extLst>
                <a:ext uri="{FF2B5EF4-FFF2-40B4-BE49-F238E27FC236}">
                  <a16:creationId xmlns:a16="http://schemas.microsoft.com/office/drawing/2014/main" id="{2B34E785-26AC-F530-347E-21C5142A4D13}"/>
                </a:ext>
              </a:extLst>
            </p:cNvPr>
            <p:cNvCxnSpPr>
              <a:cxnSpLocks/>
              <a:stCxn id="94" idx="6"/>
              <a:endCxn id="21" idx="5"/>
            </p:cNvCxnSpPr>
            <p:nvPr/>
          </p:nvCxnSpPr>
          <p:spPr>
            <a:xfrm flipV="1">
              <a:off x="9247660" y="2251662"/>
              <a:ext cx="1170674"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5" name="Oval 4">
            <a:extLst>
              <a:ext uri="{FF2B5EF4-FFF2-40B4-BE49-F238E27FC236}">
                <a16:creationId xmlns:a16="http://schemas.microsoft.com/office/drawing/2014/main" id="{CB7A8328-6E61-EFD7-E105-85DFDDAE25E5}"/>
              </a:ext>
            </a:extLst>
          </p:cNvPr>
          <p:cNvSpPr/>
          <p:nvPr/>
        </p:nvSpPr>
        <p:spPr>
          <a:xfrm>
            <a:off x="8482471" y="4955188"/>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8" name="Rectangle 7">
            <a:extLst>
              <a:ext uri="{FF2B5EF4-FFF2-40B4-BE49-F238E27FC236}">
                <a16:creationId xmlns:a16="http://schemas.microsoft.com/office/drawing/2014/main" id="{18C4390E-497F-6CE8-4ADE-8443CB1184ED}"/>
              </a:ext>
            </a:extLst>
          </p:cNvPr>
          <p:cNvSpPr/>
          <p:nvPr/>
        </p:nvSpPr>
        <p:spPr>
          <a:xfrm>
            <a:off x="6517931" y="4139556"/>
            <a:ext cx="3494289" cy="260734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Monitor Collaborators</a:t>
            </a:r>
          </a:p>
        </p:txBody>
      </p:sp>
      <p:sp>
        <p:nvSpPr>
          <p:cNvPr id="9" name="Parallelogram 8">
            <a:extLst>
              <a:ext uri="{FF2B5EF4-FFF2-40B4-BE49-F238E27FC236}">
                <a16:creationId xmlns:a16="http://schemas.microsoft.com/office/drawing/2014/main" id="{CCC3D77E-B478-585A-0BD0-14B015676E5C}"/>
              </a:ext>
            </a:extLst>
          </p:cNvPr>
          <p:cNvSpPr/>
          <p:nvPr/>
        </p:nvSpPr>
        <p:spPr>
          <a:xfrm>
            <a:off x="10212713" y="4450920"/>
            <a:ext cx="1972209"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Monitor Collaborators</a:t>
            </a:r>
          </a:p>
        </p:txBody>
      </p:sp>
      <p:sp>
        <p:nvSpPr>
          <p:cNvPr id="17" name="Oval 16">
            <a:extLst>
              <a:ext uri="{FF2B5EF4-FFF2-40B4-BE49-F238E27FC236}">
                <a16:creationId xmlns:a16="http://schemas.microsoft.com/office/drawing/2014/main" id="{11A10ABC-3725-7175-9D15-2C3296FE9FDF}"/>
              </a:ext>
            </a:extLst>
          </p:cNvPr>
          <p:cNvSpPr/>
          <p:nvPr/>
        </p:nvSpPr>
        <p:spPr>
          <a:xfrm>
            <a:off x="6369821" y="63799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C806846-8B5F-EDCC-8406-5D6B7169C024}"/>
              </a:ext>
            </a:extLst>
          </p:cNvPr>
          <p:cNvSpPr txBox="1"/>
          <p:nvPr/>
        </p:nvSpPr>
        <p:spPr>
          <a:xfrm>
            <a:off x="5668952" y="633613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9" name="Rounded Rectangle 18">
            <a:extLst>
              <a:ext uri="{FF2B5EF4-FFF2-40B4-BE49-F238E27FC236}">
                <a16:creationId xmlns:a16="http://schemas.microsoft.com/office/drawing/2014/main" id="{82A595A6-9F10-BE43-6ABE-5AE4E89A345F}"/>
              </a:ext>
            </a:extLst>
          </p:cNvPr>
          <p:cNvSpPr/>
          <p:nvPr/>
        </p:nvSpPr>
        <p:spPr>
          <a:xfrm>
            <a:off x="6718425" y="4769684"/>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Collaborators</a:t>
            </a:r>
          </a:p>
          <a:p>
            <a:pPr algn="ctr"/>
            <a:r>
              <a:rPr lang="en-US" dirty="0">
                <a:solidFill>
                  <a:schemeClr val="tx1"/>
                </a:solidFill>
                <a:latin typeface="Calibri" panose="020F0502020204030204" pitchFamily="34" charset="0"/>
                <a:cs typeface="Calibri" panose="020F0502020204030204" pitchFamily="34" charset="0"/>
              </a:rPr>
              <a:t>List + Form</a:t>
            </a:r>
          </a:p>
        </p:txBody>
      </p:sp>
      <p:sp>
        <p:nvSpPr>
          <p:cNvPr id="20" name="Rounded Rectangle 19">
            <a:extLst>
              <a:ext uri="{FF2B5EF4-FFF2-40B4-BE49-F238E27FC236}">
                <a16:creationId xmlns:a16="http://schemas.microsoft.com/office/drawing/2014/main" id="{BCE23658-A87C-22A9-788E-0D365D070CD0}"/>
              </a:ext>
            </a:extLst>
          </p:cNvPr>
          <p:cNvSpPr/>
          <p:nvPr/>
        </p:nvSpPr>
        <p:spPr>
          <a:xfrm>
            <a:off x="6778324" y="5483216"/>
            <a:ext cx="2402248" cy="62386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Collaborator Hours Report</a:t>
            </a:r>
            <a:endParaRPr lang="en-US" sz="1600" dirty="0">
              <a:solidFill>
                <a:schemeClr val="tx1"/>
              </a:solidFill>
              <a:latin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C8BCB8E6-3E3D-D12E-693B-633394B645CB}"/>
              </a:ext>
            </a:extLst>
          </p:cNvPr>
          <p:cNvGrpSpPr/>
          <p:nvPr/>
        </p:nvGrpSpPr>
        <p:grpSpPr>
          <a:xfrm>
            <a:off x="8959628" y="4340858"/>
            <a:ext cx="1523801" cy="585704"/>
            <a:chOff x="8959628" y="1814420"/>
            <a:chExt cx="1523801" cy="585704"/>
          </a:xfrm>
        </p:grpSpPr>
        <p:sp>
          <p:nvSpPr>
            <p:cNvPr id="23" name="Oval 22">
              <a:extLst>
                <a:ext uri="{FF2B5EF4-FFF2-40B4-BE49-F238E27FC236}">
                  <a16:creationId xmlns:a16="http://schemas.microsoft.com/office/drawing/2014/main" id="{1D44705B-0F73-E491-5CF5-D68FA1B5032F}"/>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D9F725EA-2E47-705B-0EEB-46E7D81D625E}"/>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25" name="Straight Connector 24">
              <a:extLst>
                <a:ext uri="{FF2B5EF4-FFF2-40B4-BE49-F238E27FC236}">
                  <a16:creationId xmlns:a16="http://schemas.microsoft.com/office/drawing/2014/main" id="{8E9A9B05-29B0-F829-0FD3-7C5E7D1FA64A}"/>
                </a:ext>
              </a:extLst>
            </p:cNvPr>
            <p:cNvCxnSpPr>
              <a:cxnSpLocks/>
              <a:stCxn id="23" idx="6"/>
              <a:endCxn id="9" idx="5"/>
            </p:cNvCxnSpPr>
            <p:nvPr/>
          </p:nvCxnSpPr>
          <p:spPr>
            <a:xfrm flipV="1">
              <a:off x="9247660" y="2251662"/>
              <a:ext cx="1046848"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26" name="Elbow Connector 25">
            <a:extLst>
              <a:ext uri="{FF2B5EF4-FFF2-40B4-BE49-F238E27FC236}">
                <a16:creationId xmlns:a16="http://schemas.microsoft.com/office/drawing/2014/main" id="{8B726FE7-0B93-27D0-60CE-E46691B830E0}"/>
              </a:ext>
            </a:extLst>
          </p:cNvPr>
          <p:cNvCxnSpPr>
            <a:cxnSpLocks/>
            <a:stCxn id="9" idx="3"/>
          </p:cNvCxnSpPr>
          <p:nvPr/>
        </p:nvCxnSpPr>
        <p:spPr>
          <a:xfrm rot="5400000">
            <a:off x="10313012" y="4787536"/>
            <a:ext cx="486268" cy="112175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9905D6B-D387-F09B-4AFF-CD62A01E2F17}"/>
              </a:ext>
            </a:extLst>
          </p:cNvPr>
          <p:cNvSpPr/>
          <p:nvPr/>
        </p:nvSpPr>
        <p:spPr>
          <a:xfrm>
            <a:off x="4727549" y="52163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9F38829B-B978-D544-8F79-2F614BBB64B1}"/>
              </a:ext>
            </a:extLst>
          </p:cNvPr>
          <p:cNvSpPr txBox="1"/>
          <p:nvPr/>
        </p:nvSpPr>
        <p:spPr>
          <a:xfrm>
            <a:off x="4819972" y="4700042"/>
            <a:ext cx="1684473"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monitor</a:t>
            </a:r>
            <a:r>
              <a:rPr lang="en-US" sz="1600" dirty="0">
                <a:solidFill>
                  <a:prstClr val="black"/>
                </a:solidFill>
                <a:latin typeface="Calibri" panose="020F0502020204030204" pitchFamily="34" charset="0"/>
                <a:cs typeface="Calibri" panose="020F0502020204030204" pitchFamily="34" charset="0"/>
              </a:rPr>
              <a:t> collaborators</a:t>
            </a:r>
          </a:p>
        </p:txBody>
      </p:sp>
      <p:cxnSp>
        <p:nvCxnSpPr>
          <p:cNvPr id="33" name="Straight Connector 32">
            <a:extLst>
              <a:ext uri="{FF2B5EF4-FFF2-40B4-BE49-F238E27FC236}">
                <a16:creationId xmlns:a16="http://schemas.microsoft.com/office/drawing/2014/main" id="{D417BF55-95EA-1613-B3B0-3013A1BAFEBA}"/>
              </a:ext>
            </a:extLst>
          </p:cNvPr>
          <p:cNvCxnSpPr>
            <a:cxnSpLocks/>
            <a:stCxn id="31" idx="6"/>
          </p:cNvCxnSpPr>
          <p:nvPr/>
        </p:nvCxnSpPr>
        <p:spPr>
          <a:xfrm>
            <a:off x="5015581" y="5360392"/>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876724B4-F4E0-42CC-2FC2-6B5E3E0818DD}"/>
              </a:ext>
            </a:extLst>
          </p:cNvPr>
          <p:cNvSpPr txBox="1"/>
          <p:nvPr/>
        </p:nvSpPr>
        <p:spPr>
          <a:xfrm>
            <a:off x="206968" y="4951383"/>
            <a:ext cx="14313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Save assignment</a:t>
            </a:r>
          </a:p>
        </p:txBody>
      </p:sp>
      <p:cxnSp>
        <p:nvCxnSpPr>
          <p:cNvPr id="77" name="Straight Connector 76">
            <a:extLst>
              <a:ext uri="{FF2B5EF4-FFF2-40B4-BE49-F238E27FC236}">
                <a16:creationId xmlns:a16="http://schemas.microsoft.com/office/drawing/2014/main" id="{9A5C21C4-5E72-551E-BE94-F496F9103CBC}"/>
              </a:ext>
            </a:extLst>
          </p:cNvPr>
          <p:cNvCxnSpPr>
            <a:cxnSpLocks/>
          </p:cNvCxnSpPr>
          <p:nvPr/>
        </p:nvCxnSpPr>
        <p:spPr>
          <a:xfrm flipH="1">
            <a:off x="10012220" y="2428750"/>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3" name="Parallelogram 92">
            <a:extLst>
              <a:ext uri="{FF2B5EF4-FFF2-40B4-BE49-F238E27FC236}">
                <a16:creationId xmlns:a16="http://schemas.microsoft.com/office/drawing/2014/main" id="{CEC47881-C494-CFB8-5548-D66140739CCA}"/>
              </a:ext>
            </a:extLst>
          </p:cNvPr>
          <p:cNvSpPr/>
          <p:nvPr/>
        </p:nvSpPr>
        <p:spPr>
          <a:xfrm>
            <a:off x="10315477" y="2795917"/>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Conclude Project</a:t>
            </a:r>
          </a:p>
        </p:txBody>
      </p:sp>
      <p:grpSp>
        <p:nvGrpSpPr>
          <p:cNvPr id="100" name="Group 99">
            <a:extLst>
              <a:ext uri="{FF2B5EF4-FFF2-40B4-BE49-F238E27FC236}">
                <a16:creationId xmlns:a16="http://schemas.microsoft.com/office/drawing/2014/main" id="{441D4AD6-A1E5-1122-E946-C3F6A2B740E6}"/>
              </a:ext>
            </a:extLst>
          </p:cNvPr>
          <p:cNvGrpSpPr/>
          <p:nvPr/>
        </p:nvGrpSpPr>
        <p:grpSpPr>
          <a:xfrm>
            <a:off x="8959628" y="2663349"/>
            <a:ext cx="1574921" cy="522842"/>
            <a:chOff x="9023554" y="1791914"/>
            <a:chExt cx="1574921" cy="522842"/>
          </a:xfrm>
        </p:grpSpPr>
        <p:sp>
          <p:nvSpPr>
            <p:cNvPr id="102" name="Oval 101">
              <a:extLst>
                <a:ext uri="{FF2B5EF4-FFF2-40B4-BE49-F238E27FC236}">
                  <a16:creationId xmlns:a16="http://schemas.microsoft.com/office/drawing/2014/main" id="{E68A181B-E12A-704E-9E3A-32116E60E51C}"/>
                </a:ext>
              </a:extLst>
            </p:cNvPr>
            <p:cNvSpPr/>
            <p:nvPr/>
          </p:nvSpPr>
          <p:spPr>
            <a:xfrm>
              <a:off x="9023554" y="202672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03" name="TextBox 102">
              <a:extLst>
                <a:ext uri="{FF2B5EF4-FFF2-40B4-BE49-F238E27FC236}">
                  <a16:creationId xmlns:a16="http://schemas.microsoft.com/office/drawing/2014/main" id="{EB0EE688-19FC-E7D3-EAC7-6616BF49D2B3}"/>
                </a:ext>
              </a:extLst>
            </p:cNvPr>
            <p:cNvSpPr txBox="1"/>
            <p:nvPr/>
          </p:nvSpPr>
          <p:spPr>
            <a:xfrm>
              <a:off x="9167098" y="1791914"/>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grpSp>
      <p:cxnSp>
        <p:nvCxnSpPr>
          <p:cNvPr id="105" name="Straight Connector 104">
            <a:extLst>
              <a:ext uri="{FF2B5EF4-FFF2-40B4-BE49-F238E27FC236}">
                <a16:creationId xmlns:a16="http://schemas.microsoft.com/office/drawing/2014/main" id="{80DDF800-5A00-A4D7-B4C1-097F5CFEC3C6}"/>
              </a:ext>
            </a:extLst>
          </p:cNvPr>
          <p:cNvCxnSpPr>
            <a:cxnSpLocks/>
          </p:cNvCxnSpPr>
          <p:nvPr/>
        </p:nvCxnSpPr>
        <p:spPr>
          <a:xfrm flipH="1">
            <a:off x="10005446" y="3300185"/>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AA0A5658-E35D-C15C-8C73-06AEC1DFF0E8}"/>
              </a:ext>
            </a:extLst>
          </p:cNvPr>
          <p:cNvCxnSpPr>
            <a:cxnSpLocks/>
          </p:cNvCxnSpPr>
          <p:nvPr/>
        </p:nvCxnSpPr>
        <p:spPr>
          <a:xfrm flipV="1">
            <a:off x="9246232" y="3045002"/>
            <a:ext cx="1170674"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1387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6DF2-3343-EA91-FFD1-2BB4D2CE16A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7E8DA7F5-1FE4-AA3E-D89E-2E31E7CE6E3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t>
            </a:r>
            <a:r>
              <a:rPr lang="en-US" noProof="1"/>
              <a:t>collaboratore</a:t>
            </a:r>
            <a:r>
              <a:rPr lang="en-US" noProof="1">
                <a:latin typeface="Calibri" panose="020F0502020204030204" pitchFamily="34" charset="0"/>
                <a:cs typeface="Calibri" panose="020F0502020204030204" pitchFamily="34" charset="0"/>
              </a:rPr>
              <a:t>)</a:t>
            </a:r>
          </a:p>
        </p:txBody>
      </p:sp>
      <p:sp>
        <p:nvSpPr>
          <p:cNvPr id="2" name="Rectangle 1">
            <a:extLst>
              <a:ext uri="{FF2B5EF4-FFF2-40B4-BE49-F238E27FC236}">
                <a16:creationId xmlns:a16="http://schemas.microsoft.com/office/drawing/2014/main" id="{9AE66AB7-C6BF-E9B1-6751-AB6D4B032451}"/>
              </a:ext>
            </a:extLst>
          </p:cNvPr>
          <p:cNvSpPr/>
          <p:nvPr/>
        </p:nvSpPr>
        <p:spPr>
          <a:xfrm>
            <a:off x="1486969" y="1613117"/>
            <a:ext cx="3362764" cy="489877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1CF80160-96AA-3CC8-7768-9483F4C3BAD3}"/>
              </a:ext>
            </a:extLst>
          </p:cNvPr>
          <p:cNvSpPr/>
          <p:nvPr/>
        </p:nvSpPr>
        <p:spPr>
          <a:xfrm>
            <a:off x="2205418" y="2415724"/>
            <a:ext cx="2402248" cy="55919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Assigned Projects</a:t>
            </a:r>
          </a:p>
          <a:p>
            <a:pPr algn="ctr"/>
            <a:r>
              <a:rPr lang="en-US" dirty="0">
                <a:solidFill>
                  <a:schemeClr val="tx1"/>
                </a:solidFill>
                <a:latin typeface="Calibri" panose="020F0502020204030204" pitchFamily="34" charset="0"/>
                <a:cs typeface="Calibri" panose="020F0502020204030204" pitchFamily="34" charset="0"/>
              </a:rPr>
              <a:t>List</a:t>
            </a:r>
          </a:p>
        </p:txBody>
      </p:sp>
      <p:sp>
        <p:nvSpPr>
          <p:cNvPr id="21" name="Parallelogram 20">
            <a:extLst>
              <a:ext uri="{FF2B5EF4-FFF2-40B4-BE49-F238E27FC236}">
                <a16:creationId xmlns:a16="http://schemas.microsoft.com/office/drawing/2014/main" id="{659F8DBF-392F-69C5-5EDA-681C660DF9C0}"/>
              </a:ext>
            </a:extLst>
          </p:cNvPr>
          <p:cNvSpPr/>
          <p:nvPr/>
        </p:nvSpPr>
        <p:spPr>
          <a:xfrm>
            <a:off x="5158703" y="2088543"/>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Home</a:t>
            </a:r>
          </a:p>
        </p:txBody>
      </p:sp>
      <p:sp>
        <p:nvSpPr>
          <p:cNvPr id="37" name="Rounded Rectangle 36">
            <a:extLst>
              <a:ext uri="{FF2B5EF4-FFF2-40B4-BE49-F238E27FC236}">
                <a16:creationId xmlns:a16="http://schemas.microsoft.com/office/drawing/2014/main" id="{70454902-B30C-8E41-1580-E58D95E08CD7}"/>
              </a:ext>
            </a:extLst>
          </p:cNvPr>
          <p:cNvSpPr/>
          <p:nvPr/>
        </p:nvSpPr>
        <p:spPr>
          <a:xfrm>
            <a:off x="2222370" y="3459627"/>
            <a:ext cx="2387349" cy="55945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Assigned WP</a:t>
            </a:r>
          </a:p>
          <a:p>
            <a:pPr algn="ctr"/>
            <a:r>
              <a:rPr lang="en-US" dirty="0">
                <a:solidFill>
                  <a:schemeClr val="tx1"/>
                </a:solidFill>
                <a:latin typeface="Calibri" panose="020F0502020204030204" pitchFamily="34" charset="0"/>
                <a:cs typeface="Calibri" panose="020F0502020204030204" pitchFamily="34" charset="0"/>
              </a:rPr>
              <a:t>and Task List</a:t>
            </a:r>
          </a:p>
        </p:txBody>
      </p:sp>
      <p:sp>
        <p:nvSpPr>
          <p:cNvPr id="45" name="Oval 44">
            <a:extLst>
              <a:ext uri="{FF2B5EF4-FFF2-40B4-BE49-F238E27FC236}">
                <a16:creationId xmlns:a16="http://schemas.microsoft.com/office/drawing/2014/main" id="{C85685A4-ECB3-E4D9-1E13-2AA2FB244A2F}"/>
              </a:ext>
            </a:extLst>
          </p:cNvPr>
          <p:cNvSpPr/>
          <p:nvPr/>
        </p:nvSpPr>
        <p:spPr>
          <a:xfrm>
            <a:off x="4417720" y="22717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212DB914-AF23-8C45-4D91-5E3C69A912D3}"/>
              </a:ext>
            </a:extLst>
          </p:cNvPr>
          <p:cNvSpPr/>
          <p:nvPr/>
        </p:nvSpPr>
        <p:spPr>
          <a:xfrm>
            <a:off x="4414437" y="33120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4A07A882-250A-3E6E-2964-56D1D3D06E05}"/>
              </a:ext>
            </a:extLst>
          </p:cNvPr>
          <p:cNvSpPr txBox="1"/>
          <p:nvPr/>
        </p:nvSpPr>
        <p:spPr>
          <a:xfrm>
            <a:off x="3921914" y="2150326"/>
            <a:ext cx="54373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cxnSp>
        <p:nvCxnSpPr>
          <p:cNvPr id="96" name="Straight Connector 95">
            <a:extLst>
              <a:ext uri="{FF2B5EF4-FFF2-40B4-BE49-F238E27FC236}">
                <a16:creationId xmlns:a16="http://schemas.microsoft.com/office/drawing/2014/main" id="{21FBDDE1-E41A-AD4F-3AAE-9F66FDC64ABE}"/>
              </a:ext>
            </a:extLst>
          </p:cNvPr>
          <p:cNvCxnSpPr>
            <a:cxnSpLocks/>
            <a:endCxn id="21" idx="5"/>
          </p:cNvCxnSpPr>
          <p:nvPr/>
        </p:nvCxnSpPr>
        <p:spPr>
          <a:xfrm>
            <a:off x="4693470" y="2415723"/>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4D22258-63A7-568D-4E0A-AC899870EC56}"/>
              </a:ext>
            </a:extLst>
          </p:cNvPr>
          <p:cNvSpPr txBox="1"/>
          <p:nvPr/>
        </p:nvSpPr>
        <p:spPr>
          <a:xfrm>
            <a:off x="642084" y="6267297"/>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7" name="Oval 16">
            <a:extLst>
              <a:ext uri="{FF2B5EF4-FFF2-40B4-BE49-F238E27FC236}">
                <a16:creationId xmlns:a16="http://schemas.microsoft.com/office/drawing/2014/main" id="{6A203394-7398-0A38-920D-107489A5F387}"/>
              </a:ext>
            </a:extLst>
          </p:cNvPr>
          <p:cNvSpPr/>
          <p:nvPr/>
        </p:nvSpPr>
        <p:spPr>
          <a:xfrm>
            <a:off x="1342953" y="63111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F2F11F3C-937A-273A-17DC-D17398CF5A6D}"/>
              </a:ext>
            </a:extLst>
          </p:cNvPr>
          <p:cNvSpPr/>
          <p:nvPr/>
        </p:nvSpPr>
        <p:spPr>
          <a:xfrm>
            <a:off x="2179780" y="4450920"/>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Task Timesheet</a:t>
            </a:r>
            <a:endParaRPr lang="en-US" sz="1600" dirty="0">
              <a:solidFill>
                <a:schemeClr val="tx1"/>
              </a:solidFill>
              <a:latin typeface="Calibri" panose="020F0502020204030204" pitchFamily="34" charset="0"/>
              <a:cs typeface="Calibri" panose="020F0502020204030204" pitchFamily="34" charset="0"/>
            </a:endParaRPr>
          </a:p>
        </p:txBody>
      </p:sp>
      <p:sp>
        <p:nvSpPr>
          <p:cNvPr id="20" name="Rounded Rectangle 19">
            <a:extLst>
              <a:ext uri="{FF2B5EF4-FFF2-40B4-BE49-F238E27FC236}">
                <a16:creationId xmlns:a16="http://schemas.microsoft.com/office/drawing/2014/main" id="{A9576B92-6608-7D9A-47E9-74FC23CC85F9}"/>
              </a:ext>
            </a:extLst>
          </p:cNvPr>
          <p:cNvSpPr/>
          <p:nvPr/>
        </p:nvSpPr>
        <p:spPr>
          <a:xfrm>
            <a:off x="2205418" y="5533059"/>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Log Hours Form</a:t>
            </a:r>
            <a:endParaRPr lang="en-US" sz="1600" dirty="0">
              <a:solidFill>
                <a:schemeClr val="tx1"/>
              </a:solidFill>
              <a:latin typeface="Calibri" panose="020F0502020204030204" pitchFamily="34" charset="0"/>
              <a:cs typeface="Calibri" panose="020F0502020204030204" pitchFamily="34" charset="0"/>
            </a:endParaRPr>
          </a:p>
        </p:txBody>
      </p:sp>
      <p:cxnSp>
        <p:nvCxnSpPr>
          <p:cNvPr id="77" name="Straight Connector 76">
            <a:extLst>
              <a:ext uri="{FF2B5EF4-FFF2-40B4-BE49-F238E27FC236}">
                <a16:creationId xmlns:a16="http://schemas.microsoft.com/office/drawing/2014/main" id="{7B6EF71A-47FA-6F18-B69C-06CD41A381A3}"/>
              </a:ext>
            </a:extLst>
          </p:cNvPr>
          <p:cNvCxnSpPr>
            <a:cxnSpLocks/>
          </p:cNvCxnSpPr>
          <p:nvPr/>
        </p:nvCxnSpPr>
        <p:spPr>
          <a:xfrm flipH="1">
            <a:off x="4834384" y="2592811"/>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EEADEEE8-9815-2A6C-84A3-B3F8A376FD98}"/>
              </a:ext>
            </a:extLst>
          </p:cNvPr>
          <p:cNvSpPr/>
          <p:nvPr/>
        </p:nvSpPr>
        <p:spPr>
          <a:xfrm>
            <a:off x="4414437" y="539025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777089B8-BCC9-195A-D0F6-40AC52109AD1}"/>
              </a:ext>
            </a:extLst>
          </p:cNvPr>
          <p:cNvSpPr txBox="1"/>
          <p:nvPr/>
        </p:nvSpPr>
        <p:spPr>
          <a:xfrm>
            <a:off x="3687896" y="5223557"/>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30" name="Parallelogram 29">
            <a:extLst>
              <a:ext uri="{FF2B5EF4-FFF2-40B4-BE49-F238E27FC236}">
                <a16:creationId xmlns:a16="http://schemas.microsoft.com/office/drawing/2014/main" id="{A22C6D63-9D5D-C203-CEBA-1E881B7802FB}"/>
              </a:ext>
            </a:extLst>
          </p:cNvPr>
          <p:cNvSpPr/>
          <p:nvPr/>
        </p:nvSpPr>
        <p:spPr>
          <a:xfrm>
            <a:off x="5158703" y="3135830"/>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Home</a:t>
            </a:r>
          </a:p>
        </p:txBody>
      </p:sp>
      <p:cxnSp>
        <p:nvCxnSpPr>
          <p:cNvPr id="34" name="Straight Connector 33">
            <a:extLst>
              <a:ext uri="{FF2B5EF4-FFF2-40B4-BE49-F238E27FC236}">
                <a16:creationId xmlns:a16="http://schemas.microsoft.com/office/drawing/2014/main" id="{F5B0142B-ED05-4C4C-2D77-8B5203200A4F}"/>
              </a:ext>
            </a:extLst>
          </p:cNvPr>
          <p:cNvCxnSpPr>
            <a:cxnSpLocks/>
            <a:endCxn id="30" idx="5"/>
          </p:cNvCxnSpPr>
          <p:nvPr/>
        </p:nvCxnSpPr>
        <p:spPr>
          <a:xfrm>
            <a:off x="4693470" y="3463010"/>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9EFF7C9-2A4B-3E92-5AAC-A53A92FDBCD8}"/>
              </a:ext>
            </a:extLst>
          </p:cNvPr>
          <p:cNvCxnSpPr>
            <a:cxnSpLocks/>
          </p:cNvCxnSpPr>
          <p:nvPr/>
        </p:nvCxnSpPr>
        <p:spPr>
          <a:xfrm flipH="1">
            <a:off x="4834384" y="3640098"/>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0" name="Parallelogram 39">
            <a:extLst>
              <a:ext uri="{FF2B5EF4-FFF2-40B4-BE49-F238E27FC236}">
                <a16:creationId xmlns:a16="http://schemas.microsoft.com/office/drawing/2014/main" id="{F9DE0F9E-790F-A6AB-8FB2-90F6901344D8}"/>
              </a:ext>
            </a:extLst>
          </p:cNvPr>
          <p:cNvSpPr/>
          <p:nvPr/>
        </p:nvSpPr>
        <p:spPr>
          <a:xfrm>
            <a:off x="5163668" y="52135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Log Hours</a:t>
            </a:r>
            <a:endParaRPr lang="en-US" dirty="0">
              <a:latin typeface="Calibri" panose="020F0502020204030204" pitchFamily="34" charset="0"/>
              <a:cs typeface="Calibri" panose="020F0502020204030204" pitchFamily="34" charset="0"/>
            </a:endParaRPr>
          </a:p>
        </p:txBody>
      </p:sp>
      <p:cxnSp>
        <p:nvCxnSpPr>
          <p:cNvPr id="41" name="Straight Connector 40">
            <a:extLst>
              <a:ext uri="{FF2B5EF4-FFF2-40B4-BE49-F238E27FC236}">
                <a16:creationId xmlns:a16="http://schemas.microsoft.com/office/drawing/2014/main" id="{957581A5-0A2F-00DE-6BE5-A3DDC7B696C7}"/>
              </a:ext>
            </a:extLst>
          </p:cNvPr>
          <p:cNvCxnSpPr>
            <a:cxnSpLocks/>
            <a:endCxn id="40" idx="5"/>
          </p:cNvCxnSpPr>
          <p:nvPr/>
        </p:nvCxnSpPr>
        <p:spPr>
          <a:xfrm>
            <a:off x="4698435" y="5540762"/>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1C517EC-B9EB-F74C-A23F-AEB290BFF0F3}"/>
              </a:ext>
            </a:extLst>
          </p:cNvPr>
          <p:cNvCxnSpPr>
            <a:cxnSpLocks/>
          </p:cNvCxnSpPr>
          <p:nvPr/>
        </p:nvCxnSpPr>
        <p:spPr>
          <a:xfrm flipH="1">
            <a:off x="4847895" y="5717850"/>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7F39DC0C-3B6C-FB47-5999-6B60F9411510}"/>
              </a:ext>
            </a:extLst>
          </p:cNvPr>
          <p:cNvSpPr txBox="1"/>
          <p:nvPr/>
        </p:nvSpPr>
        <p:spPr>
          <a:xfrm>
            <a:off x="3921913" y="3182284"/>
            <a:ext cx="54373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spTree>
    <p:extLst>
      <p:ext uri="{BB962C8B-B14F-4D97-AF65-F5344CB8AC3E}">
        <p14:creationId xmlns:p14="http://schemas.microsoft.com/office/powerpoint/2010/main" val="3723455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6F77-5BE1-517C-3BD2-6AE5CF28111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A96E6479-5C43-A5C2-8E9E-FF9C8B3A0D5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Components</a:t>
            </a:r>
          </a:p>
        </p:txBody>
      </p:sp>
      <p:sp>
        <p:nvSpPr>
          <p:cNvPr id="5" name="Google Shape;136;p26">
            <a:extLst>
              <a:ext uri="{FF2B5EF4-FFF2-40B4-BE49-F238E27FC236}">
                <a16:creationId xmlns:a16="http://schemas.microsoft.com/office/drawing/2014/main" id="{A159ABF4-F961-7978-1356-84B1748C90E3}"/>
              </a:ext>
            </a:extLst>
          </p:cNvPr>
          <p:cNvSpPr txBox="1">
            <a:spLocks/>
          </p:cNvSpPr>
          <p:nvPr/>
        </p:nvSpPr>
        <p:spPr>
          <a:xfrm>
            <a:off x="426632" y="1401833"/>
            <a:ext cx="2834684"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Model objects</a:t>
            </a:r>
          </a:p>
          <a:p>
            <a:pPr marL="0" indent="0" algn="just">
              <a:spcBef>
                <a:spcPts val="0"/>
              </a:spcBef>
              <a:buClr>
                <a:srgbClr val="000000"/>
              </a:buClr>
              <a:buSzPts val="1100"/>
              <a:buNone/>
            </a:pPr>
            <a:r>
              <a:rPr lang="en-US" sz="1700" kern="0" noProof="1">
                <a:solidFill>
                  <a:schemeClr val="tx1"/>
                </a:solidFill>
              </a:rPr>
              <a:t>Entity beans</a:t>
            </a:r>
          </a:p>
          <a:p>
            <a:pPr marL="285750" indent="-285750" algn="just">
              <a:spcBef>
                <a:spcPts val="0"/>
              </a:spcBef>
              <a:buClr>
                <a:srgbClr val="000000"/>
              </a:buClr>
              <a:buSzPts val="1100"/>
            </a:pPr>
            <a:r>
              <a:rPr lang="en-US" sz="1500" kern="0" noProof="1">
                <a:solidFill>
                  <a:schemeClr val="tx1"/>
                </a:solidFill>
              </a:rPr>
              <a:t>Project</a:t>
            </a:r>
          </a:p>
          <a:p>
            <a:pPr marL="285750" indent="-285750" algn="just">
              <a:spcBef>
                <a:spcPts val="0"/>
              </a:spcBef>
              <a:buClr>
                <a:srgbClr val="000000"/>
              </a:buClr>
              <a:buSzPts val="1100"/>
            </a:pPr>
            <a:r>
              <a:rPr lang="en-US" sz="1500" kern="0" noProof="1">
                <a:solidFill>
                  <a:schemeClr val="tx1"/>
                </a:solidFill>
              </a:rPr>
              <a:t>Task</a:t>
            </a:r>
          </a:p>
          <a:p>
            <a:pPr marL="285750" indent="-285750" algn="just">
              <a:spcBef>
                <a:spcPts val="0"/>
              </a:spcBef>
              <a:buClr>
                <a:srgbClr val="000000"/>
              </a:buClr>
              <a:buSzPts val="1100"/>
            </a:pPr>
            <a:r>
              <a:rPr lang="en-US" sz="1500" kern="0" noProof="1">
                <a:solidFill>
                  <a:schemeClr val="tx1"/>
                </a:solidFill>
              </a:rPr>
              <a:t>User</a:t>
            </a:r>
          </a:p>
          <a:p>
            <a:pPr marL="285750" indent="-285750" algn="just">
              <a:spcBef>
                <a:spcPts val="0"/>
              </a:spcBef>
              <a:buClr>
                <a:srgbClr val="000000"/>
              </a:buClr>
              <a:buSzPts val="1100"/>
            </a:pPr>
            <a:r>
              <a:rPr lang="en-US" sz="1500" kern="0" noProof="1">
                <a:solidFill>
                  <a:schemeClr val="tx1"/>
                </a:solidFill>
              </a:rPr>
              <a:t>WP</a:t>
            </a:r>
          </a:p>
          <a:p>
            <a:pPr marL="0" indent="0" algn="just">
              <a:spcBef>
                <a:spcPts val="1200"/>
              </a:spcBef>
              <a:buClr>
                <a:srgbClr val="000000"/>
              </a:buClr>
              <a:buSzPts val="1100"/>
              <a:buNone/>
            </a:pPr>
            <a:r>
              <a:rPr lang="en-US" sz="1700" kern="0" noProof="1">
                <a:solidFill>
                  <a:schemeClr val="tx1"/>
                </a:solidFill>
              </a:rPr>
              <a:t>Enums</a:t>
            </a:r>
          </a:p>
          <a:p>
            <a:pPr marL="285750" indent="-285750" algn="just">
              <a:spcBef>
                <a:spcPts val="0"/>
              </a:spcBef>
              <a:buClr>
                <a:srgbClr val="000000"/>
              </a:buClr>
              <a:buSzPts val="1100"/>
            </a:pPr>
            <a:r>
              <a:rPr lang="en-US" sz="1500" kern="0" noProof="1">
                <a:solidFill>
                  <a:schemeClr val="tx1"/>
                </a:solidFill>
              </a:rPr>
              <a:t>ProjectStatus</a:t>
            </a:r>
          </a:p>
          <a:p>
            <a:pPr marL="285750" indent="-285750" algn="just">
              <a:spcBef>
                <a:spcPts val="0"/>
              </a:spcBef>
              <a:buClr>
                <a:srgbClr val="000000"/>
              </a:buClr>
              <a:buSzPts val="1100"/>
            </a:pPr>
            <a:r>
              <a:rPr lang="en-US" sz="1500" kern="0" noProof="1">
                <a:solidFill>
                  <a:schemeClr val="tx1"/>
                </a:solidFill>
              </a:rPr>
              <a:t>UserRole</a:t>
            </a:r>
          </a:p>
          <a:p>
            <a:pPr marL="0" indent="0" algn="just">
              <a:spcBef>
                <a:spcPts val="1200"/>
              </a:spcBef>
              <a:buClr>
                <a:srgbClr val="000000"/>
              </a:buClr>
              <a:buSzPts val="1100"/>
              <a:buNone/>
            </a:pPr>
            <a:r>
              <a:rPr lang="en-US" sz="1700" kern="0" noProof="1">
                <a:solidFill>
                  <a:schemeClr val="tx1"/>
                </a:solidFill>
              </a:rPr>
              <a:t>Login bean</a:t>
            </a:r>
          </a:p>
          <a:p>
            <a:pPr marL="285750" indent="-285750" algn="just">
              <a:spcBef>
                <a:spcPts val="0"/>
              </a:spcBef>
              <a:buClr>
                <a:srgbClr val="000000"/>
              </a:buClr>
              <a:buSzPts val="1100"/>
            </a:pPr>
            <a:r>
              <a:rPr lang="en-US" sz="1500" kern="0" noProof="1">
                <a:solidFill>
                  <a:schemeClr val="tx1"/>
                </a:solidFill>
              </a:rPr>
              <a:t>UserLogin</a:t>
            </a:r>
          </a:p>
          <a:p>
            <a:pPr marL="0" indent="0" algn="just">
              <a:spcBef>
                <a:spcPts val="1200"/>
              </a:spcBef>
              <a:buClr>
                <a:srgbClr val="000000"/>
              </a:buClr>
              <a:buSzPts val="1100"/>
              <a:buNone/>
            </a:pPr>
            <a:r>
              <a:rPr lang="en-US" sz="1700" kern="0" noProof="1">
                <a:solidFill>
                  <a:schemeClr val="tx1"/>
                </a:solidFill>
              </a:rPr>
              <a:t>Report beans</a:t>
            </a:r>
          </a:p>
          <a:p>
            <a:pPr marL="285750" indent="-285750" algn="just">
              <a:spcBef>
                <a:spcPts val="0"/>
              </a:spcBef>
              <a:buClr>
                <a:srgbClr val="000000"/>
              </a:buClr>
              <a:buSzPts val="1100"/>
            </a:pPr>
            <a:r>
              <a:rPr lang="en-US" sz="1500" kern="0" noProof="1">
                <a:solidFill>
                  <a:schemeClr val="tx1"/>
                </a:solidFill>
              </a:rPr>
              <a:t>ProjectMonthlyReport</a:t>
            </a:r>
          </a:p>
          <a:p>
            <a:pPr marL="285750" indent="-285750" algn="just">
              <a:spcBef>
                <a:spcPts val="0"/>
              </a:spcBef>
              <a:buClr>
                <a:srgbClr val="000000"/>
              </a:buClr>
              <a:buSzPts val="1100"/>
            </a:pPr>
            <a:r>
              <a:rPr lang="en-US" sz="1500" kern="0" noProof="1">
                <a:solidFill>
                  <a:schemeClr val="tx1"/>
                </a:solidFill>
              </a:rPr>
              <a:t>ProjectStructure</a:t>
            </a:r>
          </a:p>
          <a:p>
            <a:pPr marL="285750" indent="-285750" algn="just">
              <a:spcBef>
                <a:spcPts val="0"/>
              </a:spcBef>
              <a:buClr>
                <a:srgbClr val="000000"/>
              </a:buClr>
              <a:buSzPts val="1100"/>
            </a:pPr>
            <a:r>
              <a:rPr lang="en-US" sz="1500" kern="0" noProof="1">
                <a:solidFill>
                  <a:schemeClr val="tx1"/>
                </a:solidFill>
              </a:rPr>
              <a:t>TaskMonthlyReport</a:t>
            </a:r>
          </a:p>
          <a:p>
            <a:pPr marL="285750" indent="-285750" algn="just">
              <a:spcBef>
                <a:spcPts val="0"/>
              </a:spcBef>
              <a:buClr>
                <a:srgbClr val="000000"/>
              </a:buClr>
              <a:buSzPts val="1100"/>
            </a:pPr>
            <a:r>
              <a:rPr lang="en-US" sz="1500" kern="0" noProof="1">
                <a:solidFill>
                  <a:schemeClr val="tx1"/>
                </a:solidFill>
              </a:rPr>
              <a:t>TaskWithHours</a:t>
            </a:r>
          </a:p>
          <a:p>
            <a:pPr marL="285750" indent="-285750" algn="just">
              <a:spcBef>
                <a:spcPts val="0"/>
              </a:spcBef>
              <a:buClr>
                <a:srgbClr val="000000"/>
              </a:buClr>
              <a:buSzPts val="1100"/>
            </a:pPr>
            <a:r>
              <a:rPr lang="en-US" sz="1500" kern="0" noProof="1">
                <a:solidFill>
                  <a:schemeClr val="tx1"/>
                </a:solidFill>
              </a:rPr>
              <a:t>WPMonthlyReport</a:t>
            </a:r>
          </a:p>
          <a:p>
            <a:pPr marL="285750" indent="-285750" algn="just">
              <a:spcBef>
                <a:spcPts val="0"/>
              </a:spcBef>
              <a:buClr>
                <a:srgbClr val="000000"/>
              </a:buClr>
              <a:buSzPts val="1100"/>
            </a:pPr>
            <a:r>
              <a:rPr lang="en-US" sz="1500" kern="0" noProof="1">
                <a:solidFill>
                  <a:schemeClr val="tx1"/>
                </a:solidFill>
              </a:rPr>
              <a:t>WPWithTasks</a:t>
            </a:r>
          </a:p>
          <a:p>
            <a:pPr marL="285750" indent="-285750" algn="just">
              <a:spcBef>
                <a:spcPts val="0"/>
              </a:spcBef>
              <a:buClr>
                <a:srgbClr val="000000"/>
              </a:buClr>
              <a:buSzPts val="1100"/>
            </a:pPr>
            <a:endParaRPr lang="en-US" sz="1500" kern="0" noProof="1">
              <a:solidFill>
                <a:schemeClr val="tx1"/>
              </a:solidFill>
            </a:endParaRPr>
          </a:p>
          <a:p>
            <a:pPr marL="285750" indent="-285750" algn="just">
              <a:spcBef>
                <a:spcPts val="0"/>
              </a:spcBef>
              <a:buClr>
                <a:srgbClr val="000000"/>
              </a:buClr>
              <a:buSzPts val="1100"/>
            </a:pPr>
            <a:endParaRPr lang="en-US" sz="1500" kern="0" noProof="1">
              <a:solidFill>
                <a:schemeClr val="tx1"/>
              </a:solidFill>
            </a:endParaRPr>
          </a:p>
        </p:txBody>
      </p:sp>
      <p:sp>
        <p:nvSpPr>
          <p:cNvPr id="2" name="Google Shape;136;p26">
            <a:extLst>
              <a:ext uri="{FF2B5EF4-FFF2-40B4-BE49-F238E27FC236}">
                <a16:creationId xmlns:a16="http://schemas.microsoft.com/office/drawing/2014/main" id="{3FA0DE2D-9C85-BDB9-F799-765D26915BE6}"/>
              </a:ext>
            </a:extLst>
          </p:cNvPr>
          <p:cNvSpPr txBox="1">
            <a:spLocks/>
          </p:cNvSpPr>
          <p:nvPr/>
        </p:nvSpPr>
        <p:spPr>
          <a:xfrm>
            <a:off x="2905570" y="1400535"/>
            <a:ext cx="8859798" cy="2445072"/>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700" kern="0" noProof="1">
                <a:solidFill>
                  <a:schemeClr val="tx1"/>
                </a:solidFill>
              </a:rPr>
              <a:t>Data Access Objects (Classes)</a:t>
            </a:r>
          </a:p>
          <a:p>
            <a:pPr marL="285750" indent="-285750">
              <a:spcBef>
                <a:spcPts val="0"/>
              </a:spcBef>
              <a:spcAft>
                <a:spcPts val="600"/>
              </a:spcAft>
              <a:buClr>
                <a:srgbClr val="000000"/>
              </a:buClr>
              <a:buSzPts val="1100"/>
            </a:pPr>
            <a:r>
              <a:rPr lang="en-US" sz="1500" kern="0" noProof="1">
                <a:solidFill>
                  <a:schemeClr val="tx1"/>
                </a:solidFill>
              </a:rPr>
              <a:t>UserDAO: autenticazione, recupero utenti ruoli.</a:t>
            </a:r>
          </a:p>
          <a:p>
            <a:pPr marL="285750" indent="-285750">
              <a:spcBef>
                <a:spcPts val="0"/>
              </a:spcBef>
              <a:spcAft>
                <a:spcPts val="600"/>
              </a:spcAft>
              <a:buClr>
                <a:srgbClr val="000000"/>
              </a:buClr>
              <a:buSzPts val="1100"/>
            </a:pPr>
            <a:r>
              <a:rPr lang="en-US" sz="1500" kern="0" noProof="1">
                <a:solidFill>
                  <a:schemeClr val="tx1"/>
                </a:solidFill>
              </a:rPr>
              <a:t>ProjectDAO: creazione progetto, recupero per amministratore/responsabile/collaboratore, cambio stato, controlli di assegnabilità e conclusione.</a:t>
            </a:r>
          </a:p>
          <a:p>
            <a:pPr marL="285750" indent="-285750">
              <a:spcBef>
                <a:spcPts val="0"/>
              </a:spcBef>
              <a:spcAft>
                <a:spcPts val="600"/>
              </a:spcAft>
              <a:buClr>
                <a:srgbClr val="000000"/>
              </a:buClr>
              <a:buSzPts val="1100"/>
            </a:pPr>
            <a:r>
              <a:rPr lang="en-US" sz="1500" kern="0" noProof="1">
                <a:solidFill>
                  <a:schemeClr val="tx1"/>
                </a:solidFill>
              </a:rPr>
              <a:t>WPDAO: creazione WP e recupero WP per progetto, amministratore, responsabile e collaboratore.</a:t>
            </a:r>
          </a:p>
          <a:p>
            <a:pPr marL="285750" indent="-285750">
              <a:spcBef>
                <a:spcPts val="0"/>
              </a:spcBef>
              <a:spcAft>
                <a:spcPts val="600"/>
              </a:spcAft>
              <a:buClr>
                <a:srgbClr val="000000"/>
              </a:buClr>
              <a:buSzPts val="1100"/>
            </a:pPr>
            <a:r>
              <a:rPr lang="en-US" sz="1500" kern="0" noProof="1">
                <a:solidFill>
                  <a:schemeClr val="tx1"/>
                </a:solidFill>
              </a:rPr>
              <a:t>TaskDAO: creazione task, recupero task assegnati o gestiti, gestione collaboratori assegnati ai task.</a:t>
            </a:r>
          </a:p>
          <a:p>
            <a:pPr marL="285750" indent="-285750">
              <a:spcBef>
                <a:spcPts val="0"/>
              </a:spcBef>
              <a:spcAft>
                <a:spcPts val="600"/>
              </a:spcAft>
              <a:buClr>
                <a:srgbClr val="000000"/>
              </a:buClr>
              <a:buSzPts val="1100"/>
            </a:pPr>
            <a:r>
              <a:rPr lang="en-US" sz="1500" kern="0" noProof="1">
                <a:solidFill>
                  <a:schemeClr val="tx1"/>
                </a:solidFill>
              </a:rPr>
              <a:t>TaskHoursDAO: lettura/scrittura ore previste e lavorate.</a:t>
            </a:r>
          </a:p>
          <a:p>
            <a:pPr marL="285750" indent="-285750">
              <a:spcBef>
                <a:spcPts val="0"/>
              </a:spcBef>
              <a:spcAft>
                <a:spcPts val="600"/>
              </a:spcAft>
              <a:buClr>
                <a:srgbClr val="000000"/>
              </a:buClr>
              <a:buSzPts val="1100"/>
            </a:pPr>
            <a:r>
              <a:rPr lang="en-US" sz="1500" kern="0" noProof="1">
                <a:solidFill>
                  <a:schemeClr val="tx1"/>
                </a:solidFill>
              </a:rPr>
              <a:t>ProjectReportDAO: costruzione dei report gerarchici e mensili.</a:t>
            </a:r>
          </a:p>
          <a:p>
            <a:pPr marL="0" indent="0">
              <a:spcBef>
                <a:spcPts val="0"/>
              </a:spcBef>
              <a:buClr>
                <a:srgbClr val="000000"/>
              </a:buClr>
              <a:buSzPts val="1100"/>
              <a:buNone/>
            </a:pPr>
            <a:endParaRPr lang="en-US" sz="1500" kern="0" noProof="1">
              <a:solidFill>
                <a:schemeClr val="tx1"/>
              </a:solidFill>
            </a:endParaRPr>
          </a:p>
        </p:txBody>
      </p:sp>
      <p:sp>
        <p:nvSpPr>
          <p:cNvPr id="7" name="Google Shape;136;p26">
            <a:extLst>
              <a:ext uri="{FF2B5EF4-FFF2-40B4-BE49-F238E27FC236}">
                <a16:creationId xmlns:a16="http://schemas.microsoft.com/office/drawing/2014/main" id="{DECB2DE5-C4D2-C1B5-2E56-F86BA1EA7323}"/>
              </a:ext>
            </a:extLst>
          </p:cNvPr>
          <p:cNvSpPr txBox="1">
            <a:spLocks/>
          </p:cNvSpPr>
          <p:nvPr/>
        </p:nvSpPr>
        <p:spPr>
          <a:xfrm>
            <a:off x="2905570" y="4153255"/>
            <a:ext cx="8859798" cy="2137423"/>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700" kern="0" noProof="1">
                <a:solidFill>
                  <a:schemeClr val="tx1"/>
                </a:solidFill>
              </a:rPr>
              <a:t>Filters</a:t>
            </a:r>
          </a:p>
          <a:p>
            <a:pPr marL="285750" indent="-285750">
              <a:spcBef>
                <a:spcPts val="0"/>
              </a:spcBef>
              <a:spcAft>
                <a:spcPts val="600"/>
              </a:spcAft>
              <a:buClr>
                <a:srgbClr val="000000"/>
              </a:buClr>
              <a:buSzPts val="1100"/>
            </a:pPr>
            <a:r>
              <a:rPr lang="en-US" sz="1500" kern="0" noProof="1">
                <a:solidFill>
                  <a:schemeClr val="tx1"/>
                </a:solidFill>
              </a:rPr>
              <a:t>AdminFilter: controllo autenticazione e ruolo admin.</a:t>
            </a:r>
          </a:p>
          <a:p>
            <a:pPr marL="285750" indent="-285750">
              <a:spcBef>
                <a:spcPts val="0"/>
              </a:spcBef>
              <a:spcAft>
                <a:spcPts val="600"/>
              </a:spcAft>
              <a:buClr>
                <a:srgbClr val="000000"/>
              </a:buClr>
              <a:buSzPts val="1100"/>
            </a:pPr>
            <a:r>
              <a:rPr lang="en-US" sz="1500" kern="0" noProof="1">
                <a:solidFill>
                  <a:schemeClr val="tx1"/>
                </a:solidFill>
              </a:rPr>
              <a:t>TechnicalFilter: controllo autenticazione e ruolo technical.</a:t>
            </a:r>
          </a:p>
          <a:p>
            <a:pPr marL="285750" indent="-285750">
              <a:spcBef>
                <a:spcPts val="0"/>
              </a:spcBef>
              <a:spcAft>
                <a:spcPts val="600"/>
              </a:spcAft>
              <a:buClr>
                <a:srgbClr val="000000"/>
              </a:buClr>
              <a:buSzPts val="1100"/>
            </a:pPr>
            <a:r>
              <a:rPr lang="en-US" sz="1500" kern="0" noProof="1">
                <a:solidFill>
                  <a:schemeClr val="tx1"/>
                </a:solidFill>
              </a:rPr>
              <a:t>DatabaseConnection: gestione centralizzata della connessione al database.</a:t>
            </a:r>
          </a:p>
        </p:txBody>
      </p:sp>
    </p:spTree>
    <p:extLst>
      <p:ext uri="{BB962C8B-B14F-4D97-AF65-F5344CB8AC3E}">
        <p14:creationId xmlns:p14="http://schemas.microsoft.com/office/powerpoint/2010/main" val="3425711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5AE3-791C-FDF7-F72D-D88C4D360616}"/>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5694806-E33E-4758-1E08-05545AD4C14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Components</a:t>
            </a:r>
          </a:p>
        </p:txBody>
      </p:sp>
      <p:sp>
        <p:nvSpPr>
          <p:cNvPr id="2" name="Google Shape;136;p26">
            <a:extLst>
              <a:ext uri="{FF2B5EF4-FFF2-40B4-BE49-F238E27FC236}">
                <a16:creationId xmlns:a16="http://schemas.microsoft.com/office/drawing/2014/main" id="{EC3C0A6A-4400-B5C4-C948-554C5B2341AE}"/>
              </a:ext>
            </a:extLst>
          </p:cNvPr>
          <p:cNvSpPr txBox="1">
            <a:spLocks/>
          </p:cNvSpPr>
          <p:nvPr/>
        </p:nvSpPr>
        <p:spPr>
          <a:xfrm>
            <a:off x="426630" y="1381170"/>
            <a:ext cx="5669370"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Controllers (Servlets)</a:t>
            </a:r>
          </a:p>
          <a:p>
            <a:pPr marL="0" indent="0" algn="just">
              <a:spcBef>
                <a:spcPts val="0"/>
              </a:spcBef>
              <a:buClr>
                <a:srgbClr val="000000"/>
              </a:buClr>
              <a:buSzPts val="1100"/>
              <a:buNone/>
            </a:pPr>
            <a:r>
              <a:rPr lang="en-US" sz="1500" kern="0" noProof="1">
                <a:solidFill>
                  <a:schemeClr val="tx1"/>
                </a:solidFill>
              </a:rPr>
              <a:t>Auth</a:t>
            </a:r>
          </a:p>
          <a:p>
            <a:pPr marL="285750" indent="-285750" algn="just">
              <a:spcBef>
                <a:spcPts val="0"/>
              </a:spcBef>
              <a:buClr>
                <a:srgbClr val="000000"/>
              </a:buClr>
              <a:buSzPts val="1100"/>
            </a:pPr>
            <a:r>
              <a:rPr lang="en-US" sz="1500" kern="0" noProof="1">
                <a:solidFill>
                  <a:schemeClr val="tx1"/>
                </a:solidFill>
              </a:rPr>
              <a:t>Login</a:t>
            </a:r>
          </a:p>
          <a:p>
            <a:pPr marL="285750" indent="-285750" algn="just">
              <a:spcBef>
                <a:spcPts val="0"/>
              </a:spcBef>
              <a:buClr>
                <a:srgbClr val="000000"/>
              </a:buClr>
              <a:buSzPts val="1100"/>
            </a:pPr>
            <a:r>
              <a:rPr lang="en-US" sz="1500" kern="0" noProof="1">
                <a:solidFill>
                  <a:schemeClr val="tx1"/>
                </a:solidFill>
              </a:rPr>
              <a:t>Logout</a:t>
            </a:r>
          </a:p>
          <a:p>
            <a:pPr marL="0" indent="0" algn="just">
              <a:spcBef>
                <a:spcPts val="1200"/>
              </a:spcBef>
              <a:buClr>
                <a:srgbClr val="000000"/>
              </a:buClr>
              <a:buSzPts val="1100"/>
              <a:buNone/>
            </a:pPr>
            <a:r>
              <a:rPr lang="en-US" sz="1500" kern="0" noProof="1">
                <a:solidFill>
                  <a:schemeClr val="tx1"/>
                </a:solidFill>
              </a:rPr>
              <a:t>Admin</a:t>
            </a:r>
          </a:p>
          <a:p>
            <a:pPr marL="285750" indent="-285750" algn="just">
              <a:spcBef>
                <a:spcPts val="0"/>
              </a:spcBef>
              <a:buClr>
                <a:srgbClr val="000000"/>
              </a:buClr>
              <a:buSzPts val="1100"/>
            </a:pPr>
            <a:r>
              <a:rPr lang="en-US" sz="1500" kern="0" noProof="1">
                <a:solidFill>
                  <a:schemeClr val="tx1"/>
                </a:solidFill>
              </a:rPr>
              <a:t>HomeAdmin</a:t>
            </a:r>
          </a:p>
          <a:p>
            <a:pPr marL="285750" indent="-285750" algn="just">
              <a:spcBef>
                <a:spcPts val="0"/>
              </a:spcBef>
              <a:buClr>
                <a:srgbClr val="000000"/>
              </a:buClr>
              <a:buSzPts val="1100"/>
            </a:pPr>
            <a:r>
              <a:rPr lang="en-US" sz="1500" kern="0" noProof="1">
                <a:solidFill>
                  <a:schemeClr val="tx1"/>
                </a:solidFill>
              </a:rPr>
              <a:t>CreateProject</a:t>
            </a:r>
          </a:p>
          <a:p>
            <a:pPr marL="285750" indent="-285750" algn="just">
              <a:spcBef>
                <a:spcPts val="0"/>
              </a:spcBef>
              <a:buClr>
                <a:srgbClr val="000000"/>
              </a:buClr>
              <a:buSzPts val="1100"/>
            </a:pPr>
            <a:r>
              <a:rPr lang="en-US" sz="1500" kern="0" noProof="1">
                <a:solidFill>
                  <a:schemeClr val="tx1"/>
                </a:solidFill>
              </a:rPr>
              <a:t>CreateWP</a:t>
            </a:r>
          </a:p>
          <a:p>
            <a:pPr marL="285750" indent="-285750" algn="just">
              <a:spcBef>
                <a:spcPts val="0"/>
              </a:spcBef>
              <a:buClr>
                <a:srgbClr val="000000"/>
              </a:buClr>
              <a:buSzPts val="1100"/>
            </a:pPr>
            <a:r>
              <a:rPr lang="en-US" sz="1500" kern="0" noProof="1">
                <a:solidFill>
                  <a:schemeClr val="tx1"/>
                </a:solidFill>
              </a:rPr>
              <a:t>CreateTask</a:t>
            </a:r>
          </a:p>
          <a:p>
            <a:pPr marL="285750" indent="-285750" algn="just">
              <a:spcBef>
                <a:spcPts val="0"/>
              </a:spcBef>
              <a:buClr>
                <a:srgbClr val="000000"/>
              </a:buClr>
              <a:buSzPts val="1100"/>
            </a:pPr>
            <a:r>
              <a:rPr lang="en-US" sz="1500" kern="0" noProof="1">
                <a:solidFill>
                  <a:schemeClr val="tx1"/>
                </a:solidFill>
              </a:rPr>
              <a:t>VerifyProjects</a:t>
            </a:r>
          </a:p>
          <a:p>
            <a:pPr marL="0" indent="0" algn="just">
              <a:spcBef>
                <a:spcPts val="1200"/>
              </a:spcBef>
              <a:buClr>
                <a:srgbClr val="000000"/>
              </a:buClr>
              <a:buSzPts val="1100"/>
              <a:buNone/>
            </a:pPr>
            <a:r>
              <a:rPr lang="en-US" sz="1500" kern="0" noProof="1">
                <a:solidFill>
                  <a:schemeClr val="tx1"/>
                </a:solidFill>
              </a:rPr>
              <a:t>Technical</a:t>
            </a:r>
          </a:p>
          <a:p>
            <a:pPr marL="285750" indent="-285750" algn="just">
              <a:spcBef>
                <a:spcPts val="0"/>
              </a:spcBef>
              <a:buClr>
                <a:srgbClr val="000000"/>
              </a:buClr>
              <a:buSzPts val="1100"/>
            </a:pPr>
            <a:r>
              <a:rPr lang="en-US" sz="1500" kern="0" noProof="1">
                <a:solidFill>
                  <a:schemeClr val="tx1"/>
                </a:solidFill>
              </a:rPr>
              <a:t>HomeTechnical</a:t>
            </a:r>
          </a:p>
          <a:p>
            <a:pPr marL="0" indent="0" algn="just">
              <a:spcBef>
                <a:spcPts val="1200"/>
              </a:spcBef>
              <a:buClr>
                <a:srgbClr val="000000"/>
              </a:buClr>
              <a:buSzPts val="1100"/>
              <a:buNone/>
            </a:pPr>
            <a:r>
              <a:rPr lang="en-US" sz="1500" kern="0" noProof="1">
                <a:solidFill>
                  <a:schemeClr val="tx1"/>
                </a:solidFill>
              </a:rPr>
              <a:t>Collaborator</a:t>
            </a:r>
          </a:p>
          <a:p>
            <a:pPr marL="285750" indent="-285750" algn="just">
              <a:spcBef>
                <a:spcPts val="0"/>
              </a:spcBef>
              <a:buClr>
                <a:srgbClr val="000000"/>
              </a:buClr>
              <a:buSzPts val="1100"/>
            </a:pPr>
            <a:r>
              <a:rPr lang="en-US" sz="1500" kern="0" noProof="1">
                <a:solidFill>
                  <a:schemeClr val="tx1"/>
                </a:solidFill>
              </a:rPr>
              <a:t>HomeCollaborator</a:t>
            </a:r>
          </a:p>
          <a:p>
            <a:pPr marL="0" indent="0" algn="just">
              <a:spcBef>
                <a:spcPts val="1200"/>
              </a:spcBef>
              <a:buClr>
                <a:srgbClr val="000000"/>
              </a:buClr>
              <a:buSzPts val="1100"/>
              <a:buNone/>
            </a:pPr>
            <a:r>
              <a:rPr lang="en-US" sz="1500" kern="0" noProof="1">
                <a:solidFill>
                  <a:schemeClr val="tx1"/>
                </a:solidFill>
              </a:rPr>
              <a:t>Manager</a:t>
            </a:r>
          </a:p>
          <a:p>
            <a:pPr marL="285750" indent="-285750" algn="just">
              <a:spcBef>
                <a:spcPts val="0"/>
              </a:spcBef>
              <a:buClr>
                <a:srgbClr val="000000"/>
              </a:buClr>
              <a:buSzPts val="1100"/>
            </a:pPr>
            <a:r>
              <a:rPr lang="en-US" sz="1500" kern="0" noProof="1">
                <a:solidFill>
                  <a:schemeClr val="tx1"/>
                </a:solidFill>
              </a:rPr>
              <a:t>HomeManager</a:t>
            </a:r>
          </a:p>
          <a:p>
            <a:pPr marL="285750" indent="-285750" algn="just">
              <a:spcBef>
                <a:spcPts val="0"/>
              </a:spcBef>
              <a:buClr>
                <a:srgbClr val="000000"/>
              </a:buClr>
              <a:buSzPts val="1100"/>
            </a:pPr>
            <a:r>
              <a:rPr lang="en-US" sz="1500" kern="0" noProof="1">
                <a:solidFill>
                  <a:schemeClr val="tx1"/>
                </a:solidFill>
              </a:rPr>
              <a:t>SaveAssignment</a:t>
            </a:r>
          </a:p>
          <a:p>
            <a:pPr marL="285750" indent="-285750" algn="just">
              <a:spcBef>
                <a:spcPts val="0"/>
              </a:spcBef>
              <a:buClr>
                <a:srgbClr val="000000"/>
              </a:buClr>
              <a:buSzPts val="1100"/>
            </a:pPr>
            <a:r>
              <a:rPr lang="en-US" sz="1500" kern="0" noProof="1">
                <a:solidFill>
                  <a:schemeClr val="tx1"/>
                </a:solidFill>
              </a:rPr>
              <a:t>MonitorProjects</a:t>
            </a:r>
          </a:p>
          <a:p>
            <a:pPr marL="285750" indent="-285750" algn="just">
              <a:spcBef>
                <a:spcPts val="0"/>
              </a:spcBef>
              <a:buClr>
                <a:srgbClr val="000000"/>
              </a:buClr>
              <a:buSzPts val="1100"/>
            </a:pPr>
            <a:r>
              <a:rPr lang="en-US" sz="1500" kern="0" noProof="1">
                <a:solidFill>
                  <a:schemeClr val="tx1"/>
                </a:solidFill>
              </a:rPr>
              <a:t>ConcludeProject</a:t>
            </a:r>
          </a:p>
          <a:p>
            <a:pPr marL="285750" indent="-285750" algn="just">
              <a:spcBef>
                <a:spcPts val="0"/>
              </a:spcBef>
              <a:buClr>
                <a:srgbClr val="000000"/>
              </a:buClr>
              <a:buSzPts val="1100"/>
            </a:pPr>
            <a:r>
              <a:rPr lang="en-US" sz="1500" kern="0" noProof="1">
                <a:solidFill>
                  <a:schemeClr val="tx1"/>
                </a:solidFill>
              </a:rPr>
              <a:t>MonitorCollaborators</a:t>
            </a:r>
          </a:p>
        </p:txBody>
      </p:sp>
      <p:sp>
        <p:nvSpPr>
          <p:cNvPr id="3" name="Google Shape;136;p26">
            <a:extLst>
              <a:ext uri="{FF2B5EF4-FFF2-40B4-BE49-F238E27FC236}">
                <a16:creationId xmlns:a16="http://schemas.microsoft.com/office/drawing/2014/main" id="{4D450792-108F-8785-8A38-616A227F6E09}"/>
              </a:ext>
            </a:extLst>
          </p:cNvPr>
          <p:cNvSpPr txBox="1">
            <a:spLocks/>
          </p:cNvSpPr>
          <p:nvPr/>
        </p:nvSpPr>
        <p:spPr>
          <a:xfrm>
            <a:off x="6095999" y="1381170"/>
            <a:ext cx="5669369"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Views (Templates)</a:t>
            </a:r>
          </a:p>
          <a:p>
            <a:pPr marL="0" indent="0" algn="just">
              <a:spcBef>
                <a:spcPts val="0"/>
              </a:spcBef>
              <a:buClr>
                <a:srgbClr val="000000"/>
              </a:buClr>
              <a:buSzPts val="1100"/>
              <a:buNone/>
            </a:pPr>
            <a:r>
              <a:rPr lang="en-US" sz="1500" kern="0" noProof="1">
                <a:solidFill>
                  <a:schemeClr val="tx1"/>
                </a:solidFill>
              </a:rPr>
              <a:t>Auth</a:t>
            </a:r>
          </a:p>
          <a:p>
            <a:pPr marL="285750" indent="-285750" algn="just">
              <a:spcBef>
                <a:spcPts val="0"/>
              </a:spcBef>
              <a:buClr>
                <a:srgbClr val="000000"/>
              </a:buClr>
              <a:buSzPts val="1100"/>
            </a:pPr>
            <a:r>
              <a:rPr lang="en-US" sz="1500" kern="0" noProof="1">
                <a:solidFill>
                  <a:schemeClr val="tx1"/>
                </a:solidFill>
              </a:rPr>
              <a:t>Login</a:t>
            </a:r>
          </a:p>
          <a:p>
            <a:pPr marL="0" indent="0" algn="just">
              <a:spcBef>
                <a:spcPts val="1200"/>
              </a:spcBef>
              <a:buClr>
                <a:srgbClr val="000000"/>
              </a:buClr>
              <a:buSzPts val="1100"/>
              <a:buNone/>
            </a:pPr>
            <a:r>
              <a:rPr lang="en-US" sz="1500" kern="0" noProof="1">
                <a:solidFill>
                  <a:schemeClr val="tx1"/>
                </a:solidFill>
              </a:rPr>
              <a:t>Admin</a:t>
            </a:r>
          </a:p>
          <a:p>
            <a:pPr marL="285750" indent="-285750" algn="just">
              <a:spcBef>
                <a:spcPts val="0"/>
              </a:spcBef>
              <a:buClr>
                <a:srgbClr val="000000"/>
              </a:buClr>
              <a:buSzPts val="1100"/>
            </a:pPr>
            <a:r>
              <a:rPr lang="en-US" sz="1500" kern="0" noProof="1">
                <a:solidFill>
                  <a:schemeClr val="tx1"/>
                </a:solidFill>
              </a:rPr>
              <a:t>HomeAdmin</a:t>
            </a:r>
          </a:p>
          <a:p>
            <a:pPr marL="285750" indent="-285750" algn="just">
              <a:spcBef>
                <a:spcPts val="0"/>
              </a:spcBef>
              <a:buClr>
                <a:srgbClr val="000000"/>
              </a:buClr>
              <a:buSzPts val="1100"/>
            </a:pPr>
            <a:r>
              <a:rPr lang="en-US" sz="1500" kern="0" noProof="1">
                <a:solidFill>
                  <a:schemeClr val="tx1"/>
                </a:solidFill>
              </a:rPr>
              <a:t>VerifyProjects</a:t>
            </a:r>
          </a:p>
          <a:p>
            <a:pPr marL="0" indent="0" algn="just">
              <a:spcBef>
                <a:spcPts val="1200"/>
              </a:spcBef>
              <a:buClr>
                <a:srgbClr val="000000"/>
              </a:buClr>
              <a:buSzPts val="1100"/>
              <a:buNone/>
            </a:pPr>
            <a:r>
              <a:rPr lang="en-US" sz="1500" kern="0" noProof="1">
                <a:solidFill>
                  <a:schemeClr val="tx1"/>
                </a:solidFill>
              </a:rPr>
              <a:t>Technical</a:t>
            </a:r>
          </a:p>
          <a:p>
            <a:pPr marL="285750" indent="-285750" algn="just">
              <a:spcBef>
                <a:spcPts val="0"/>
              </a:spcBef>
              <a:buClr>
                <a:srgbClr val="000000"/>
              </a:buClr>
              <a:buSzPts val="1100"/>
            </a:pPr>
            <a:r>
              <a:rPr lang="en-US" sz="1500" kern="0" noProof="1">
                <a:solidFill>
                  <a:schemeClr val="tx1"/>
                </a:solidFill>
              </a:rPr>
              <a:t>HomeTechnical</a:t>
            </a:r>
          </a:p>
          <a:p>
            <a:pPr marL="0" indent="0" algn="just">
              <a:spcBef>
                <a:spcPts val="1200"/>
              </a:spcBef>
              <a:buClr>
                <a:srgbClr val="000000"/>
              </a:buClr>
              <a:buSzPts val="1100"/>
              <a:buNone/>
            </a:pPr>
            <a:r>
              <a:rPr lang="en-US" sz="1500" kern="0" noProof="1">
                <a:solidFill>
                  <a:schemeClr val="tx1"/>
                </a:solidFill>
              </a:rPr>
              <a:t>Collaborator</a:t>
            </a:r>
          </a:p>
          <a:p>
            <a:pPr marL="285750" indent="-285750" algn="just">
              <a:spcBef>
                <a:spcPts val="0"/>
              </a:spcBef>
              <a:buClr>
                <a:srgbClr val="000000"/>
              </a:buClr>
              <a:buSzPts val="1100"/>
            </a:pPr>
            <a:r>
              <a:rPr lang="en-US" sz="1500" kern="0" noProof="1">
                <a:solidFill>
                  <a:schemeClr val="tx1"/>
                </a:solidFill>
              </a:rPr>
              <a:t>HomeCollaborator</a:t>
            </a:r>
          </a:p>
          <a:p>
            <a:pPr marL="0" indent="0" algn="just">
              <a:spcBef>
                <a:spcPts val="1200"/>
              </a:spcBef>
              <a:buClr>
                <a:srgbClr val="000000"/>
              </a:buClr>
              <a:buSzPts val="1100"/>
              <a:buNone/>
            </a:pPr>
            <a:r>
              <a:rPr lang="en-US" sz="1500" kern="0" noProof="1">
                <a:solidFill>
                  <a:schemeClr val="tx1"/>
                </a:solidFill>
              </a:rPr>
              <a:t>Manager</a:t>
            </a:r>
          </a:p>
          <a:p>
            <a:pPr marL="285750" indent="-285750" algn="just">
              <a:spcBef>
                <a:spcPts val="0"/>
              </a:spcBef>
              <a:buClr>
                <a:srgbClr val="000000"/>
              </a:buClr>
              <a:buSzPts val="1100"/>
            </a:pPr>
            <a:r>
              <a:rPr lang="en-US" sz="1500" kern="0" noProof="1">
                <a:solidFill>
                  <a:schemeClr val="tx1"/>
                </a:solidFill>
              </a:rPr>
              <a:t>HomeManager</a:t>
            </a:r>
          </a:p>
          <a:p>
            <a:pPr marL="285750" indent="-285750" algn="just">
              <a:spcBef>
                <a:spcPts val="0"/>
              </a:spcBef>
              <a:buClr>
                <a:srgbClr val="000000"/>
              </a:buClr>
              <a:buSzPts val="1100"/>
            </a:pPr>
            <a:r>
              <a:rPr lang="en-US" sz="1500" kern="0" noProof="1">
                <a:solidFill>
                  <a:schemeClr val="tx1"/>
                </a:solidFill>
              </a:rPr>
              <a:t>MonitorProjects</a:t>
            </a:r>
          </a:p>
          <a:p>
            <a:pPr marL="285750" indent="-285750" algn="just">
              <a:spcBef>
                <a:spcPts val="0"/>
              </a:spcBef>
              <a:buClr>
                <a:srgbClr val="000000"/>
              </a:buClr>
              <a:buSzPts val="1100"/>
            </a:pPr>
            <a:r>
              <a:rPr lang="en-US" sz="1500" kern="0" noProof="1">
                <a:solidFill>
                  <a:schemeClr val="tx1"/>
                </a:solidFill>
              </a:rPr>
              <a:t>MonitorCollaborators</a:t>
            </a:r>
          </a:p>
          <a:p>
            <a:pPr marL="0" indent="0" algn="just">
              <a:spcBef>
                <a:spcPts val="0"/>
              </a:spcBef>
              <a:buClr>
                <a:srgbClr val="000000"/>
              </a:buClr>
              <a:buSzPts val="1100"/>
              <a:buNone/>
            </a:pPr>
            <a:endParaRPr lang="en-US" sz="1500" kern="0" noProof="1">
              <a:solidFill>
                <a:schemeClr val="tx1"/>
              </a:solidFill>
            </a:endParaRPr>
          </a:p>
        </p:txBody>
      </p:sp>
    </p:spTree>
    <p:extLst>
      <p:ext uri="{BB962C8B-B14F-4D97-AF65-F5344CB8AC3E}">
        <p14:creationId xmlns:p14="http://schemas.microsoft.com/office/powerpoint/2010/main" val="4238050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4E22-4D88-1010-6AD3-193D3C3BC29B}"/>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CAA7DF27-AA5D-B79A-A967-00E99021088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login</a:t>
            </a:r>
          </a:p>
        </p:txBody>
      </p:sp>
      <p:pic>
        <p:nvPicPr>
          <p:cNvPr id="3" name="Picture 2">
            <a:extLst>
              <a:ext uri="{FF2B5EF4-FFF2-40B4-BE49-F238E27FC236}">
                <a16:creationId xmlns:a16="http://schemas.microsoft.com/office/drawing/2014/main" id="{5C0745D6-F2FE-9B63-79AE-9E631205E640}"/>
              </a:ext>
            </a:extLst>
          </p:cNvPr>
          <p:cNvPicPr>
            <a:picLocks noChangeAspect="1"/>
          </p:cNvPicPr>
          <p:nvPr/>
        </p:nvPicPr>
        <p:blipFill>
          <a:blip r:embed="rId2"/>
          <a:stretch>
            <a:fillRect/>
          </a:stretch>
        </p:blipFill>
        <p:spPr>
          <a:xfrm>
            <a:off x="1314627" y="1430715"/>
            <a:ext cx="9562743" cy="5168452"/>
          </a:xfrm>
          <a:prstGeom prst="rect">
            <a:avLst/>
          </a:prstGeom>
        </p:spPr>
      </p:pic>
    </p:spTree>
    <p:extLst>
      <p:ext uri="{BB962C8B-B14F-4D97-AF65-F5344CB8AC3E}">
        <p14:creationId xmlns:p14="http://schemas.microsoft.com/office/powerpoint/2010/main" val="2474673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A1D04-6690-BE4F-D49F-2592575A7EC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F2DD719-3540-D516-71F8-7226D6BD52B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technical role selection</a:t>
            </a:r>
          </a:p>
        </p:txBody>
      </p:sp>
      <p:pic>
        <p:nvPicPr>
          <p:cNvPr id="5" name="Picture 4">
            <a:extLst>
              <a:ext uri="{FF2B5EF4-FFF2-40B4-BE49-F238E27FC236}">
                <a16:creationId xmlns:a16="http://schemas.microsoft.com/office/drawing/2014/main" id="{93CFAE00-C2EB-A059-AEFE-3BF4E3FEE903}"/>
              </a:ext>
            </a:extLst>
          </p:cNvPr>
          <p:cNvPicPr>
            <a:picLocks noChangeAspect="1"/>
          </p:cNvPicPr>
          <p:nvPr/>
        </p:nvPicPr>
        <p:blipFill>
          <a:blip r:embed="rId2"/>
          <a:stretch>
            <a:fillRect/>
          </a:stretch>
        </p:blipFill>
        <p:spPr>
          <a:xfrm>
            <a:off x="2209799" y="1944184"/>
            <a:ext cx="7772400" cy="2969631"/>
          </a:xfrm>
          <a:prstGeom prst="rect">
            <a:avLst/>
          </a:prstGeom>
        </p:spPr>
      </p:pic>
    </p:spTree>
    <p:extLst>
      <p:ext uri="{BB962C8B-B14F-4D97-AF65-F5344CB8AC3E}">
        <p14:creationId xmlns:p14="http://schemas.microsoft.com/office/powerpoint/2010/main" val="3353696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6E41-617D-1FE1-4B5E-513C4038CDE2}"/>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82A86A3-515B-6D40-5EA5-5E311241EBC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logout</a:t>
            </a:r>
          </a:p>
        </p:txBody>
      </p:sp>
      <p:pic>
        <p:nvPicPr>
          <p:cNvPr id="5" name="Picture 4">
            <a:extLst>
              <a:ext uri="{FF2B5EF4-FFF2-40B4-BE49-F238E27FC236}">
                <a16:creationId xmlns:a16="http://schemas.microsoft.com/office/drawing/2014/main" id="{9CF86B9C-4906-55EE-73EC-815009F09AD3}"/>
              </a:ext>
            </a:extLst>
          </p:cNvPr>
          <p:cNvPicPr>
            <a:picLocks noChangeAspect="1"/>
          </p:cNvPicPr>
          <p:nvPr/>
        </p:nvPicPr>
        <p:blipFill>
          <a:blip r:embed="rId2"/>
          <a:stretch>
            <a:fillRect/>
          </a:stretch>
        </p:blipFill>
        <p:spPr>
          <a:xfrm>
            <a:off x="2209799" y="1792914"/>
            <a:ext cx="7772400" cy="4041293"/>
          </a:xfrm>
          <a:prstGeom prst="rect">
            <a:avLst/>
          </a:prstGeom>
        </p:spPr>
      </p:pic>
    </p:spTree>
    <p:extLst>
      <p:ext uri="{BB962C8B-B14F-4D97-AF65-F5344CB8AC3E}">
        <p14:creationId xmlns:p14="http://schemas.microsoft.com/office/powerpoint/2010/main" val="3143079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62CA-99A2-62C4-A876-9BCC6FDBB410}"/>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9659C441-CD4B-9EF9-8AC4-36CF8F03CDB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admin creation flow</a:t>
            </a:r>
          </a:p>
        </p:txBody>
      </p:sp>
      <p:pic>
        <p:nvPicPr>
          <p:cNvPr id="3" name="Picture 2">
            <a:extLst>
              <a:ext uri="{FF2B5EF4-FFF2-40B4-BE49-F238E27FC236}">
                <a16:creationId xmlns:a16="http://schemas.microsoft.com/office/drawing/2014/main" id="{7F0AB068-DE21-A488-E57F-4EC682A8325B}"/>
              </a:ext>
            </a:extLst>
          </p:cNvPr>
          <p:cNvPicPr>
            <a:picLocks noChangeAspect="1"/>
          </p:cNvPicPr>
          <p:nvPr/>
        </p:nvPicPr>
        <p:blipFill>
          <a:blip r:embed="rId2"/>
          <a:stretch>
            <a:fillRect/>
          </a:stretch>
        </p:blipFill>
        <p:spPr>
          <a:xfrm>
            <a:off x="2209799" y="1808943"/>
            <a:ext cx="7772400" cy="4103104"/>
          </a:xfrm>
          <a:prstGeom prst="rect">
            <a:avLst/>
          </a:prstGeom>
        </p:spPr>
      </p:pic>
    </p:spTree>
    <p:extLst>
      <p:ext uri="{BB962C8B-B14F-4D97-AF65-F5344CB8AC3E}">
        <p14:creationId xmlns:p14="http://schemas.microsoft.com/office/powerpoint/2010/main" val="1834966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851E-A770-A607-2B73-D918932335D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309E84AA-310F-E3F1-FD1B-0E2B992D711A}"/>
              </a:ext>
            </a:extLst>
          </p:cNvPr>
          <p:cNvSpPr txBox="1">
            <a:spLocks/>
          </p:cNvSpPr>
          <p:nvPr/>
        </p:nvSpPr>
        <p:spPr>
          <a:xfrm>
            <a:off x="426631" y="34748"/>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save assignment / assign project</a:t>
            </a:r>
          </a:p>
        </p:txBody>
      </p:sp>
      <p:pic>
        <p:nvPicPr>
          <p:cNvPr id="3" name="Picture 2">
            <a:extLst>
              <a:ext uri="{FF2B5EF4-FFF2-40B4-BE49-F238E27FC236}">
                <a16:creationId xmlns:a16="http://schemas.microsoft.com/office/drawing/2014/main" id="{0D0F2908-EE0E-9B35-C5C4-F187BF6FA05C}"/>
              </a:ext>
            </a:extLst>
          </p:cNvPr>
          <p:cNvPicPr>
            <a:picLocks noChangeAspect="1"/>
          </p:cNvPicPr>
          <p:nvPr/>
        </p:nvPicPr>
        <p:blipFill>
          <a:blip r:embed="rId2"/>
          <a:srcRect b="9903"/>
          <a:stretch>
            <a:fillRect/>
          </a:stretch>
        </p:blipFill>
        <p:spPr>
          <a:xfrm>
            <a:off x="2209799" y="906506"/>
            <a:ext cx="7986824" cy="5923403"/>
          </a:xfrm>
          <a:prstGeom prst="rect">
            <a:avLst/>
          </a:prstGeom>
        </p:spPr>
      </p:pic>
    </p:spTree>
    <p:extLst>
      <p:ext uri="{BB962C8B-B14F-4D97-AF65-F5344CB8AC3E}">
        <p14:creationId xmlns:p14="http://schemas.microsoft.com/office/powerpoint/2010/main" val="2228155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61C32-46A8-269B-3097-6048CCB62AB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58A8EF4-F5CE-1DF8-0819-264A88F0617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 hours</a:t>
            </a:r>
          </a:p>
        </p:txBody>
      </p:sp>
      <p:pic>
        <p:nvPicPr>
          <p:cNvPr id="3" name="Picture 2">
            <a:extLst>
              <a:ext uri="{FF2B5EF4-FFF2-40B4-BE49-F238E27FC236}">
                <a16:creationId xmlns:a16="http://schemas.microsoft.com/office/drawing/2014/main" id="{5FDAB577-59E1-69F1-9425-A97538E1F54D}"/>
              </a:ext>
            </a:extLst>
          </p:cNvPr>
          <p:cNvPicPr>
            <a:picLocks noChangeAspect="1"/>
          </p:cNvPicPr>
          <p:nvPr/>
        </p:nvPicPr>
        <p:blipFill>
          <a:blip r:embed="rId2"/>
          <a:stretch>
            <a:fillRect/>
          </a:stretch>
        </p:blipFill>
        <p:spPr>
          <a:xfrm>
            <a:off x="2209799" y="1806487"/>
            <a:ext cx="7772400" cy="4792680"/>
          </a:xfrm>
          <a:prstGeom prst="rect">
            <a:avLst/>
          </a:prstGeom>
        </p:spPr>
      </p:pic>
    </p:spTree>
    <p:extLst>
      <p:ext uri="{BB962C8B-B14F-4D97-AF65-F5344CB8AC3E}">
        <p14:creationId xmlns:p14="http://schemas.microsoft.com/office/powerpoint/2010/main" val="25520601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4ED49-B888-52AC-9CEB-16F19A7781B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F5B5B354-EF21-9EE1-069E-07DD4F30ED3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rgbClr val="FF0000"/>
                </a:solidFill>
              </a:rPr>
              <a:t>Versione Javascript – Admin</a:t>
            </a:r>
            <a:endParaRPr kumimoji="0" lang="en-US" sz="4400" b="0" i="0" u="none" strike="noStrike" kern="1200" cap="none" spc="0" normalizeH="0" baseline="0" noProof="1">
              <a:ln>
                <a:noFill/>
              </a:ln>
              <a:solidFill>
                <a:srgbClr val="FF0000"/>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0327400C-258D-5238-FF2B-3FF3CF6D89B4}"/>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marR="0" lvl="0" indent="0" algn="just" defTabSz="914400" rtl="0" eaLnBrk="1" fontAlgn="auto" latinLnBrk="0" hangingPunct="1">
              <a:lnSpc>
                <a:spcPct val="100000"/>
              </a:lnSpc>
              <a:spcBef>
                <a:spcPts val="0"/>
              </a:spcBef>
              <a:spcAft>
                <a:spcPts val="1173"/>
              </a:spcAft>
              <a:buClr>
                <a:srgbClr val="000000"/>
              </a:buClr>
              <a:buSzPts val="1100"/>
              <a:buFont typeface="Arial"/>
              <a:buNone/>
              <a:tabLst/>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versione JavaScript estende e/o modifica le specifiche dell’interfaccia come segue:</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L’interfaccia </a:t>
            </a:r>
            <a:r>
              <a:rPr lang="en-US" sz="1500" kern="0" noProof="1">
                <a:solidFill>
                  <a:schemeClr val="tx1"/>
                </a:solidFill>
              </a:rPr>
              <a:t>deve</a:t>
            </a:r>
            <a:r>
              <a:rPr kumimoji="0" lang="en-US" sz="1500" b="0" i="0" u="none" strike="noStrike" kern="0" cap="none" spc="0" normalizeH="0" baseline="0" noProof="1">
                <a:ln>
                  <a:noFill/>
                </a:ln>
                <a:solidFill>
                  <a:schemeClr val="tx1"/>
                </a:solidFill>
                <a:effectLst/>
                <a:uLnTx/>
                <a:uFillTx/>
                <a:latin typeface="Calibri"/>
                <a:cs typeface="Calibri"/>
                <a:sym typeface="Calibri"/>
              </a:rPr>
              <a:t> essere realizzata in una sola pagina. L’invio di richieste al server è gestito in modo asincrono e provoca l’aggiornamento parziale dell’interfaccia limitatamente ai soli dati che variano.</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creazione completa di un progetto dei suoi WP e task deve avvenire inizialmente solo nel client. Quando l'inserimento di tutti i dati è completo (tutti i WP e task sono stati inseriti con tutti i loro attributi e le loro relazioni), un bottone SALVA permette la registrazione permanente del progetto e dei suoi WP e task nella base di dati.  Il tentativo di creare un progetto senza WP o un WP senza task comporta il fallimento del salvataggio, ma non la perdita dei dati inseriti a lato client fino a quel momento.</a:t>
            </a:r>
          </a:p>
          <a:p>
            <a:pPr marL="285750"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Dopo la creazione del progetto tramite form, la creazione di WP e task avviene mediante un bottone “+”. </a:t>
            </a:r>
          </a:p>
          <a:p>
            <a:pPr marL="822183" lvl="1"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pressione del bottone “+” accanto a un progetto permette di aggiungere un WP in coda all’elenco di quelli esistenti (o di aggiungere il primo WP se non ne sono ancora stati creati). Il nuovo WP ha un titolo provvisorio (ad esempio “Titolo del WP”) e durata pari a quella del progetto (da mese 1 a mese N). Cliccando sul valore di ciascuno degli attributi del WP è possibile modificare il valore di default. </a:t>
            </a:r>
          </a:p>
          <a:p>
            <a:pPr marL="822183" lvl="1"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pressione del bottone “+” accanto a un WP permette di aggiungere un task in coda all’elenco di quelli esistenti. Il nuovo task ha  un titolo provvisorio (ad esempio “Titolo del task”) e durata pari a quella del WP. Cliccando sul valore di ciascuno degli attributi del task è possibile modificare il  valore di default. </a:t>
            </a:r>
          </a:p>
          <a:p>
            <a:pPr marL="822183" lvl="1"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definizione del numero d’ordine di WP e task avviene in modo automatico.</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Un bottone “-” accanto a un WP (o a un task) ne provoca la cancellazione. La cancellazione di un WP o di un task può richiedere la modifica automatica del numero d’ordine dei WP o dei task successivi. Se si elimina un WP, i task a lui figli devono essere eliminati in cascata.</a:t>
            </a:r>
          </a:p>
        </p:txBody>
      </p:sp>
    </p:spTree>
    <p:extLst>
      <p:ext uri="{BB962C8B-B14F-4D97-AF65-F5344CB8AC3E}">
        <p14:creationId xmlns:p14="http://schemas.microsoft.com/office/powerpoint/2010/main" val="1148205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C387-6DF2-B34B-322F-8EA4B1D40DC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44876B9-2664-F3F2-3C44-148AC94F4D57}"/>
              </a:ext>
            </a:extLst>
          </p:cNvPr>
          <p:cNvSpPr txBox="1">
            <a:spLocks/>
          </p:cNvSpPr>
          <p:nvPr/>
        </p:nvSpPr>
        <p:spPr>
          <a:xfrm>
            <a:off x="226273" y="258833"/>
            <a:ext cx="11739453"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rgbClr val="FF0000"/>
                </a:solidFill>
              </a:rPr>
              <a:t>Versione Javascript – Responsabile e Collaboratore</a:t>
            </a:r>
            <a:endParaRPr kumimoji="0" lang="en-US" sz="4400" b="0" i="0" u="none" strike="noStrike" kern="1200" cap="none" spc="0" normalizeH="0" baseline="0" noProof="1">
              <a:ln>
                <a:noFill/>
              </a:ln>
              <a:solidFill>
                <a:srgbClr val="FF0000"/>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1273022D-0438-5D57-5B56-3F8646025BBB}"/>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lgn="just">
              <a:spcBef>
                <a:spcPts val="0"/>
              </a:spcBef>
              <a:spcAft>
                <a:spcPts val="1173"/>
              </a:spcAft>
              <a:buClr>
                <a:srgbClr val="000000"/>
              </a:buClr>
              <a:buSzPts val="1100"/>
              <a:defRPr/>
            </a:pPr>
            <a:r>
              <a:rPr lang="en-US" sz="1500" kern="0" noProof="1">
                <a:solidFill>
                  <a:schemeClr val="tx1"/>
                </a:solidFill>
              </a:rPr>
              <a:t>L’interfaccia deve essere realizzata in una sola pagina. L’invio di richieste al server è gestito in modo asincrono e provoca l’aggiornamento parziale dell’interfaccia limitatamente ai soli dati che variano.</a:t>
            </a: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a:p>
            <a:pPr marL="0" lvl="0" indent="0" algn="just">
              <a:spcBef>
                <a:spcPts val="0"/>
              </a:spcBef>
              <a:spcAft>
                <a:spcPts val="1173"/>
              </a:spcAft>
              <a:buClr>
                <a:srgbClr val="000000"/>
              </a:buClr>
              <a:buSzPts val="1100"/>
              <a:buNone/>
              <a:defRPr/>
            </a:pPr>
            <a:endParaRPr lang="en-US" sz="1500" kern="0" noProof="1">
              <a:solidFill>
                <a:schemeClr val="tx1"/>
              </a:solidFill>
            </a:endParaRP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a:p>
            <a:pPr marL="285750" indent="-285750" algn="just">
              <a:spcBef>
                <a:spcPts val="0"/>
              </a:spcBef>
              <a:spcAft>
                <a:spcPts val="1173"/>
              </a:spcAft>
              <a:buClr>
                <a:srgbClr val="000000"/>
              </a:buClr>
              <a:buSzPts val="1100"/>
              <a:defRPr/>
            </a:pPr>
            <a:r>
              <a:rPr lang="en-US" sz="1500" kern="0" noProof="1">
                <a:solidFill>
                  <a:schemeClr val="tx1"/>
                </a:solidFill>
              </a:rPr>
              <a:t>L’interfaccia deve essere realizzata in una sola pagina. L’invio di richieste al server è gestito in modo asincrono e provoca l’aggiornamento parziale dell’interfaccia limitatamente ai soli dati che variano.</a:t>
            </a:r>
          </a:p>
          <a:p>
            <a:pPr marL="285750" indent="-285750" algn="just">
              <a:spcBef>
                <a:spcPts val="0"/>
              </a:spcBef>
              <a:spcAft>
                <a:spcPts val="1173"/>
              </a:spcAft>
              <a:buClr>
                <a:srgbClr val="000000"/>
              </a:buClr>
              <a:buSzPts val="1100"/>
              <a:defRPr/>
            </a:pPr>
            <a:r>
              <a:rPr lang="en-US" sz="1500" kern="0" noProof="1">
                <a:solidFill>
                  <a:schemeClr val="tx1"/>
                </a:solidFill>
              </a:rPr>
              <a:t>Il caricamento dei progetti, WP e task deve avvenire all’accesso alla pagina HOME COLLABORATORE e la selezione di un progetto non deve ricaricare i dati dal server.</a:t>
            </a:r>
          </a:p>
          <a:p>
            <a:pPr marL="285750" indent="-285750" algn="just">
              <a:spcBef>
                <a:spcPts val="0"/>
              </a:spcBef>
              <a:spcAft>
                <a:spcPts val="1173"/>
              </a:spcAft>
              <a:buClr>
                <a:srgbClr val="000000"/>
              </a:buClr>
              <a:buSzPts val="1100"/>
              <a:defRPr/>
            </a:pPr>
            <a:r>
              <a:rPr lang="en-US" sz="1500" kern="0" noProof="1">
                <a:solidFill>
                  <a:schemeClr val="tx1"/>
                </a:solidFill>
              </a:rPr>
              <a:t>La pagina HOME COLLABORATORE mostra l’elenco dei progetti per cui il collaboratore è assegnato ad almeno un task. Selezionando un progetto dall’elenco compare una tabella con la struttura mostrata di seguito. Le celle che riportano le ore lavorate sono modificabili. Cliccando sulla cella l'utente può editare un numero intero di ore lavorate. L’uscita del puntatore del mouse dalla cella provoca il salvataggio automatico del valore nella base di dati. Eventuali errori di inserimento (ad esempio l'inserimento di una valore negativo o non intero) producono un messaggio di errore e prevengono il salvataggio nella base di dati.</a:t>
            </a: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p:txBody>
      </p:sp>
    </p:spTree>
    <p:extLst>
      <p:ext uri="{BB962C8B-B14F-4D97-AF65-F5344CB8AC3E}">
        <p14:creationId xmlns:p14="http://schemas.microsoft.com/office/powerpoint/2010/main" val="1045199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ED07-EDB5-8623-80B5-87FDBC4401B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7DC86EB8-B8A5-5ADE-37B1-283F978E92E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Completamento delle specifiche Javascript</a:t>
            </a:r>
            <a:endParaRPr kumimoji="0" lang="en-US" sz="4400" b="0" i="0" u="none" strike="noStrike" kern="1200" cap="none" spc="0" normalizeH="0" baseline="0" noProof="1">
              <a:ln>
                <a:noFill/>
              </a:ln>
              <a:solidFill>
                <a:schemeClr val="tx1"/>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4B90A310-6A58-58A4-1419-CE1FE0277E76}"/>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0"/>
              </a:spcBef>
              <a:spcAft>
                <a:spcPts val="1173"/>
              </a:spcAft>
              <a:buClr>
                <a:srgbClr val="000000"/>
              </a:buClr>
              <a:buSzPts val="1100"/>
              <a:defRPr/>
            </a:pPr>
            <a:r>
              <a:rPr lang="en-US" sz="1500" kern="0" noProof="1">
                <a:solidFill>
                  <a:schemeClr val="tx1"/>
                </a:solidFill>
              </a:rPr>
              <a:t>Accesso all’applicazione: dopo il login, per gli utenti con ruolo tecnico, i link per la scelta dell'area operativa (Responsabile o Collaboratore) compaiono all'interno della stessa form di login, reindirizzando l'utente alle rispettive interfacce single page.</a:t>
            </a:r>
          </a:p>
          <a:p>
            <a:pPr marL="285750" indent="-285750">
              <a:spcBef>
                <a:spcPts val="0"/>
              </a:spcBef>
              <a:spcAft>
                <a:spcPts val="1173"/>
              </a:spcAft>
              <a:buClr>
                <a:srgbClr val="000000"/>
              </a:buClr>
              <a:buSzPts val="1100"/>
              <a:defRPr/>
            </a:pPr>
            <a:r>
              <a:rPr lang="en-US" sz="1500" kern="0" noProof="1">
                <a:solidFill>
                  <a:schemeClr val="tx1"/>
                </a:solidFill>
              </a:rPr>
              <a:t>Interfacce per ruolo: ogni area applicativa è realizzata come Single Page Application. L’invio di richieste al server è gestito in modo asincrono, provocando l’aggiornamento parziale dell’interfaccia senza mai richiedere il ricaricamento completo della pagina.</a:t>
            </a:r>
          </a:p>
          <a:p>
            <a:pPr marL="285750" indent="-285750">
              <a:spcBef>
                <a:spcPts val="0"/>
              </a:spcBef>
              <a:spcAft>
                <a:spcPts val="1173"/>
              </a:spcAft>
              <a:buClr>
                <a:srgbClr val="000000"/>
              </a:buClr>
              <a:buSzPts val="1100"/>
              <a:defRPr/>
            </a:pPr>
            <a:r>
              <a:rPr lang="en-US" sz="1500" kern="0" noProof="1">
                <a:solidFill>
                  <a:schemeClr val="tx1"/>
                </a:solidFill>
              </a:rPr>
              <a:t>Amministratore – struttura del progetto: la creazione dell'intero albero del progetto, con WP e task, avviene inizialmente solo lato client. L'amministratore può aggiungere, modificare ed eliminare i nodi della struttura in memoria locale.</a:t>
            </a:r>
          </a:p>
          <a:p>
            <a:pPr marL="285750" indent="-285750">
              <a:spcBef>
                <a:spcPts val="0"/>
              </a:spcBef>
              <a:spcAft>
                <a:spcPts val="1173"/>
              </a:spcAft>
              <a:buClr>
                <a:srgbClr val="000000"/>
              </a:buClr>
              <a:buSzPts val="1100"/>
              <a:defRPr/>
            </a:pPr>
            <a:r>
              <a:rPr lang="en-US" sz="1500" kern="0" noProof="1">
                <a:solidFill>
                  <a:schemeClr val="tx1"/>
                </a:solidFill>
              </a:rPr>
              <a:t>Amministratore – salvataggio definitivo: l'azione di salvataggio registra in modo permanente nel database l'intero progetto strutturato. Un progetto senza WP o un WP senza task non supera la validazione di salvataggio, ma la bozza lato client non viene persa e resta a disposizione per ulteriori modifiche.</a:t>
            </a:r>
          </a:p>
          <a:p>
            <a:pPr marL="285750" indent="-285750">
              <a:spcBef>
                <a:spcPts val="0"/>
              </a:spcBef>
              <a:spcAft>
                <a:spcPts val="1173"/>
              </a:spcAft>
              <a:buClr>
                <a:srgbClr val="000000"/>
              </a:buClr>
              <a:buSzPts val="1100"/>
              <a:defRPr/>
            </a:pPr>
            <a:r>
              <a:rPr lang="en-US" sz="1500" kern="0" noProof="1">
                <a:solidFill>
                  <a:schemeClr val="tx1"/>
                </a:solidFill>
              </a:rPr>
              <a:t>Amministratore – gestione post-salvataggio: coerentemente con la versione base, le operazioni di modifica, cancellazione e rinumerazione agiscono unicamente sulla struttura temporanea lato frontend. Una volta salvato, il progetto è persistito e non sono previsti endpoint di backend per modificarlo o eliminarlo successivamente.</a:t>
            </a:r>
          </a:p>
          <a:p>
            <a:pPr marL="285750" indent="-285750">
              <a:spcBef>
                <a:spcPts val="0"/>
              </a:spcBef>
              <a:spcAft>
                <a:spcPts val="1173"/>
              </a:spcAft>
              <a:buClr>
                <a:srgbClr val="000000"/>
              </a:buClr>
              <a:buSzPts val="1100"/>
              <a:defRPr/>
            </a:pPr>
            <a:r>
              <a:rPr lang="en-US" sz="1500" kern="0" noProof="1">
                <a:solidFill>
                  <a:schemeClr val="tx1"/>
                </a:solidFill>
              </a:rPr>
              <a:t>Amministratore – undo/redo: la cronologia delle operazioni è limitata alla manipolazione della bozza lato client in fase di costruzione.</a:t>
            </a:r>
          </a:p>
          <a:p>
            <a:pPr marL="285750" indent="-285750">
              <a:spcBef>
                <a:spcPts val="0"/>
              </a:spcBef>
              <a:spcAft>
                <a:spcPts val="1173"/>
              </a:spcAft>
              <a:buClr>
                <a:srgbClr val="000000"/>
              </a:buClr>
              <a:buSzPts val="1100"/>
              <a:defRPr/>
            </a:pPr>
            <a:r>
              <a:rPr lang="en-US" sz="1500" kern="0" noProof="1">
                <a:solidFill>
                  <a:schemeClr val="tx1"/>
                </a:solidFill>
              </a:rPr>
              <a:t>Collaboratore – caricamento dati: le gerarchie di progetti, WP e task vengono caricate all’accesso alla home collaboratore. Le selezioni successive all'interno dell'interfaccia filtrano e aggiornano solo la vista locale, senza effettuare ulteriori fetch dal server.</a:t>
            </a:r>
          </a:p>
          <a:p>
            <a:pPr marL="285750" indent="-285750">
              <a:spcBef>
                <a:spcPts val="0"/>
              </a:spcBef>
              <a:spcAft>
                <a:spcPts val="1173"/>
              </a:spcAft>
              <a:buClr>
                <a:srgbClr val="000000"/>
              </a:buClr>
              <a:buSzPts val="1100"/>
              <a:defRPr/>
            </a:pPr>
            <a:r>
              <a:rPr lang="en-US" sz="1500" kern="0" noProof="1">
                <a:solidFill>
                  <a:schemeClr val="tx1"/>
                </a:solidFill>
              </a:rPr>
              <a:t>Validazioni e usabilità: l'interfaccia client intercetta istantaneamente gli errori di inserimento (es. valori negativi o non interi) e previene il salvataggio tramite messaggi asincroni, pur lasciando al server la validazione autoritativa finale dei dati persistiti.</a:t>
            </a:r>
          </a:p>
        </p:txBody>
      </p:sp>
    </p:spTree>
    <p:extLst>
      <p:ext uri="{BB962C8B-B14F-4D97-AF65-F5344CB8AC3E}">
        <p14:creationId xmlns:p14="http://schemas.microsoft.com/office/powerpoint/2010/main" val="3467507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285B-305C-993C-E133-8155783F54B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E14BE1B-9A27-36F6-5789-72F1B5E595AD}"/>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(login)</a:t>
            </a:r>
          </a:p>
        </p:txBody>
      </p:sp>
      <p:sp>
        <p:nvSpPr>
          <p:cNvPr id="2" name="Rectangle 1">
            <a:extLst>
              <a:ext uri="{FF2B5EF4-FFF2-40B4-BE49-F238E27FC236}">
                <a16:creationId xmlns:a16="http://schemas.microsoft.com/office/drawing/2014/main" id="{CE2F5976-D3CA-CF93-46E4-44B3723AF159}"/>
              </a:ext>
            </a:extLst>
          </p:cNvPr>
          <p:cNvSpPr/>
          <p:nvPr/>
        </p:nvSpPr>
        <p:spPr>
          <a:xfrm>
            <a:off x="600668" y="2258573"/>
            <a:ext cx="2830461" cy="426464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Login</a:t>
            </a:r>
          </a:p>
        </p:txBody>
      </p:sp>
      <p:sp>
        <p:nvSpPr>
          <p:cNvPr id="3" name="Rounded Rectangle 2">
            <a:extLst>
              <a:ext uri="{FF2B5EF4-FFF2-40B4-BE49-F238E27FC236}">
                <a16:creationId xmlns:a16="http://schemas.microsoft.com/office/drawing/2014/main" id="{7FF04702-684E-461E-F487-BB6B35330408}"/>
              </a:ext>
            </a:extLst>
          </p:cNvPr>
          <p:cNvSpPr/>
          <p:nvPr/>
        </p:nvSpPr>
        <p:spPr>
          <a:xfrm>
            <a:off x="761177" y="2870369"/>
            <a:ext cx="2402248" cy="102080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Login Form</a:t>
            </a:r>
          </a:p>
          <a:p>
            <a:pPr algn="ctr"/>
            <a:r>
              <a:rPr lang="en-US" dirty="0">
                <a:solidFill>
                  <a:schemeClr val="tx1"/>
                </a:solidFill>
                <a:latin typeface="Calibri" panose="020F0502020204030204" pitchFamily="34" charset="0"/>
                <a:cs typeface="Calibri" panose="020F0502020204030204" pitchFamily="34" charset="0"/>
              </a:rPr>
              <a:t>[field: username</a:t>
            </a:r>
          </a:p>
          <a:p>
            <a:pPr algn="ctr"/>
            <a:r>
              <a:rPr lang="en-US" dirty="0">
                <a:solidFill>
                  <a:schemeClr val="tx1"/>
                </a:solidFill>
                <a:latin typeface="Calibri" panose="020F0502020204030204" pitchFamily="34" charset="0"/>
                <a:cs typeface="Calibri" panose="020F0502020204030204" pitchFamily="34" charset="0"/>
              </a:rPr>
              <a:t>field: password]</a:t>
            </a:r>
          </a:p>
        </p:txBody>
      </p:sp>
      <p:sp>
        <p:nvSpPr>
          <p:cNvPr id="11" name="Parallelogram 10">
            <a:extLst>
              <a:ext uri="{FF2B5EF4-FFF2-40B4-BE49-F238E27FC236}">
                <a16:creationId xmlns:a16="http://schemas.microsoft.com/office/drawing/2014/main" id="{A32CD9A2-EEF1-46E3-1D81-74F61CFC997E}"/>
              </a:ext>
            </a:extLst>
          </p:cNvPr>
          <p:cNvSpPr/>
          <p:nvPr/>
        </p:nvSpPr>
        <p:spPr>
          <a:xfrm>
            <a:off x="5335504" y="259874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Login</a:t>
            </a:r>
          </a:p>
        </p:txBody>
      </p:sp>
      <p:sp>
        <p:nvSpPr>
          <p:cNvPr id="45" name="Oval 44">
            <a:extLst>
              <a:ext uri="{FF2B5EF4-FFF2-40B4-BE49-F238E27FC236}">
                <a16:creationId xmlns:a16="http://schemas.microsoft.com/office/drawing/2014/main" id="{67E9E2ED-375E-D371-8241-9675C28F0613}"/>
              </a:ext>
            </a:extLst>
          </p:cNvPr>
          <p:cNvSpPr/>
          <p:nvPr/>
        </p:nvSpPr>
        <p:spPr>
          <a:xfrm>
            <a:off x="2924017" y="274639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EF38B609-5D9E-061A-1219-39AC5CFAE9E1}"/>
              </a:ext>
            </a:extLst>
          </p:cNvPr>
          <p:cNvSpPr txBox="1"/>
          <p:nvPr/>
        </p:nvSpPr>
        <p:spPr>
          <a:xfrm>
            <a:off x="2219263" y="2595757"/>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86" name="Straight Connector 85">
            <a:extLst>
              <a:ext uri="{FF2B5EF4-FFF2-40B4-BE49-F238E27FC236}">
                <a16:creationId xmlns:a16="http://schemas.microsoft.com/office/drawing/2014/main" id="{554E0FBC-12BE-11FD-A496-59CA52A379AC}"/>
              </a:ext>
            </a:extLst>
          </p:cNvPr>
          <p:cNvCxnSpPr>
            <a:cxnSpLocks/>
          </p:cNvCxnSpPr>
          <p:nvPr/>
        </p:nvCxnSpPr>
        <p:spPr>
          <a:xfrm>
            <a:off x="3093177" y="2890413"/>
            <a:ext cx="232921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7B361CB-836A-1461-51E3-736BB95B0310}"/>
              </a:ext>
            </a:extLst>
          </p:cNvPr>
          <p:cNvCxnSpPr>
            <a:cxnSpLocks/>
            <a:stCxn id="11" idx="2"/>
          </p:cNvCxnSpPr>
          <p:nvPr/>
        </p:nvCxnSpPr>
        <p:spPr>
          <a:xfrm>
            <a:off x="6621861" y="2925921"/>
            <a:ext cx="1829141"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2" name="Rectangle 121">
            <a:extLst>
              <a:ext uri="{FF2B5EF4-FFF2-40B4-BE49-F238E27FC236}">
                <a16:creationId xmlns:a16="http://schemas.microsoft.com/office/drawing/2014/main" id="{5485F36D-43BA-D1E2-D2D1-11058D16044B}"/>
              </a:ext>
            </a:extLst>
          </p:cNvPr>
          <p:cNvSpPr/>
          <p:nvPr/>
        </p:nvSpPr>
        <p:spPr>
          <a:xfrm>
            <a:off x="8450073" y="2810346"/>
            <a:ext cx="2272250" cy="12809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Admin</a:t>
            </a:r>
          </a:p>
        </p:txBody>
      </p:sp>
      <p:sp>
        <p:nvSpPr>
          <p:cNvPr id="125" name="Oval 124">
            <a:extLst>
              <a:ext uri="{FF2B5EF4-FFF2-40B4-BE49-F238E27FC236}">
                <a16:creationId xmlns:a16="http://schemas.microsoft.com/office/drawing/2014/main" id="{BCEE75D3-1A18-202E-78DC-44D5BA1AAACE}"/>
              </a:ext>
            </a:extLst>
          </p:cNvPr>
          <p:cNvSpPr/>
          <p:nvPr/>
        </p:nvSpPr>
        <p:spPr>
          <a:xfrm>
            <a:off x="10542396" y="264595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2C2965FC-9176-3B5A-616E-EE51647263F9}"/>
              </a:ext>
            </a:extLst>
          </p:cNvPr>
          <p:cNvSpPr txBox="1"/>
          <p:nvPr/>
        </p:nvSpPr>
        <p:spPr>
          <a:xfrm>
            <a:off x="9825321" y="2503212"/>
            <a:ext cx="720262" cy="338554"/>
          </a:xfrm>
          <a:prstGeom prst="rect">
            <a:avLst/>
          </a:prstGeom>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30" name="TextBox 129">
            <a:extLst>
              <a:ext uri="{FF2B5EF4-FFF2-40B4-BE49-F238E27FC236}">
                <a16:creationId xmlns:a16="http://schemas.microsoft.com/office/drawing/2014/main" id="{4E4102F9-7C9C-FCE6-0926-A6C909B85324}"/>
              </a:ext>
            </a:extLst>
          </p:cNvPr>
          <p:cNvSpPr txBox="1"/>
          <p:nvPr/>
        </p:nvSpPr>
        <p:spPr>
          <a:xfrm>
            <a:off x="5873920" y="4854516"/>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cxnSp>
        <p:nvCxnSpPr>
          <p:cNvPr id="131" name="Elbow Connector 130">
            <a:extLst>
              <a:ext uri="{FF2B5EF4-FFF2-40B4-BE49-F238E27FC236}">
                <a16:creationId xmlns:a16="http://schemas.microsoft.com/office/drawing/2014/main" id="{6C9E1C7E-E49A-4D17-DE4D-9F0F55628989}"/>
              </a:ext>
            </a:extLst>
          </p:cNvPr>
          <p:cNvCxnSpPr>
            <a:cxnSpLocks/>
            <a:stCxn id="125" idx="0"/>
            <a:endCxn id="2" idx="0"/>
          </p:cNvCxnSpPr>
          <p:nvPr/>
        </p:nvCxnSpPr>
        <p:spPr>
          <a:xfrm rot="16200000" flipV="1">
            <a:off x="6157467" y="-1882995"/>
            <a:ext cx="387378" cy="8670513"/>
          </a:xfrm>
          <a:prstGeom prst="bentConnector3">
            <a:avLst>
              <a:gd name="adj1" fmla="val 1590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4" name="Elbow Connector 133">
            <a:extLst>
              <a:ext uri="{FF2B5EF4-FFF2-40B4-BE49-F238E27FC236}">
                <a16:creationId xmlns:a16="http://schemas.microsoft.com/office/drawing/2014/main" id="{C86918C5-CC9A-B75D-9785-23DFCDDA2E31}"/>
              </a:ext>
            </a:extLst>
          </p:cNvPr>
          <p:cNvCxnSpPr>
            <a:cxnSpLocks/>
            <a:stCxn id="129" idx="6"/>
            <a:endCxn id="2" idx="0"/>
          </p:cNvCxnSpPr>
          <p:nvPr/>
        </p:nvCxnSpPr>
        <p:spPr>
          <a:xfrm flipH="1" flipV="1">
            <a:off x="2015899" y="2258573"/>
            <a:ext cx="4846036" cy="2865606"/>
          </a:xfrm>
          <a:prstGeom prst="bentConnector4">
            <a:avLst>
              <a:gd name="adj1" fmla="val -84722"/>
              <a:gd name="adj2" fmla="val 113083"/>
            </a:avLst>
          </a:prstGeom>
          <a:ln>
            <a:tailEnd type="arrow"/>
          </a:ln>
        </p:spPr>
        <p:style>
          <a:lnRef idx="2">
            <a:schemeClr val="accent1"/>
          </a:lnRef>
          <a:fillRef idx="0">
            <a:schemeClr val="accent1"/>
          </a:fillRef>
          <a:effectRef idx="1">
            <a:schemeClr val="accent1"/>
          </a:effectRef>
          <a:fontRef idx="minor">
            <a:schemeClr val="tx1"/>
          </a:fontRef>
        </p:style>
      </p:cxnSp>
      <p:sp>
        <p:nvSpPr>
          <p:cNvPr id="153" name="TextBox 152">
            <a:extLst>
              <a:ext uri="{FF2B5EF4-FFF2-40B4-BE49-F238E27FC236}">
                <a16:creationId xmlns:a16="http://schemas.microsoft.com/office/drawing/2014/main" id="{66722EB9-03F9-6CF5-73BD-CC1CD130DDB4}"/>
              </a:ext>
            </a:extLst>
          </p:cNvPr>
          <p:cNvSpPr txBox="1"/>
          <p:nvPr/>
        </p:nvSpPr>
        <p:spPr>
          <a:xfrm>
            <a:off x="6892572" y="2631194"/>
            <a:ext cx="1116011" cy="338554"/>
          </a:xfrm>
          <a:prstGeom prst="rect">
            <a:avLst/>
          </a:prstGeom>
          <a:noFill/>
        </p:spPr>
        <p:txBody>
          <a:bodyPr wrap="none" rtlCol="0">
            <a:spAutoFit/>
          </a:bodyPr>
          <a:lstStyle/>
          <a:p>
            <a:r>
              <a:rPr lang="en-US" sz="1600" dirty="0">
                <a:solidFill>
                  <a:prstClr val="black"/>
                </a:solidFill>
                <a:latin typeface="Calibri"/>
              </a:rPr>
              <a:t>admin user</a:t>
            </a:r>
          </a:p>
        </p:txBody>
      </p:sp>
      <p:sp>
        <p:nvSpPr>
          <p:cNvPr id="154" name="TextBox 153">
            <a:extLst>
              <a:ext uri="{FF2B5EF4-FFF2-40B4-BE49-F238E27FC236}">
                <a16:creationId xmlns:a16="http://schemas.microsoft.com/office/drawing/2014/main" id="{4C6D814A-16F8-AD75-9ECE-C921B6220E68}"/>
              </a:ext>
            </a:extLst>
          </p:cNvPr>
          <p:cNvSpPr txBox="1"/>
          <p:nvPr/>
        </p:nvSpPr>
        <p:spPr>
          <a:xfrm>
            <a:off x="4771024" y="3806640"/>
            <a:ext cx="1339726" cy="338554"/>
          </a:xfrm>
          <a:prstGeom prst="rect">
            <a:avLst/>
          </a:prstGeom>
          <a:noFill/>
        </p:spPr>
        <p:txBody>
          <a:bodyPr wrap="none" rtlCol="0">
            <a:spAutoFit/>
          </a:bodyPr>
          <a:lstStyle/>
          <a:p>
            <a:r>
              <a:rPr lang="en-US" sz="1600" dirty="0">
                <a:solidFill>
                  <a:prstClr val="black"/>
                </a:solidFill>
                <a:latin typeface="Calibri"/>
              </a:rPr>
              <a:t>technical user</a:t>
            </a:r>
          </a:p>
        </p:txBody>
      </p:sp>
      <p:sp>
        <p:nvSpPr>
          <p:cNvPr id="155" name="TextBox 154">
            <a:extLst>
              <a:ext uri="{FF2B5EF4-FFF2-40B4-BE49-F238E27FC236}">
                <a16:creationId xmlns:a16="http://schemas.microsoft.com/office/drawing/2014/main" id="{9260D8C9-6A70-28B2-3949-A22911B24CA7}"/>
              </a:ext>
            </a:extLst>
          </p:cNvPr>
          <p:cNvSpPr txBox="1"/>
          <p:nvPr/>
        </p:nvSpPr>
        <p:spPr>
          <a:xfrm>
            <a:off x="6853749" y="2902691"/>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6" name="TextBox 155">
            <a:extLst>
              <a:ext uri="{FF2B5EF4-FFF2-40B4-BE49-F238E27FC236}">
                <a16:creationId xmlns:a16="http://schemas.microsoft.com/office/drawing/2014/main" id="{546F575B-5CD5-CBFC-006D-4D3360D68FF4}"/>
              </a:ext>
            </a:extLst>
          </p:cNvPr>
          <p:cNvSpPr txBox="1"/>
          <p:nvPr/>
        </p:nvSpPr>
        <p:spPr>
          <a:xfrm>
            <a:off x="3901083" y="4102316"/>
            <a:ext cx="2876428" cy="338554"/>
          </a:xfrm>
          <a:prstGeom prst="rect">
            <a:avLst/>
          </a:prstGeom>
          <a:noFill/>
        </p:spPr>
        <p:txBody>
          <a:bodyPr wrap="none" rtlCol="0">
            <a:spAutoFit/>
          </a:bodyPr>
          <a:lstStyle/>
          <a:p>
            <a:r>
              <a:rPr lang="en-US" sz="1600" dirty="0">
                <a:solidFill>
                  <a:prstClr val="black"/>
                </a:solidFill>
                <a:latin typeface="Calibri"/>
              </a:rPr>
              <a:t>show role links + 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cxnSp>
        <p:nvCxnSpPr>
          <p:cNvPr id="5" name="Elbow Connector 4">
            <a:extLst>
              <a:ext uri="{FF2B5EF4-FFF2-40B4-BE49-F238E27FC236}">
                <a16:creationId xmlns:a16="http://schemas.microsoft.com/office/drawing/2014/main" id="{CAC4651C-2F4D-81F6-DFB4-89A6CE46F1D3}"/>
              </a:ext>
            </a:extLst>
          </p:cNvPr>
          <p:cNvCxnSpPr>
            <a:cxnSpLocks/>
          </p:cNvCxnSpPr>
          <p:nvPr/>
        </p:nvCxnSpPr>
        <p:spPr>
          <a:xfrm rot="10800000" flipV="1">
            <a:off x="3449446" y="3252179"/>
            <a:ext cx="2923168" cy="851163"/>
          </a:xfrm>
          <a:prstGeom prst="bentConnector3">
            <a:avLst>
              <a:gd name="adj1" fmla="val 576"/>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249C6025-A9AA-B91E-49C4-22F0278A17E0}"/>
              </a:ext>
            </a:extLst>
          </p:cNvPr>
          <p:cNvSpPr/>
          <p:nvPr/>
        </p:nvSpPr>
        <p:spPr>
          <a:xfrm>
            <a:off x="760746" y="5376977"/>
            <a:ext cx="2402248" cy="86384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Role Links Selection</a:t>
            </a:r>
          </a:p>
        </p:txBody>
      </p:sp>
      <p:sp>
        <p:nvSpPr>
          <p:cNvPr id="19" name="Oval 18">
            <a:extLst>
              <a:ext uri="{FF2B5EF4-FFF2-40B4-BE49-F238E27FC236}">
                <a16:creationId xmlns:a16="http://schemas.microsoft.com/office/drawing/2014/main" id="{8B24AB13-46D6-7D41-A3FB-C0B49BC9CEA9}"/>
              </a:ext>
            </a:extLst>
          </p:cNvPr>
          <p:cNvSpPr/>
          <p:nvPr/>
        </p:nvSpPr>
        <p:spPr>
          <a:xfrm>
            <a:off x="2987614" y="532482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CD64E53-DBFA-DADB-16D0-88ABE2721836}"/>
              </a:ext>
            </a:extLst>
          </p:cNvPr>
          <p:cNvSpPr txBox="1"/>
          <p:nvPr/>
        </p:nvSpPr>
        <p:spPr>
          <a:xfrm>
            <a:off x="1850175" y="5095289"/>
            <a:ext cx="119750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collaborator</a:t>
            </a:r>
          </a:p>
        </p:txBody>
      </p:sp>
      <p:sp>
        <p:nvSpPr>
          <p:cNvPr id="21" name="Oval 20">
            <a:extLst>
              <a:ext uri="{FF2B5EF4-FFF2-40B4-BE49-F238E27FC236}">
                <a16:creationId xmlns:a16="http://schemas.microsoft.com/office/drawing/2014/main" id="{B25D1E10-C4EE-B833-2601-6818C41C07B9}"/>
              </a:ext>
            </a:extLst>
          </p:cNvPr>
          <p:cNvSpPr/>
          <p:nvPr/>
        </p:nvSpPr>
        <p:spPr>
          <a:xfrm>
            <a:off x="2977804" y="60130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A3971466-EBF2-3442-25CB-3D1A19D7812D}"/>
              </a:ext>
            </a:extLst>
          </p:cNvPr>
          <p:cNvSpPr txBox="1"/>
          <p:nvPr/>
        </p:nvSpPr>
        <p:spPr>
          <a:xfrm>
            <a:off x="1847175" y="6160331"/>
            <a:ext cx="1241558" cy="338554"/>
          </a:xfrm>
          <a:prstGeom prst="rect">
            <a:avLst/>
          </a:prstGeom>
          <a:noFill/>
        </p:spPr>
        <p:txBody>
          <a:bodyPr wrap="none" rtlCol="0">
            <a:spAutoFit/>
          </a:bodyPr>
          <a:lstStyle/>
          <a:p>
            <a:r>
              <a:rPr lang="en-US" sz="1600" dirty="0" err="1">
                <a:solidFill>
                  <a:prstClr val="black"/>
                </a:solidFill>
                <a:latin typeface="Calibri" panose="020F0502020204030204" pitchFamily="34" charset="0"/>
                <a:cs typeface="Calibri" panose="020F0502020204030204" pitchFamily="34" charset="0"/>
              </a:rPr>
              <a:t>responsabile</a:t>
            </a:r>
            <a:endParaRPr lang="en-US" sz="1600" dirty="0">
              <a:solidFill>
                <a:prstClr val="black"/>
              </a:solidFill>
              <a:latin typeface="Calibri" panose="020F0502020204030204" pitchFamily="34" charset="0"/>
              <a:cs typeface="Calibri" panose="020F0502020204030204" pitchFamily="34" charset="0"/>
            </a:endParaRPr>
          </a:p>
        </p:txBody>
      </p:sp>
      <p:cxnSp>
        <p:nvCxnSpPr>
          <p:cNvPr id="23" name="Straight Connector 22">
            <a:extLst>
              <a:ext uri="{FF2B5EF4-FFF2-40B4-BE49-F238E27FC236}">
                <a16:creationId xmlns:a16="http://schemas.microsoft.com/office/drawing/2014/main" id="{00422D8E-722B-CD35-8ACC-3C62847B39A6}"/>
              </a:ext>
            </a:extLst>
          </p:cNvPr>
          <p:cNvCxnSpPr>
            <a:cxnSpLocks/>
            <a:endCxn id="25" idx="1"/>
          </p:cNvCxnSpPr>
          <p:nvPr/>
        </p:nvCxnSpPr>
        <p:spPr>
          <a:xfrm>
            <a:off x="3265836" y="5482303"/>
            <a:ext cx="14043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41432D-0E3F-FF6F-7056-3DCE6FAEBC22}"/>
              </a:ext>
            </a:extLst>
          </p:cNvPr>
          <p:cNvCxnSpPr>
            <a:cxnSpLocks/>
          </p:cNvCxnSpPr>
          <p:nvPr/>
        </p:nvCxnSpPr>
        <p:spPr>
          <a:xfrm>
            <a:off x="3093177" y="6157062"/>
            <a:ext cx="1586807"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1A42E117-8F9A-BC30-F5BB-E78BF1B6A590}"/>
              </a:ext>
            </a:extLst>
          </p:cNvPr>
          <p:cNvSpPr/>
          <p:nvPr/>
        </p:nvSpPr>
        <p:spPr>
          <a:xfrm>
            <a:off x="4670175" y="5150726"/>
            <a:ext cx="204774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Collaborator</a:t>
            </a:r>
          </a:p>
        </p:txBody>
      </p:sp>
      <p:sp>
        <p:nvSpPr>
          <p:cNvPr id="26" name="Rectangle 25">
            <a:extLst>
              <a:ext uri="{FF2B5EF4-FFF2-40B4-BE49-F238E27FC236}">
                <a16:creationId xmlns:a16="http://schemas.microsoft.com/office/drawing/2014/main" id="{D3418EAB-3758-F8AE-0CC3-8D5B36F46E74}"/>
              </a:ext>
            </a:extLst>
          </p:cNvPr>
          <p:cNvSpPr/>
          <p:nvPr/>
        </p:nvSpPr>
        <p:spPr>
          <a:xfrm>
            <a:off x="4670174" y="6080346"/>
            <a:ext cx="204774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t>
            </a:r>
            <a:r>
              <a:rPr lang="en-US" dirty="0" err="1">
                <a:latin typeface="Calibri" panose="020F0502020204030204" pitchFamily="34" charset="0"/>
                <a:cs typeface="Calibri" panose="020F0502020204030204" pitchFamily="34" charset="0"/>
              </a:rPr>
              <a:t>Responsabile</a:t>
            </a:r>
            <a:endParaRPr lang="en-US" dirty="0">
              <a:latin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C5543132-0D84-6B7F-0A8D-EEA50D1E52B0}"/>
              </a:ext>
            </a:extLst>
          </p:cNvPr>
          <p:cNvSpPr/>
          <p:nvPr/>
        </p:nvSpPr>
        <p:spPr>
          <a:xfrm>
            <a:off x="6573903" y="588312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14AB843F-02F8-984C-6360-653D57D03D6C}"/>
              </a:ext>
            </a:extLst>
          </p:cNvPr>
          <p:cNvSpPr txBox="1"/>
          <p:nvPr/>
        </p:nvSpPr>
        <p:spPr>
          <a:xfrm>
            <a:off x="5883064" y="5784907"/>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29" name="Oval 128">
            <a:extLst>
              <a:ext uri="{FF2B5EF4-FFF2-40B4-BE49-F238E27FC236}">
                <a16:creationId xmlns:a16="http://schemas.microsoft.com/office/drawing/2014/main" id="{0C6AA652-1887-715A-FEA8-9CE95D9447AC}"/>
              </a:ext>
            </a:extLst>
          </p:cNvPr>
          <p:cNvSpPr/>
          <p:nvPr/>
        </p:nvSpPr>
        <p:spPr>
          <a:xfrm>
            <a:off x="6573903" y="49801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32" name="Elbow Connector 31">
            <a:extLst>
              <a:ext uri="{FF2B5EF4-FFF2-40B4-BE49-F238E27FC236}">
                <a16:creationId xmlns:a16="http://schemas.microsoft.com/office/drawing/2014/main" id="{0B2234E1-C421-7BBF-C3A6-C9C6E79DAA6D}"/>
              </a:ext>
            </a:extLst>
          </p:cNvPr>
          <p:cNvCxnSpPr>
            <a:cxnSpLocks/>
            <a:stCxn id="30" idx="6"/>
            <a:endCxn id="2" idx="0"/>
          </p:cNvCxnSpPr>
          <p:nvPr/>
        </p:nvCxnSpPr>
        <p:spPr>
          <a:xfrm flipH="1" flipV="1">
            <a:off x="2015899" y="2258573"/>
            <a:ext cx="4846036" cy="3768565"/>
          </a:xfrm>
          <a:prstGeom prst="bentConnector4">
            <a:avLst>
              <a:gd name="adj1" fmla="val -90194"/>
              <a:gd name="adj2" fmla="val 11383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32696338-CD38-576F-7D7A-BE058547B07C}"/>
              </a:ext>
            </a:extLst>
          </p:cNvPr>
          <p:cNvCxnSpPr>
            <a:cxnSpLocks/>
          </p:cNvCxnSpPr>
          <p:nvPr/>
        </p:nvCxnSpPr>
        <p:spPr>
          <a:xfrm rot="10800000" flipV="1">
            <a:off x="3449446" y="3255948"/>
            <a:ext cx="2016000" cy="384529"/>
          </a:xfrm>
          <a:prstGeom prst="bentConnector3">
            <a:avLst>
              <a:gd name="adj1" fmla="val 56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DED596E-A40F-CF94-F8AC-292CB3B420E0}"/>
              </a:ext>
            </a:extLst>
          </p:cNvPr>
          <p:cNvSpPr txBox="1"/>
          <p:nvPr/>
        </p:nvSpPr>
        <p:spPr>
          <a:xfrm>
            <a:off x="3639641" y="3342748"/>
            <a:ext cx="2005679" cy="338554"/>
          </a:xfrm>
          <a:prstGeom prst="rect">
            <a:avLst/>
          </a:prstGeom>
          <a:noFill/>
        </p:spPr>
        <p:txBody>
          <a:bodyPr wrap="square" rtlCol="0">
            <a:spAutoFit/>
          </a:bodyPr>
          <a:lstStyle/>
          <a:p>
            <a:r>
              <a:rPr lang="en-US" sz="1600" dirty="0">
                <a:solidFill>
                  <a:prstClr val="black"/>
                </a:solidFill>
                <a:latin typeface="Calibri"/>
              </a:rPr>
              <a:t>wrong credentials</a:t>
            </a:r>
          </a:p>
        </p:txBody>
      </p:sp>
      <p:sp>
        <p:nvSpPr>
          <p:cNvPr id="66" name="Google Shape;208;p33">
            <a:extLst>
              <a:ext uri="{FF2B5EF4-FFF2-40B4-BE49-F238E27FC236}">
                <a16:creationId xmlns:a16="http://schemas.microsoft.com/office/drawing/2014/main" id="{242C13B5-3875-7E3A-0DBB-646B2B34683A}"/>
              </a:ext>
            </a:extLst>
          </p:cNvPr>
          <p:cNvSpPr txBox="1"/>
          <p:nvPr/>
        </p:nvSpPr>
        <p:spPr>
          <a:xfrm>
            <a:off x="5678847" y="2224421"/>
            <a:ext cx="152341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200" dirty="0">
                <a:solidFill>
                  <a:schemeClr val="dk1"/>
                </a:solidFill>
                <a:latin typeface="Calibri"/>
                <a:ea typeface="Calibri"/>
                <a:cs typeface="Calibri"/>
                <a:sym typeface="Calibri"/>
              </a:rPr>
              <a:t>username, password</a:t>
            </a:r>
            <a:endParaRPr sz="1200" dirty="0">
              <a:solidFill>
                <a:schemeClr val="dk1"/>
              </a:solidFill>
              <a:latin typeface="Calibri"/>
              <a:ea typeface="Calibri"/>
              <a:cs typeface="Calibri"/>
              <a:sym typeface="Calibri"/>
            </a:endParaRPr>
          </a:p>
        </p:txBody>
      </p:sp>
      <p:cxnSp>
        <p:nvCxnSpPr>
          <p:cNvPr id="71" name="Straight Connector 70">
            <a:extLst>
              <a:ext uri="{FF2B5EF4-FFF2-40B4-BE49-F238E27FC236}">
                <a16:creationId xmlns:a16="http://schemas.microsoft.com/office/drawing/2014/main" id="{17863891-EA95-EB3C-1A8B-E07AEB4D7821}"/>
              </a:ext>
            </a:extLst>
          </p:cNvPr>
          <p:cNvCxnSpPr>
            <a:cxnSpLocks/>
            <a:stCxn id="66" idx="2"/>
            <a:endCxn id="11" idx="1"/>
          </p:cNvCxnSpPr>
          <p:nvPr/>
        </p:nvCxnSpPr>
        <p:spPr>
          <a:xfrm flipH="1">
            <a:off x="6101375" y="2480078"/>
            <a:ext cx="339181" cy="118663"/>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72677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F927C-68D2-B979-1E14-1055B625362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82063CD-D62D-AA5E-2029-61642724E83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(admin)</a:t>
            </a:r>
          </a:p>
        </p:txBody>
      </p:sp>
      <p:sp>
        <p:nvSpPr>
          <p:cNvPr id="152" name="Parallelogram 151">
            <a:extLst>
              <a:ext uri="{FF2B5EF4-FFF2-40B4-BE49-F238E27FC236}">
                <a16:creationId xmlns:a16="http://schemas.microsoft.com/office/drawing/2014/main" id="{D260C455-5809-FE32-EDEC-AAF5ADBEF646}"/>
              </a:ext>
            </a:extLst>
          </p:cNvPr>
          <p:cNvSpPr/>
          <p:nvPr/>
        </p:nvSpPr>
        <p:spPr>
          <a:xfrm>
            <a:off x="9841321" y="443048"/>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Get Projects Structures</a:t>
            </a:r>
          </a:p>
        </p:txBody>
      </p:sp>
      <p:sp>
        <p:nvSpPr>
          <p:cNvPr id="153" name="Google Shape;208;p33">
            <a:extLst>
              <a:ext uri="{FF2B5EF4-FFF2-40B4-BE49-F238E27FC236}">
                <a16:creationId xmlns:a16="http://schemas.microsoft.com/office/drawing/2014/main" id="{5AFCAAFD-9115-9AE0-D86A-7DB1487AEDEE}"/>
              </a:ext>
            </a:extLst>
          </p:cNvPr>
          <p:cNvSpPr txBox="1"/>
          <p:nvPr/>
        </p:nvSpPr>
        <p:spPr>
          <a:xfrm>
            <a:off x="11115081" y="131178"/>
            <a:ext cx="6502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endParaRPr sz="1200" dirty="0">
              <a:solidFill>
                <a:schemeClr val="dk1"/>
              </a:solidFill>
              <a:latin typeface="Calibri"/>
              <a:ea typeface="Calibri"/>
              <a:cs typeface="Calibri"/>
              <a:sym typeface="Calibri"/>
            </a:endParaRPr>
          </a:p>
        </p:txBody>
      </p:sp>
      <p:cxnSp>
        <p:nvCxnSpPr>
          <p:cNvPr id="154" name="Straight Connector 153">
            <a:extLst>
              <a:ext uri="{FF2B5EF4-FFF2-40B4-BE49-F238E27FC236}">
                <a16:creationId xmlns:a16="http://schemas.microsoft.com/office/drawing/2014/main" id="{C4235989-F19B-B888-6B3E-322180EB2896}"/>
              </a:ext>
            </a:extLst>
          </p:cNvPr>
          <p:cNvCxnSpPr>
            <a:cxnSpLocks/>
          </p:cNvCxnSpPr>
          <p:nvPr/>
        </p:nvCxnSpPr>
        <p:spPr>
          <a:xfrm flipH="1">
            <a:off x="10745923" y="287584"/>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2" name="Rectangle 1">
            <a:extLst>
              <a:ext uri="{FF2B5EF4-FFF2-40B4-BE49-F238E27FC236}">
                <a16:creationId xmlns:a16="http://schemas.microsoft.com/office/drawing/2014/main" id="{9CC13DD0-19C0-76CE-7DD1-1F84E91D3AC0}"/>
              </a:ext>
            </a:extLst>
          </p:cNvPr>
          <p:cNvSpPr/>
          <p:nvPr/>
        </p:nvSpPr>
        <p:spPr>
          <a:xfrm>
            <a:off x="265177" y="1465150"/>
            <a:ext cx="11500192" cy="420113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cxnSp>
        <p:nvCxnSpPr>
          <p:cNvPr id="75" name="Elbow Connector 74">
            <a:extLst>
              <a:ext uri="{FF2B5EF4-FFF2-40B4-BE49-F238E27FC236}">
                <a16:creationId xmlns:a16="http://schemas.microsoft.com/office/drawing/2014/main" id="{A69FBD64-1624-1CD8-9424-5F58D11DB366}"/>
              </a:ext>
            </a:extLst>
          </p:cNvPr>
          <p:cNvCxnSpPr>
            <a:cxnSpLocks/>
          </p:cNvCxnSpPr>
          <p:nvPr/>
        </p:nvCxnSpPr>
        <p:spPr>
          <a:xfrm flipV="1">
            <a:off x="3222624" y="5668021"/>
            <a:ext cx="484893" cy="510829"/>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Rounded Rectangle 34">
            <a:extLst>
              <a:ext uri="{FF2B5EF4-FFF2-40B4-BE49-F238E27FC236}">
                <a16:creationId xmlns:a16="http://schemas.microsoft.com/office/drawing/2014/main" id="{7BA82C80-C947-F4F7-A9EE-E62B0A7AD6F0}"/>
              </a:ext>
            </a:extLst>
          </p:cNvPr>
          <p:cNvSpPr/>
          <p:nvPr/>
        </p:nvSpPr>
        <p:spPr>
          <a:xfrm>
            <a:off x="1564024" y="3021474"/>
            <a:ext cx="2815939" cy="2371376"/>
          </a:xfrm>
          <a:prstGeom prst="roundRect">
            <a:avLst/>
          </a:prstGeom>
        </p:spPr>
        <p:style>
          <a:lnRef idx="2">
            <a:schemeClr val="accent3"/>
          </a:lnRef>
          <a:fillRef idx="1">
            <a:schemeClr val="lt1"/>
          </a:fillRef>
          <a:effectRef idx="0">
            <a:schemeClr val="accent3"/>
          </a:effectRef>
          <a:fontRef idx="minor">
            <a:schemeClr val="dk1"/>
          </a:fontRef>
        </p:style>
        <p:txBody>
          <a:bodyPr tIns="0" rtlCol="0" anchor="t"/>
          <a:lstStyle/>
          <a:p>
            <a:pPr algn="ctr"/>
            <a:r>
              <a:rPr lang="en-US" dirty="0">
                <a:solidFill>
                  <a:schemeClr val="tx1"/>
                </a:solidFill>
                <a:latin typeface="Calibri" panose="020F0502020204030204" pitchFamily="34" charset="0"/>
                <a:cs typeface="Calibri" panose="020F0502020204030204" pitchFamily="34" charset="0"/>
              </a:rPr>
              <a:t>Draft Project Structure</a:t>
            </a:r>
          </a:p>
        </p:txBody>
      </p:sp>
      <p:sp>
        <p:nvSpPr>
          <p:cNvPr id="3" name="Rounded Rectangle 2">
            <a:extLst>
              <a:ext uri="{FF2B5EF4-FFF2-40B4-BE49-F238E27FC236}">
                <a16:creationId xmlns:a16="http://schemas.microsoft.com/office/drawing/2014/main" id="{4EF5B99D-5C36-2913-6B0E-A9168B934BC5}"/>
              </a:ext>
            </a:extLst>
          </p:cNvPr>
          <p:cNvSpPr/>
          <p:nvPr/>
        </p:nvSpPr>
        <p:spPr>
          <a:xfrm>
            <a:off x="1868168" y="1792161"/>
            <a:ext cx="2298922" cy="67360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Project Form</a:t>
            </a:r>
          </a:p>
          <a:p>
            <a:pPr algn="ctr"/>
            <a:r>
              <a:rPr lang="en-US" dirty="0">
                <a:solidFill>
                  <a:schemeClr val="tx1"/>
                </a:solidFill>
                <a:latin typeface="Calibri" panose="020F0502020204030204" pitchFamily="34" charset="0"/>
                <a:cs typeface="Calibri" panose="020F0502020204030204" pitchFamily="34" charset="0"/>
              </a:rPr>
              <a:t>[title, duration, …]</a:t>
            </a:r>
          </a:p>
        </p:txBody>
      </p:sp>
      <p:cxnSp>
        <p:nvCxnSpPr>
          <p:cNvPr id="7" name="Elbow Connector 6">
            <a:extLst>
              <a:ext uri="{FF2B5EF4-FFF2-40B4-BE49-F238E27FC236}">
                <a16:creationId xmlns:a16="http://schemas.microsoft.com/office/drawing/2014/main" id="{AAC44C01-A861-6578-054D-B29362780ED6}"/>
              </a:ext>
            </a:extLst>
          </p:cNvPr>
          <p:cNvCxnSpPr>
            <a:cxnSpLocks/>
            <a:stCxn id="45" idx="6"/>
            <a:endCxn id="35" idx="0"/>
          </p:cNvCxnSpPr>
          <p:nvPr/>
        </p:nvCxnSpPr>
        <p:spPr>
          <a:xfrm flipH="1">
            <a:off x="2971994" y="2360680"/>
            <a:ext cx="1302466" cy="660794"/>
          </a:xfrm>
          <a:prstGeom prst="bentConnector4">
            <a:avLst>
              <a:gd name="adj1" fmla="val -17551"/>
              <a:gd name="adj2" fmla="val 77503"/>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7E521C1F-0AD7-65A6-AF0E-29AF4DC62CFF}"/>
              </a:ext>
            </a:extLst>
          </p:cNvPr>
          <p:cNvSpPr/>
          <p:nvPr/>
        </p:nvSpPr>
        <p:spPr>
          <a:xfrm>
            <a:off x="1680977" y="4525648"/>
            <a:ext cx="2411676" cy="66754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Task Row [editable title, </a:t>
            </a:r>
            <a:r>
              <a:rPr lang="en-US" dirty="0" err="1">
                <a:solidFill>
                  <a:schemeClr val="tx1"/>
                </a:solidFill>
                <a:latin typeface="Calibri" panose="020F0502020204030204" pitchFamily="34" charset="0"/>
                <a:cs typeface="Calibri" panose="020F0502020204030204" pitchFamily="34" charset="0"/>
              </a:rPr>
              <a:t>descr</a:t>
            </a:r>
            <a:r>
              <a:rPr lang="en-US" dirty="0">
                <a:solidFill>
                  <a:schemeClr val="tx1"/>
                </a:solidFill>
                <a:latin typeface="Calibri" panose="020F0502020204030204" pitchFamily="34" charset="0"/>
                <a:cs typeface="Calibri" panose="020F0502020204030204" pitchFamily="34" charset="0"/>
              </a:rPr>
              <a:t>, …, -]</a:t>
            </a:r>
          </a:p>
        </p:txBody>
      </p:sp>
      <p:sp>
        <p:nvSpPr>
          <p:cNvPr id="45" name="Oval 44">
            <a:extLst>
              <a:ext uri="{FF2B5EF4-FFF2-40B4-BE49-F238E27FC236}">
                <a16:creationId xmlns:a16="http://schemas.microsoft.com/office/drawing/2014/main" id="{FA08F4FA-0284-C90A-5C56-BC2A974E8148}"/>
              </a:ext>
            </a:extLst>
          </p:cNvPr>
          <p:cNvSpPr/>
          <p:nvPr/>
        </p:nvSpPr>
        <p:spPr>
          <a:xfrm>
            <a:off x="3986428" y="22166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49DCBB70-BC07-B4AB-304F-D61669EC219F}"/>
              </a:ext>
            </a:extLst>
          </p:cNvPr>
          <p:cNvSpPr/>
          <p:nvPr/>
        </p:nvSpPr>
        <p:spPr>
          <a:xfrm>
            <a:off x="3974325" y="44690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473F7CF8-9179-8DAF-5CEE-A1A3D5C8BF6E}"/>
              </a:ext>
            </a:extLst>
          </p:cNvPr>
          <p:cNvSpPr/>
          <p:nvPr/>
        </p:nvSpPr>
        <p:spPr>
          <a:xfrm>
            <a:off x="3974325" y="491725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8023E628-C1B9-ABD8-5EA9-F2B7EA4652F6}"/>
              </a:ext>
            </a:extLst>
          </p:cNvPr>
          <p:cNvSpPr txBox="1"/>
          <p:nvPr/>
        </p:nvSpPr>
        <p:spPr>
          <a:xfrm>
            <a:off x="4217149" y="205885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6" name="TextBox 65">
            <a:extLst>
              <a:ext uri="{FF2B5EF4-FFF2-40B4-BE49-F238E27FC236}">
                <a16:creationId xmlns:a16="http://schemas.microsoft.com/office/drawing/2014/main" id="{33FCF658-5B5B-ABBF-8DD5-2475F9F89A76}"/>
              </a:ext>
            </a:extLst>
          </p:cNvPr>
          <p:cNvSpPr txBox="1"/>
          <p:nvPr/>
        </p:nvSpPr>
        <p:spPr>
          <a:xfrm>
            <a:off x="4594640" y="3515720"/>
            <a:ext cx="173182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WP, update draft</a:t>
            </a:r>
          </a:p>
        </p:txBody>
      </p:sp>
      <p:sp>
        <p:nvSpPr>
          <p:cNvPr id="89" name="Oval 88">
            <a:extLst>
              <a:ext uri="{FF2B5EF4-FFF2-40B4-BE49-F238E27FC236}">
                <a16:creationId xmlns:a16="http://schemas.microsoft.com/office/drawing/2014/main" id="{AD7B61D1-0FA3-8A56-1814-005124103965}"/>
              </a:ext>
            </a:extLst>
          </p:cNvPr>
          <p:cNvSpPr/>
          <p:nvPr/>
        </p:nvSpPr>
        <p:spPr>
          <a:xfrm>
            <a:off x="1866692" y="12945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7F3355C6-7A2E-BBFD-11D5-58D4125D19B7}"/>
              </a:ext>
            </a:extLst>
          </p:cNvPr>
          <p:cNvSpPr txBox="1"/>
          <p:nvPr/>
        </p:nvSpPr>
        <p:spPr>
          <a:xfrm>
            <a:off x="1158728" y="115135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8" name="Rounded Rectangle 97">
            <a:extLst>
              <a:ext uri="{FF2B5EF4-FFF2-40B4-BE49-F238E27FC236}">
                <a16:creationId xmlns:a16="http://schemas.microsoft.com/office/drawing/2014/main" id="{F1A95FA5-89D4-DDC6-7892-93FA468EDD1C}"/>
              </a:ext>
            </a:extLst>
          </p:cNvPr>
          <p:cNvSpPr/>
          <p:nvPr/>
        </p:nvSpPr>
        <p:spPr>
          <a:xfrm>
            <a:off x="8146914" y="2460287"/>
            <a:ext cx="3405981"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Projects List [</a:t>
            </a:r>
            <a:r>
              <a:rPr lang="en-US" dirty="0" err="1">
                <a:latin typeface="Calibri" panose="020F0502020204030204" pitchFamily="34" charset="0"/>
                <a:cs typeface="Calibri" panose="020F0502020204030204" pitchFamily="34" charset="0"/>
              </a:rPr>
              <a:t>project.id</a:t>
            </a:r>
            <a:r>
              <a:rPr lang="en-US" dirty="0">
                <a:latin typeface="Calibri" panose="020F0502020204030204" pitchFamily="34" charset="0"/>
                <a:cs typeface="Calibri" panose="020F0502020204030204" pitchFamily="34" charset="0"/>
              </a:rPr>
              <a:t>, title]</a:t>
            </a:r>
            <a:endParaRPr lang="en-US" sz="1600" dirty="0">
              <a:solidFill>
                <a:schemeClr val="tx1"/>
              </a:solidFill>
              <a:latin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98F0E041-3B00-08A0-3A54-D87B5753776D}"/>
              </a:ext>
            </a:extLst>
          </p:cNvPr>
          <p:cNvSpPr/>
          <p:nvPr/>
        </p:nvSpPr>
        <p:spPr>
          <a:xfrm>
            <a:off x="9604054" y="1321134"/>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6ECC7E3F-CACC-FA4C-575B-4F3E04D0B839}"/>
              </a:ext>
            </a:extLst>
          </p:cNvPr>
          <p:cNvCxnSpPr>
            <a:cxnSpLocks/>
            <a:stCxn id="17" idx="7"/>
            <a:endCxn id="152" idx="4"/>
          </p:cNvCxnSpPr>
          <p:nvPr/>
        </p:nvCxnSpPr>
        <p:spPr>
          <a:xfrm flipV="1">
            <a:off x="9849905" y="1097407"/>
            <a:ext cx="926139" cy="265908"/>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7" name="Rounded Rectangle 36">
            <a:extLst>
              <a:ext uri="{FF2B5EF4-FFF2-40B4-BE49-F238E27FC236}">
                <a16:creationId xmlns:a16="http://schemas.microsoft.com/office/drawing/2014/main" id="{72C0EE35-973C-A4D4-DE05-DF0420E5BEBF}"/>
              </a:ext>
            </a:extLst>
          </p:cNvPr>
          <p:cNvSpPr/>
          <p:nvPr/>
        </p:nvSpPr>
        <p:spPr>
          <a:xfrm>
            <a:off x="1694817" y="3588011"/>
            <a:ext cx="2387349" cy="66079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WP Row [editable title, start, end, + task, -]</a:t>
            </a:r>
          </a:p>
        </p:txBody>
      </p:sp>
      <p:sp>
        <p:nvSpPr>
          <p:cNvPr id="51" name="Oval 50">
            <a:extLst>
              <a:ext uri="{FF2B5EF4-FFF2-40B4-BE49-F238E27FC236}">
                <a16:creationId xmlns:a16="http://schemas.microsoft.com/office/drawing/2014/main" id="{EA9797FD-E283-7512-BA47-231C53EC2FB9}"/>
              </a:ext>
            </a:extLst>
          </p:cNvPr>
          <p:cNvSpPr/>
          <p:nvPr/>
        </p:nvSpPr>
        <p:spPr>
          <a:xfrm>
            <a:off x="3991319" y="354967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2" name="Oval 51">
            <a:extLst>
              <a:ext uri="{FF2B5EF4-FFF2-40B4-BE49-F238E27FC236}">
                <a16:creationId xmlns:a16="http://schemas.microsoft.com/office/drawing/2014/main" id="{258293AD-4F10-C471-3E6F-67DB92BCA96F}"/>
              </a:ext>
            </a:extLst>
          </p:cNvPr>
          <p:cNvSpPr/>
          <p:nvPr/>
        </p:nvSpPr>
        <p:spPr>
          <a:xfrm>
            <a:off x="3991319" y="399788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5524E1A4-C674-5447-F9BD-2B0C47F97837}"/>
              </a:ext>
            </a:extLst>
          </p:cNvPr>
          <p:cNvSpPr txBox="1"/>
          <p:nvPr/>
        </p:nvSpPr>
        <p:spPr>
          <a:xfrm>
            <a:off x="4594640" y="3981158"/>
            <a:ext cx="1691745"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WP, update draft</a:t>
            </a:r>
          </a:p>
        </p:txBody>
      </p:sp>
      <p:sp>
        <p:nvSpPr>
          <p:cNvPr id="57" name="TextBox 56">
            <a:extLst>
              <a:ext uri="{FF2B5EF4-FFF2-40B4-BE49-F238E27FC236}">
                <a16:creationId xmlns:a16="http://schemas.microsoft.com/office/drawing/2014/main" id="{71EB2C79-166D-1CF2-798D-00BFACDD9C05}"/>
              </a:ext>
            </a:extLst>
          </p:cNvPr>
          <p:cNvSpPr txBox="1"/>
          <p:nvPr/>
        </p:nvSpPr>
        <p:spPr>
          <a:xfrm>
            <a:off x="4559844" y="4472463"/>
            <a:ext cx="1869486"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Task , update draft</a:t>
            </a:r>
          </a:p>
        </p:txBody>
      </p:sp>
      <p:sp>
        <p:nvSpPr>
          <p:cNvPr id="61" name="TextBox 60">
            <a:extLst>
              <a:ext uri="{FF2B5EF4-FFF2-40B4-BE49-F238E27FC236}">
                <a16:creationId xmlns:a16="http://schemas.microsoft.com/office/drawing/2014/main" id="{5DDC5A6E-FE6E-19C6-69C2-39100E767A73}"/>
              </a:ext>
            </a:extLst>
          </p:cNvPr>
          <p:cNvSpPr txBox="1"/>
          <p:nvPr/>
        </p:nvSpPr>
        <p:spPr>
          <a:xfrm>
            <a:off x="4563318" y="4876930"/>
            <a:ext cx="182941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Task , update draft</a:t>
            </a:r>
          </a:p>
        </p:txBody>
      </p:sp>
      <p:sp>
        <p:nvSpPr>
          <p:cNvPr id="68" name="Oval 67">
            <a:extLst>
              <a:ext uri="{FF2B5EF4-FFF2-40B4-BE49-F238E27FC236}">
                <a16:creationId xmlns:a16="http://schemas.microsoft.com/office/drawing/2014/main" id="{384468EC-4BD7-B3A8-98D3-FB6737056A7C}"/>
              </a:ext>
            </a:extLst>
          </p:cNvPr>
          <p:cNvSpPr/>
          <p:nvPr/>
        </p:nvSpPr>
        <p:spPr>
          <a:xfrm>
            <a:off x="2510062" y="526098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69" name="Elbow Connector 68">
            <a:extLst>
              <a:ext uri="{FF2B5EF4-FFF2-40B4-BE49-F238E27FC236}">
                <a16:creationId xmlns:a16="http://schemas.microsoft.com/office/drawing/2014/main" id="{E1D1258D-AB3C-88AA-622E-34D4C1412C38}"/>
              </a:ext>
            </a:extLst>
          </p:cNvPr>
          <p:cNvCxnSpPr>
            <a:cxnSpLocks/>
            <a:stCxn id="68" idx="4"/>
            <a:endCxn id="74" idx="0"/>
          </p:cNvCxnSpPr>
          <p:nvPr/>
        </p:nvCxnSpPr>
        <p:spPr>
          <a:xfrm rot="5400000">
            <a:off x="2356734" y="5552585"/>
            <a:ext cx="300909" cy="293781"/>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E705089F-929E-94BC-6BD5-7E586EDA5436}"/>
              </a:ext>
            </a:extLst>
          </p:cNvPr>
          <p:cNvSpPr txBox="1"/>
          <p:nvPr/>
        </p:nvSpPr>
        <p:spPr>
          <a:xfrm>
            <a:off x="2746331" y="5334475"/>
            <a:ext cx="552780"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save</a:t>
            </a:r>
          </a:p>
        </p:txBody>
      </p:sp>
      <p:sp>
        <p:nvSpPr>
          <p:cNvPr id="74" name="Parallelogram 73">
            <a:extLst>
              <a:ext uri="{FF2B5EF4-FFF2-40B4-BE49-F238E27FC236}">
                <a16:creationId xmlns:a16="http://schemas.microsoft.com/office/drawing/2014/main" id="{2EF4BFAD-9F44-8F0D-67AE-7614D6BB485A}"/>
              </a:ext>
            </a:extLst>
          </p:cNvPr>
          <p:cNvSpPr/>
          <p:nvPr/>
        </p:nvSpPr>
        <p:spPr>
          <a:xfrm>
            <a:off x="1425574" y="5849930"/>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Save Project Structure</a:t>
            </a:r>
          </a:p>
        </p:txBody>
      </p:sp>
      <p:sp>
        <p:nvSpPr>
          <p:cNvPr id="83" name="TextBox 82">
            <a:extLst>
              <a:ext uri="{FF2B5EF4-FFF2-40B4-BE49-F238E27FC236}">
                <a16:creationId xmlns:a16="http://schemas.microsoft.com/office/drawing/2014/main" id="{9CB97B2D-637B-3DC5-4FB0-9A573D2753D1}"/>
              </a:ext>
            </a:extLst>
          </p:cNvPr>
          <p:cNvSpPr txBox="1"/>
          <p:nvPr/>
        </p:nvSpPr>
        <p:spPr>
          <a:xfrm>
            <a:off x="4863805" y="6270136"/>
            <a:ext cx="4580999" cy="338554"/>
          </a:xfrm>
          <a:prstGeom prst="rect">
            <a:avLst/>
          </a:prstGeom>
          <a:noFill/>
        </p:spPr>
        <p:txBody>
          <a:bodyPr wrap="none" rtlCol="0">
            <a:spAutoFit/>
          </a:bodyPr>
          <a:lstStyle/>
          <a:p>
            <a:pPr algn="r"/>
            <a:r>
              <a:rPr lang="en-US" sz="1600" dirty="0">
                <a:solidFill>
                  <a:prstClr val="black"/>
                </a:solidFill>
                <a:latin typeface="Calibri" panose="020F0502020204030204" pitchFamily="34" charset="0"/>
                <a:cs typeface="Calibri" panose="020F0502020204030204" pitchFamily="34" charset="0"/>
              </a:rPr>
              <a:t>saved, reloads Projects List and resets draft structure</a:t>
            </a:r>
          </a:p>
        </p:txBody>
      </p:sp>
      <p:cxnSp>
        <p:nvCxnSpPr>
          <p:cNvPr id="109" name="Elbow Connector 108">
            <a:extLst>
              <a:ext uri="{FF2B5EF4-FFF2-40B4-BE49-F238E27FC236}">
                <a16:creationId xmlns:a16="http://schemas.microsoft.com/office/drawing/2014/main" id="{1D39FFBA-DB47-6FF6-CF47-4508C6A3803D}"/>
              </a:ext>
            </a:extLst>
          </p:cNvPr>
          <p:cNvCxnSpPr>
            <a:cxnSpLocks/>
            <a:endCxn id="35" idx="3"/>
          </p:cNvCxnSpPr>
          <p:nvPr/>
        </p:nvCxnSpPr>
        <p:spPr>
          <a:xfrm>
            <a:off x="4216223" y="4147646"/>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2A465D22-5772-62BB-A72F-0CC14C65088F}"/>
              </a:ext>
            </a:extLst>
          </p:cNvPr>
          <p:cNvCxnSpPr>
            <a:cxnSpLocks/>
          </p:cNvCxnSpPr>
          <p:nvPr/>
        </p:nvCxnSpPr>
        <p:spPr>
          <a:xfrm>
            <a:off x="4222291" y="3670702"/>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6" name="Elbow Connector 115">
            <a:extLst>
              <a:ext uri="{FF2B5EF4-FFF2-40B4-BE49-F238E27FC236}">
                <a16:creationId xmlns:a16="http://schemas.microsoft.com/office/drawing/2014/main" id="{515C5F17-F99C-5DBA-1D45-33914639EF0D}"/>
              </a:ext>
            </a:extLst>
          </p:cNvPr>
          <p:cNvCxnSpPr>
            <a:cxnSpLocks/>
          </p:cNvCxnSpPr>
          <p:nvPr/>
        </p:nvCxnSpPr>
        <p:spPr>
          <a:xfrm>
            <a:off x="4222291" y="4629639"/>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7" name="Elbow Connector 116">
            <a:extLst>
              <a:ext uri="{FF2B5EF4-FFF2-40B4-BE49-F238E27FC236}">
                <a16:creationId xmlns:a16="http://schemas.microsoft.com/office/drawing/2014/main" id="{0E6F0FFB-9CA4-1E66-7851-2CE515C1799A}"/>
              </a:ext>
            </a:extLst>
          </p:cNvPr>
          <p:cNvCxnSpPr>
            <a:cxnSpLocks/>
          </p:cNvCxnSpPr>
          <p:nvPr/>
        </p:nvCxnSpPr>
        <p:spPr>
          <a:xfrm>
            <a:off x="4195215" y="5031508"/>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A5D579A4-8330-BC62-E5F8-4FD62F9AFB4F}"/>
              </a:ext>
            </a:extLst>
          </p:cNvPr>
          <p:cNvSpPr txBox="1"/>
          <p:nvPr/>
        </p:nvSpPr>
        <p:spPr>
          <a:xfrm>
            <a:off x="2697004" y="2583570"/>
            <a:ext cx="1196033"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render draft</a:t>
            </a:r>
          </a:p>
        </p:txBody>
      </p:sp>
      <p:sp>
        <p:nvSpPr>
          <p:cNvPr id="138" name="Rounded Rectangle 137">
            <a:extLst>
              <a:ext uri="{FF2B5EF4-FFF2-40B4-BE49-F238E27FC236}">
                <a16:creationId xmlns:a16="http://schemas.microsoft.com/office/drawing/2014/main" id="{1F6F6349-BE6F-AF3A-1089-C188FB43DEC2}"/>
              </a:ext>
            </a:extLst>
          </p:cNvPr>
          <p:cNvSpPr/>
          <p:nvPr/>
        </p:nvSpPr>
        <p:spPr>
          <a:xfrm>
            <a:off x="7590699" y="3106853"/>
            <a:ext cx="3962196" cy="60725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t>Selected Project Structure</a:t>
            </a:r>
          </a:p>
          <a:p>
            <a:pPr algn="ctr"/>
            <a:r>
              <a:rPr lang="en-US" dirty="0"/>
              <a:t>[read-only project / WP / task tree]</a:t>
            </a:r>
            <a:endParaRPr lang="en-US" sz="1600" dirty="0">
              <a:solidFill>
                <a:schemeClr val="tx1"/>
              </a:solidFill>
              <a:latin typeface="Calibri" panose="020F0502020204030204" pitchFamily="34" charset="0"/>
              <a:cs typeface="Calibri" panose="020F0502020204030204" pitchFamily="34" charset="0"/>
            </a:endParaRPr>
          </a:p>
        </p:txBody>
      </p:sp>
      <p:sp>
        <p:nvSpPr>
          <p:cNvPr id="141" name="Google Shape;208;p33">
            <a:extLst>
              <a:ext uri="{FF2B5EF4-FFF2-40B4-BE49-F238E27FC236}">
                <a16:creationId xmlns:a16="http://schemas.microsoft.com/office/drawing/2014/main" id="{2C530CCF-5797-0DF3-AB6A-572BB7A34F5A}"/>
              </a:ext>
            </a:extLst>
          </p:cNvPr>
          <p:cNvSpPr txBox="1"/>
          <p:nvPr/>
        </p:nvSpPr>
        <p:spPr>
          <a:xfrm>
            <a:off x="268662" y="6562511"/>
            <a:ext cx="4175322"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project title, duration, …, wp title, start, …, task title, descr, …</a:t>
            </a:r>
            <a:endParaRPr sz="1200" dirty="0">
              <a:solidFill>
                <a:schemeClr val="dk1"/>
              </a:solidFill>
              <a:latin typeface="Calibri"/>
              <a:ea typeface="Calibri"/>
              <a:cs typeface="Calibri"/>
              <a:sym typeface="Calibri"/>
            </a:endParaRPr>
          </a:p>
        </p:txBody>
      </p:sp>
      <p:cxnSp>
        <p:nvCxnSpPr>
          <p:cNvPr id="142" name="Straight Connector 141">
            <a:extLst>
              <a:ext uri="{FF2B5EF4-FFF2-40B4-BE49-F238E27FC236}">
                <a16:creationId xmlns:a16="http://schemas.microsoft.com/office/drawing/2014/main" id="{E761B91C-6037-18AB-7934-2A554C028EA7}"/>
              </a:ext>
            </a:extLst>
          </p:cNvPr>
          <p:cNvCxnSpPr>
            <a:cxnSpLocks/>
            <a:endCxn id="74" idx="5"/>
          </p:cNvCxnSpPr>
          <p:nvPr/>
        </p:nvCxnSpPr>
        <p:spPr>
          <a:xfrm flipV="1">
            <a:off x="595245" y="6177110"/>
            <a:ext cx="912124" cy="382592"/>
          </a:xfrm>
          <a:prstGeom prst="line">
            <a:avLst/>
          </a:prstGeom>
        </p:spPr>
        <p:style>
          <a:lnRef idx="2">
            <a:schemeClr val="dk1"/>
          </a:lnRef>
          <a:fillRef idx="0">
            <a:schemeClr val="dk1"/>
          </a:fillRef>
          <a:effectRef idx="1">
            <a:schemeClr val="dk1"/>
          </a:effectRef>
          <a:fontRef idx="minor">
            <a:schemeClr val="tx1"/>
          </a:fontRef>
        </p:style>
      </p:cxnSp>
      <p:sp>
        <p:nvSpPr>
          <p:cNvPr id="145" name="Oval 144">
            <a:extLst>
              <a:ext uri="{FF2B5EF4-FFF2-40B4-BE49-F238E27FC236}">
                <a16:creationId xmlns:a16="http://schemas.microsoft.com/office/drawing/2014/main" id="{5A2F7168-9B27-FA7A-0E03-FD732DF3D69F}"/>
              </a:ext>
            </a:extLst>
          </p:cNvPr>
          <p:cNvSpPr/>
          <p:nvPr/>
        </p:nvSpPr>
        <p:spPr>
          <a:xfrm>
            <a:off x="8002898" y="239697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46" name="Elbow Connector 145">
            <a:extLst>
              <a:ext uri="{FF2B5EF4-FFF2-40B4-BE49-F238E27FC236}">
                <a16:creationId xmlns:a16="http://schemas.microsoft.com/office/drawing/2014/main" id="{096DF2EF-CFD6-7677-22C1-1205EE91A484}"/>
              </a:ext>
            </a:extLst>
          </p:cNvPr>
          <p:cNvCxnSpPr>
            <a:cxnSpLocks/>
            <a:stCxn id="145" idx="2"/>
            <a:endCxn id="138" idx="1"/>
          </p:cNvCxnSpPr>
          <p:nvPr/>
        </p:nvCxnSpPr>
        <p:spPr>
          <a:xfrm rot="10800000" flipV="1">
            <a:off x="7590700" y="2540986"/>
            <a:ext cx="412199" cy="869496"/>
          </a:xfrm>
          <a:prstGeom prst="bentConnector3">
            <a:avLst>
              <a:gd name="adj1" fmla="val 155459"/>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0649BF8-45A7-41FE-1426-3B710370F29C}"/>
              </a:ext>
            </a:extLst>
          </p:cNvPr>
          <p:cNvCxnSpPr>
            <a:cxnSpLocks/>
          </p:cNvCxnSpPr>
          <p:nvPr/>
        </p:nvCxnSpPr>
        <p:spPr>
          <a:xfrm>
            <a:off x="11027664" y="1097407"/>
            <a:ext cx="0" cy="136288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FA53E988-66B7-65AD-A9A2-5BCDF1A71C98}"/>
              </a:ext>
            </a:extLst>
          </p:cNvPr>
          <p:cNvSpPr txBox="1"/>
          <p:nvPr/>
        </p:nvSpPr>
        <p:spPr>
          <a:xfrm>
            <a:off x="6729997" y="2218549"/>
            <a:ext cx="131144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 project</a:t>
            </a:r>
          </a:p>
        </p:txBody>
      </p:sp>
      <p:cxnSp>
        <p:nvCxnSpPr>
          <p:cNvPr id="171" name="Elbow Connector 170">
            <a:extLst>
              <a:ext uri="{FF2B5EF4-FFF2-40B4-BE49-F238E27FC236}">
                <a16:creationId xmlns:a16="http://schemas.microsoft.com/office/drawing/2014/main" id="{F76709A9-75FA-95D8-B3D2-078F1FEA8298}"/>
              </a:ext>
            </a:extLst>
          </p:cNvPr>
          <p:cNvCxnSpPr>
            <a:cxnSpLocks/>
            <a:endCxn id="2" idx="2"/>
          </p:cNvCxnSpPr>
          <p:nvPr/>
        </p:nvCxnSpPr>
        <p:spPr>
          <a:xfrm flipV="1">
            <a:off x="3194937" y="5666281"/>
            <a:ext cx="2820336" cy="62055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79" name="TextBox 178">
            <a:extLst>
              <a:ext uri="{FF2B5EF4-FFF2-40B4-BE49-F238E27FC236}">
                <a16:creationId xmlns:a16="http://schemas.microsoft.com/office/drawing/2014/main" id="{13F54064-9B29-6F2E-8BF1-B446519B7165}"/>
              </a:ext>
            </a:extLst>
          </p:cNvPr>
          <p:cNvSpPr txBox="1"/>
          <p:nvPr/>
        </p:nvSpPr>
        <p:spPr>
          <a:xfrm>
            <a:off x="3670138" y="5843647"/>
            <a:ext cx="1471621" cy="338554"/>
          </a:xfrm>
          <a:prstGeom prst="rect">
            <a:avLst/>
          </a:prstGeom>
          <a:noFill/>
        </p:spPr>
        <p:txBody>
          <a:bodyPr wrap="none" rtlCol="0">
            <a:spAutoFit/>
          </a:bodyPr>
          <a:lstStyle/>
          <a:p>
            <a:pPr algn="r"/>
            <a:r>
              <a:rPr lang="en-US" sz="1600" dirty="0">
                <a:solidFill>
                  <a:prstClr val="black"/>
                </a:solidFill>
                <a:latin typeface="Calibri" panose="020F0502020204030204" pitchFamily="34" charset="0"/>
                <a:cs typeface="Calibri" panose="020F0502020204030204" pitchFamily="34" charset="0"/>
              </a:rPr>
              <a:t>validation error</a:t>
            </a:r>
          </a:p>
        </p:txBody>
      </p:sp>
      <p:cxnSp>
        <p:nvCxnSpPr>
          <p:cNvPr id="192" name="Elbow Connector 191">
            <a:extLst>
              <a:ext uri="{FF2B5EF4-FFF2-40B4-BE49-F238E27FC236}">
                <a16:creationId xmlns:a16="http://schemas.microsoft.com/office/drawing/2014/main" id="{4A170849-CABC-AF27-6DEA-845EA3978A67}"/>
              </a:ext>
            </a:extLst>
          </p:cNvPr>
          <p:cNvCxnSpPr>
            <a:cxnSpLocks/>
          </p:cNvCxnSpPr>
          <p:nvPr/>
        </p:nvCxnSpPr>
        <p:spPr>
          <a:xfrm rot="10800000" flipH="1" flipV="1">
            <a:off x="1553050" y="3424631"/>
            <a:ext cx="21946" cy="208675"/>
          </a:xfrm>
          <a:prstGeom prst="bentConnector3">
            <a:avLst>
              <a:gd name="adj1" fmla="val -1041648"/>
            </a:avLst>
          </a:prstGeom>
          <a:ln>
            <a:tailEnd type="arrow"/>
          </a:ln>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9A551B43-6AED-3742-0648-D01B7D50B59F}"/>
              </a:ext>
            </a:extLst>
          </p:cNvPr>
          <p:cNvSpPr txBox="1"/>
          <p:nvPr/>
        </p:nvSpPr>
        <p:spPr>
          <a:xfrm>
            <a:off x="252539" y="3371590"/>
            <a:ext cx="1221873" cy="584775"/>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undo/redo,</a:t>
            </a:r>
          </a:p>
          <a:p>
            <a:r>
              <a:rPr lang="en-US" sz="1600" dirty="0">
                <a:solidFill>
                  <a:prstClr val="black"/>
                </a:solidFill>
                <a:latin typeface="Calibri" panose="020F0502020204030204" pitchFamily="34" charset="0"/>
                <a:cs typeface="Calibri" panose="020F0502020204030204" pitchFamily="34" charset="0"/>
              </a:rPr>
              <a:t>update draft</a:t>
            </a:r>
          </a:p>
        </p:txBody>
      </p:sp>
      <p:cxnSp>
        <p:nvCxnSpPr>
          <p:cNvPr id="196" name="Elbow Connector 195">
            <a:extLst>
              <a:ext uri="{FF2B5EF4-FFF2-40B4-BE49-F238E27FC236}">
                <a16:creationId xmlns:a16="http://schemas.microsoft.com/office/drawing/2014/main" id="{709B7CFE-8B97-8A6C-F4BC-9F07B43E4E3F}"/>
              </a:ext>
            </a:extLst>
          </p:cNvPr>
          <p:cNvCxnSpPr>
            <a:cxnSpLocks/>
          </p:cNvCxnSpPr>
          <p:nvPr/>
        </p:nvCxnSpPr>
        <p:spPr>
          <a:xfrm rot="16200000" flipV="1">
            <a:off x="1362464" y="4658467"/>
            <a:ext cx="520159" cy="110887"/>
          </a:xfrm>
          <a:prstGeom prst="bentConnector4">
            <a:avLst>
              <a:gd name="adj1" fmla="val 973"/>
              <a:gd name="adj2" fmla="val 306156"/>
            </a:avLst>
          </a:prstGeom>
          <a:ln>
            <a:tailEnd type="arrow"/>
          </a:ln>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474BCBDB-05AC-4320-06B0-667D83867731}"/>
              </a:ext>
            </a:extLst>
          </p:cNvPr>
          <p:cNvSpPr txBox="1"/>
          <p:nvPr/>
        </p:nvSpPr>
        <p:spPr>
          <a:xfrm>
            <a:off x="194056" y="4368569"/>
            <a:ext cx="1221873" cy="584775"/>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drag task,</a:t>
            </a:r>
          </a:p>
          <a:p>
            <a:r>
              <a:rPr lang="en-US" sz="1600" dirty="0">
                <a:solidFill>
                  <a:prstClr val="black"/>
                </a:solidFill>
                <a:latin typeface="Calibri" panose="020F0502020204030204" pitchFamily="34" charset="0"/>
                <a:cs typeface="Calibri" panose="020F0502020204030204" pitchFamily="34" charset="0"/>
              </a:rPr>
              <a:t>update draft</a:t>
            </a:r>
          </a:p>
        </p:txBody>
      </p:sp>
    </p:spTree>
    <p:extLst>
      <p:ext uri="{BB962C8B-B14F-4D97-AF65-F5344CB8AC3E}">
        <p14:creationId xmlns:p14="http://schemas.microsoft.com/office/powerpoint/2010/main" val="433010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F82F-20B5-BDD7-9786-96EFE26D871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04E45527-921C-814B-9AE8-F10264094931}"/>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(responsabile)</a:t>
            </a:r>
          </a:p>
        </p:txBody>
      </p:sp>
      <p:sp>
        <p:nvSpPr>
          <p:cNvPr id="2" name="Rectangle 1">
            <a:extLst>
              <a:ext uri="{FF2B5EF4-FFF2-40B4-BE49-F238E27FC236}">
                <a16:creationId xmlns:a16="http://schemas.microsoft.com/office/drawing/2014/main" id="{141E8DF8-B68E-021E-C8B7-C7CD3712B2B3}"/>
              </a:ext>
            </a:extLst>
          </p:cNvPr>
          <p:cNvSpPr/>
          <p:nvPr/>
        </p:nvSpPr>
        <p:spPr>
          <a:xfrm>
            <a:off x="2329302" y="1353592"/>
            <a:ext cx="7682918" cy="412962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5B3E9BC0-11B5-3E66-0D4A-C75E3B0AF8C9}"/>
              </a:ext>
            </a:extLst>
          </p:cNvPr>
          <p:cNvSpPr/>
          <p:nvPr/>
        </p:nvSpPr>
        <p:spPr>
          <a:xfrm>
            <a:off x="3063420" y="2251662"/>
            <a:ext cx="2242527" cy="87284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Managed Tasks List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project.id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wp.id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task.id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task.name</a:t>
            </a:r>
            <a:r>
              <a:rPr lang="en-US" sz="1600" dirty="0">
                <a:solidFill>
                  <a:schemeClr val="tx1"/>
                </a:solidFill>
                <a:latin typeface="Calibri" panose="020F0502020204030204" pitchFamily="34" charset="0"/>
                <a:cs typeface="Calibri" panose="020F0502020204030204" pitchFamily="34" charset="0"/>
              </a:rPr>
              <a:t>]</a:t>
            </a:r>
          </a:p>
        </p:txBody>
      </p:sp>
      <p:sp>
        <p:nvSpPr>
          <p:cNvPr id="21" name="Parallelogram 20">
            <a:extLst>
              <a:ext uri="{FF2B5EF4-FFF2-40B4-BE49-F238E27FC236}">
                <a16:creationId xmlns:a16="http://schemas.microsoft.com/office/drawing/2014/main" id="{8AC82959-0898-A731-B548-3956382535CF}"/>
              </a:ext>
            </a:extLst>
          </p:cNvPr>
          <p:cNvSpPr/>
          <p:nvPr/>
        </p:nvSpPr>
        <p:spPr>
          <a:xfrm>
            <a:off x="10790382" y="1367843"/>
            <a:ext cx="1394540"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Monitor Projects</a:t>
            </a:r>
          </a:p>
        </p:txBody>
      </p:sp>
      <p:sp>
        <p:nvSpPr>
          <p:cNvPr id="37" name="Rounded Rectangle 36">
            <a:extLst>
              <a:ext uri="{FF2B5EF4-FFF2-40B4-BE49-F238E27FC236}">
                <a16:creationId xmlns:a16="http://schemas.microsoft.com/office/drawing/2014/main" id="{88C233E5-ABF8-A102-C672-E9BF4DFD754E}"/>
              </a:ext>
            </a:extLst>
          </p:cNvPr>
          <p:cNvSpPr/>
          <p:nvPr/>
        </p:nvSpPr>
        <p:spPr>
          <a:xfrm>
            <a:off x="3120915" y="4175444"/>
            <a:ext cx="2693775" cy="85554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Task Assignment Form</a:t>
            </a:r>
          </a:p>
          <a:p>
            <a:pPr algn="ctr"/>
            <a:r>
              <a:rPr lang="en-US" sz="1600" dirty="0">
                <a:solidFill>
                  <a:schemeClr val="tx1"/>
                </a:solidFill>
                <a:latin typeface="Calibri" panose="020F0502020204030204" pitchFamily="34" charset="0"/>
                <a:cs typeface="Calibri" panose="020F0502020204030204" pitchFamily="34" charset="0"/>
              </a:rPr>
              <a:t>[selected task, collaborators, planned hours]</a:t>
            </a:r>
          </a:p>
        </p:txBody>
      </p:sp>
      <p:sp>
        <p:nvSpPr>
          <p:cNvPr id="45" name="Oval 44">
            <a:extLst>
              <a:ext uri="{FF2B5EF4-FFF2-40B4-BE49-F238E27FC236}">
                <a16:creationId xmlns:a16="http://schemas.microsoft.com/office/drawing/2014/main" id="{9D94C63D-62B5-12AB-2F07-FCDF6B79A120}"/>
              </a:ext>
            </a:extLst>
          </p:cNvPr>
          <p:cNvSpPr/>
          <p:nvPr/>
        </p:nvSpPr>
        <p:spPr>
          <a:xfrm>
            <a:off x="2976899" y="21076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D43AD456-06DD-0C83-2EF9-C2E11C4F29CA}"/>
              </a:ext>
            </a:extLst>
          </p:cNvPr>
          <p:cNvSpPr/>
          <p:nvPr/>
        </p:nvSpPr>
        <p:spPr>
          <a:xfrm>
            <a:off x="3033193" y="407972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9" name="Parallelogram 58">
            <a:extLst>
              <a:ext uri="{FF2B5EF4-FFF2-40B4-BE49-F238E27FC236}">
                <a16:creationId xmlns:a16="http://schemas.microsoft.com/office/drawing/2014/main" id="{D537FC25-5FB2-78F4-EB5B-1C212820F6ED}"/>
              </a:ext>
            </a:extLst>
          </p:cNvPr>
          <p:cNvSpPr/>
          <p:nvPr/>
        </p:nvSpPr>
        <p:spPr>
          <a:xfrm>
            <a:off x="278217" y="4787852"/>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60" name="Elbow Connector 59">
            <a:extLst>
              <a:ext uri="{FF2B5EF4-FFF2-40B4-BE49-F238E27FC236}">
                <a16:creationId xmlns:a16="http://schemas.microsoft.com/office/drawing/2014/main" id="{DC8F8C23-C53A-D63A-6C51-9A601E690AB8}"/>
              </a:ext>
            </a:extLst>
          </p:cNvPr>
          <p:cNvCxnSpPr>
            <a:cxnSpLocks/>
            <a:stCxn id="59" idx="2"/>
          </p:cNvCxnSpPr>
          <p:nvPr/>
        </p:nvCxnSpPr>
        <p:spPr>
          <a:xfrm>
            <a:off x="1564574" y="5115032"/>
            <a:ext cx="755443" cy="84465"/>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D00CF518-AAF9-D2C0-DEB7-E46CDC013719}"/>
              </a:ext>
            </a:extLst>
          </p:cNvPr>
          <p:cNvSpPr txBox="1"/>
          <p:nvPr/>
        </p:nvSpPr>
        <p:spPr>
          <a:xfrm>
            <a:off x="3198943" y="1986266"/>
            <a:ext cx="67197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sp>
        <p:nvSpPr>
          <p:cNvPr id="66" name="TextBox 65">
            <a:extLst>
              <a:ext uri="{FF2B5EF4-FFF2-40B4-BE49-F238E27FC236}">
                <a16:creationId xmlns:a16="http://schemas.microsoft.com/office/drawing/2014/main" id="{7552ED9D-57AD-3BA2-7BCA-1D9B245C5667}"/>
              </a:ext>
            </a:extLst>
          </p:cNvPr>
          <p:cNvSpPr txBox="1"/>
          <p:nvPr/>
        </p:nvSpPr>
        <p:spPr>
          <a:xfrm>
            <a:off x="3255238" y="3885591"/>
            <a:ext cx="552780"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save</a:t>
            </a:r>
          </a:p>
        </p:txBody>
      </p:sp>
      <p:sp>
        <p:nvSpPr>
          <p:cNvPr id="89" name="Oval 88">
            <a:extLst>
              <a:ext uri="{FF2B5EF4-FFF2-40B4-BE49-F238E27FC236}">
                <a16:creationId xmlns:a16="http://schemas.microsoft.com/office/drawing/2014/main" id="{26531297-8C4D-6F3E-BBA4-F6A28B7725A5}"/>
              </a:ext>
            </a:extLst>
          </p:cNvPr>
          <p:cNvSpPr/>
          <p:nvPr/>
        </p:nvSpPr>
        <p:spPr>
          <a:xfrm>
            <a:off x="9857586" y="12126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E75B08B9-CDBE-B06C-DA24-41E70F44F2DF}"/>
              </a:ext>
            </a:extLst>
          </p:cNvPr>
          <p:cNvSpPr txBox="1"/>
          <p:nvPr/>
        </p:nvSpPr>
        <p:spPr>
          <a:xfrm>
            <a:off x="10106406" y="1116422"/>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22BC2AEE-CF32-C177-0AE8-C7F669850B38}"/>
              </a:ext>
            </a:extLst>
          </p:cNvPr>
          <p:cNvSpPr/>
          <p:nvPr/>
        </p:nvSpPr>
        <p:spPr>
          <a:xfrm>
            <a:off x="6889985" y="1564388"/>
            <a:ext cx="2514621" cy="588064"/>
          </a:xfrm>
          <a:prstGeom prst="roundRect">
            <a:avLst/>
          </a:prstGeom>
        </p:spPr>
        <p:style>
          <a:lnRef idx="2">
            <a:schemeClr val="accent3"/>
          </a:lnRef>
          <a:fillRef idx="1">
            <a:schemeClr val="lt1"/>
          </a:fillRef>
          <a:effectRef idx="0">
            <a:schemeClr val="accent3"/>
          </a:effectRef>
          <a:fontRef idx="minor">
            <a:schemeClr val="dk1"/>
          </a:fontRef>
        </p:style>
        <p:txBody>
          <a:bodyPr lIns="0" tIns="0" rIns="0" bIns="0" rtlCol="0" anchor="ctr"/>
          <a:lstStyle/>
          <a:p>
            <a:pPr algn="ctr"/>
            <a:r>
              <a:rPr lang="en-US" sz="1600" dirty="0">
                <a:latin typeface="Calibri" panose="020F0502020204030204" pitchFamily="34" charset="0"/>
                <a:cs typeface="Calibri" panose="020F0502020204030204" pitchFamily="34" charset="0"/>
              </a:rPr>
              <a:t>Managed Projects List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project.id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project.name</a:t>
            </a:r>
            <a:r>
              <a:rPr lang="en-US" sz="1600" dirty="0">
                <a:solidFill>
                  <a:schemeClr val="tx1"/>
                </a:solidFill>
                <a:latin typeface="Calibri" panose="020F0502020204030204" pitchFamily="34" charset="0"/>
                <a:cs typeface="Calibri" panose="020F0502020204030204" pitchFamily="34" charset="0"/>
              </a:rPr>
              <a:t>, …]</a:t>
            </a:r>
          </a:p>
        </p:txBody>
      </p:sp>
      <p:sp>
        <p:nvSpPr>
          <p:cNvPr id="98" name="Rounded Rectangle 97">
            <a:extLst>
              <a:ext uri="{FF2B5EF4-FFF2-40B4-BE49-F238E27FC236}">
                <a16:creationId xmlns:a16="http://schemas.microsoft.com/office/drawing/2014/main" id="{D8810078-559E-C4B0-28AE-54883B8B4F2A}"/>
              </a:ext>
            </a:extLst>
          </p:cNvPr>
          <p:cNvSpPr/>
          <p:nvPr/>
        </p:nvSpPr>
        <p:spPr>
          <a:xfrm>
            <a:off x="6565297" y="2743627"/>
            <a:ext cx="2402248" cy="5861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Project Monthly Report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project.id</a:t>
            </a:r>
            <a:r>
              <a:rPr lang="en-US" sz="1600" dirty="0">
                <a:solidFill>
                  <a:schemeClr val="tx1"/>
                </a:solidFill>
                <a:latin typeface="Calibri" panose="020F0502020204030204" pitchFamily="34" charset="0"/>
                <a:cs typeface="Calibri" panose="020F0502020204030204" pitchFamily="34" charset="0"/>
              </a:rPr>
              <a:t>]</a:t>
            </a:r>
          </a:p>
        </p:txBody>
      </p:sp>
      <p:sp>
        <p:nvSpPr>
          <p:cNvPr id="94" name="Oval 93">
            <a:extLst>
              <a:ext uri="{FF2B5EF4-FFF2-40B4-BE49-F238E27FC236}">
                <a16:creationId xmlns:a16="http://schemas.microsoft.com/office/drawing/2014/main" id="{C5F2F35C-CC3D-861A-C2BE-4BEF95289843}"/>
              </a:ext>
            </a:extLst>
          </p:cNvPr>
          <p:cNvSpPr/>
          <p:nvPr/>
        </p:nvSpPr>
        <p:spPr>
          <a:xfrm>
            <a:off x="6752875" y="20051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51508D83-0E13-3C49-BB64-48849612515B}"/>
              </a:ext>
            </a:extLst>
          </p:cNvPr>
          <p:cNvSpPr txBox="1"/>
          <p:nvPr/>
        </p:nvSpPr>
        <p:spPr>
          <a:xfrm>
            <a:off x="6967842" y="2113516"/>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cxnSp>
        <p:nvCxnSpPr>
          <p:cNvPr id="96" name="Straight Connector 95">
            <a:extLst>
              <a:ext uri="{FF2B5EF4-FFF2-40B4-BE49-F238E27FC236}">
                <a16:creationId xmlns:a16="http://schemas.microsoft.com/office/drawing/2014/main" id="{E7AED253-58F0-11D7-9C13-CB8253C8DAAE}"/>
              </a:ext>
            </a:extLst>
          </p:cNvPr>
          <p:cNvCxnSpPr>
            <a:cxnSpLocks/>
            <a:stCxn id="109" idx="6"/>
            <a:endCxn id="21" idx="5"/>
          </p:cNvCxnSpPr>
          <p:nvPr/>
        </p:nvCxnSpPr>
        <p:spPr>
          <a:xfrm flipV="1">
            <a:off x="10163848" y="1695023"/>
            <a:ext cx="708329" cy="117585"/>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 name="Parallelogram 8">
            <a:extLst>
              <a:ext uri="{FF2B5EF4-FFF2-40B4-BE49-F238E27FC236}">
                <a16:creationId xmlns:a16="http://schemas.microsoft.com/office/drawing/2014/main" id="{237488F6-271D-C493-ACA3-BA1AF00B3884}"/>
              </a:ext>
            </a:extLst>
          </p:cNvPr>
          <p:cNvSpPr/>
          <p:nvPr/>
        </p:nvSpPr>
        <p:spPr>
          <a:xfrm>
            <a:off x="10453201" y="4459861"/>
            <a:ext cx="1701493" cy="654359"/>
          </a:xfrm>
          <a:prstGeom prst="parallelogram">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en-US" dirty="0">
                <a:latin typeface="Calibri" panose="020F0502020204030204" pitchFamily="34" charset="0"/>
                <a:cs typeface="Calibri" panose="020F0502020204030204" pitchFamily="34" charset="0"/>
              </a:rPr>
              <a:t>Monitor Collaborators</a:t>
            </a:r>
          </a:p>
        </p:txBody>
      </p:sp>
      <p:sp>
        <p:nvSpPr>
          <p:cNvPr id="19" name="Rounded Rectangle 18">
            <a:extLst>
              <a:ext uri="{FF2B5EF4-FFF2-40B4-BE49-F238E27FC236}">
                <a16:creationId xmlns:a16="http://schemas.microsoft.com/office/drawing/2014/main" id="{86441F28-82F5-FC2C-6D5C-6C48E7BA2355}"/>
              </a:ext>
            </a:extLst>
          </p:cNvPr>
          <p:cNvSpPr/>
          <p:nvPr/>
        </p:nvSpPr>
        <p:spPr>
          <a:xfrm>
            <a:off x="6725048" y="3932899"/>
            <a:ext cx="2402248" cy="58661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Collaborators </a:t>
            </a:r>
            <a:r>
              <a:rPr lang="en-US" sz="1600" dirty="0">
                <a:solidFill>
                  <a:schemeClr val="tx1"/>
                </a:solidFill>
                <a:latin typeface="Calibri" panose="020F0502020204030204" pitchFamily="34" charset="0"/>
                <a:cs typeface="Calibri" panose="020F0502020204030204" pitchFamily="34" charset="0"/>
              </a:rPr>
              <a:t>List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collaborator.id</a:t>
            </a:r>
            <a:r>
              <a:rPr lang="en-US" sz="1600" dirty="0">
                <a:solidFill>
                  <a:schemeClr val="tx1"/>
                </a:solidFill>
                <a:latin typeface="Calibri" panose="020F0502020204030204" pitchFamily="34" charset="0"/>
                <a:cs typeface="Calibri" panose="020F0502020204030204" pitchFamily="34" charset="0"/>
              </a:rPr>
              <a:t>, name]</a:t>
            </a:r>
          </a:p>
        </p:txBody>
      </p:sp>
      <p:sp>
        <p:nvSpPr>
          <p:cNvPr id="20" name="Rounded Rectangle 19">
            <a:extLst>
              <a:ext uri="{FF2B5EF4-FFF2-40B4-BE49-F238E27FC236}">
                <a16:creationId xmlns:a16="http://schemas.microsoft.com/office/drawing/2014/main" id="{837E03C0-1596-03FD-5F2E-3E5E835F17D4}"/>
              </a:ext>
            </a:extLst>
          </p:cNvPr>
          <p:cNvSpPr/>
          <p:nvPr/>
        </p:nvSpPr>
        <p:spPr>
          <a:xfrm>
            <a:off x="6517547" y="4969442"/>
            <a:ext cx="2964807" cy="36296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Collaborator Hours Report</a:t>
            </a:r>
            <a:endParaRPr lang="en-US" sz="1400" dirty="0">
              <a:solidFill>
                <a:schemeClr val="tx1"/>
              </a:solidFill>
              <a:latin typeface="Calibri" panose="020F0502020204030204" pitchFamily="34" charset="0"/>
              <a:cs typeface="Calibri" panose="020F0502020204030204" pitchFamily="34" charset="0"/>
            </a:endParaRPr>
          </a:p>
        </p:txBody>
      </p:sp>
      <p:cxnSp>
        <p:nvCxnSpPr>
          <p:cNvPr id="26" name="Elbow Connector 25">
            <a:extLst>
              <a:ext uri="{FF2B5EF4-FFF2-40B4-BE49-F238E27FC236}">
                <a16:creationId xmlns:a16="http://schemas.microsoft.com/office/drawing/2014/main" id="{ABFD1D15-DA53-5719-C815-E1C773B723AA}"/>
              </a:ext>
            </a:extLst>
          </p:cNvPr>
          <p:cNvCxnSpPr>
            <a:cxnSpLocks/>
            <a:stCxn id="9" idx="3"/>
          </p:cNvCxnSpPr>
          <p:nvPr/>
        </p:nvCxnSpPr>
        <p:spPr>
          <a:xfrm rot="5400000">
            <a:off x="10459855" y="4666586"/>
            <a:ext cx="314664" cy="120993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098AEA98-9482-EF07-FC2F-F3D7CABD53B5}"/>
              </a:ext>
            </a:extLst>
          </p:cNvPr>
          <p:cNvSpPr txBox="1"/>
          <p:nvPr/>
        </p:nvSpPr>
        <p:spPr>
          <a:xfrm>
            <a:off x="205707" y="4802047"/>
            <a:ext cx="14313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Save assignment</a:t>
            </a:r>
          </a:p>
        </p:txBody>
      </p:sp>
      <p:sp>
        <p:nvSpPr>
          <p:cNvPr id="93" name="Parallelogram 92">
            <a:extLst>
              <a:ext uri="{FF2B5EF4-FFF2-40B4-BE49-F238E27FC236}">
                <a16:creationId xmlns:a16="http://schemas.microsoft.com/office/drawing/2014/main" id="{7FF36B08-2BD6-3A52-40C1-D8DBE881B265}"/>
              </a:ext>
            </a:extLst>
          </p:cNvPr>
          <p:cNvSpPr/>
          <p:nvPr/>
        </p:nvSpPr>
        <p:spPr>
          <a:xfrm>
            <a:off x="10315477" y="3015373"/>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Conclude Project</a:t>
            </a:r>
          </a:p>
        </p:txBody>
      </p:sp>
      <p:sp>
        <p:nvSpPr>
          <p:cNvPr id="102" name="Oval 101">
            <a:extLst>
              <a:ext uri="{FF2B5EF4-FFF2-40B4-BE49-F238E27FC236}">
                <a16:creationId xmlns:a16="http://schemas.microsoft.com/office/drawing/2014/main" id="{B4E3FC8C-D206-8F3D-36A8-056C5CF85F2A}"/>
              </a:ext>
            </a:extLst>
          </p:cNvPr>
          <p:cNvSpPr/>
          <p:nvPr/>
        </p:nvSpPr>
        <p:spPr>
          <a:xfrm>
            <a:off x="8852581" y="25707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03" name="TextBox 102">
            <a:extLst>
              <a:ext uri="{FF2B5EF4-FFF2-40B4-BE49-F238E27FC236}">
                <a16:creationId xmlns:a16="http://schemas.microsoft.com/office/drawing/2014/main" id="{E08E5DFB-DD42-1F7D-A2E0-FB5D05556802}"/>
              </a:ext>
            </a:extLst>
          </p:cNvPr>
          <p:cNvSpPr txBox="1"/>
          <p:nvPr/>
        </p:nvSpPr>
        <p:spPr>
          <a:xfrm>
            <a:off x="9116276" y="2420164"/>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conclude</a:t>
            </a:r>
          </a:p>
        </p:txBody>
      </p:sp>
      <p:cxnSp>
        <p:nvCxnSpPr>
          <p:cNvPr id="105" name="Straight Connector 104">
            <a:extLst>
              <a:ext uri="{FF2B5EF4-FFF2-40B4-BE49-F238E27FC236}">
                <a16:creationId xmlns:a16="http://schemas.microsoft.com/office/drawing/2014/main" id="{648F5F9C-DE19-2C77-B58C-3ABCBAB9C1D4}"/>
              </a:ext>
            </a:extLst>
          </p:cNvPr>
          <p:cNvCxnSpPr>
            <a:cxnSpLocks/>
          </p:cNvCxnSpPr>
          <p:nvPr/>
        </p:nvCxnSpPr>
        <p:spPr>
          <a:xfrm flipH="1">
            <a:off x="10005446" y="3519641"/>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AA795951-6891-A2C9-34EC-0ADBDEC44B7E}"/>
              </a:ext>
            </a:extLst>
          </p:cNvPr>
          <p:cNvCxnSpPr>
            <a:cxnSpLocks/>
            <a:endCxn id="93" idx="5"/>
          </p:cNvCxnSpPr>
          <p:nvPr/>
        </p:nvCxnSpPr>
        <p:spPr>
          <a:xfrm>
            <a:off x="9139185" y="2721995"/>
            <a:ext cx="1258087" cy="620558"/>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Parallelogram 9">
            <a:extLst>
              <a:ext uri="{FF2B5EF4-FFF2-40B4-BE49-F238E27FC236}">
                <a16:creationId xmlns:a16="http://schemas.microsoft.com/office/drawing/2014/main" id="{6450A6EF-B099-9D82-E658-C76275B571C1}"/>
              </a:ext>
            </a:extLst>
          </p:cNvPr>
          <p:cNvSpPr/>
          <p:nvPr/>
        </p:nvSpPr>
        <p:spPr>
          <a:xfrm>
            <a:off x="148760" y="2505446"/>
            <a:ext cx="1941218"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Get Managed Tasks</a:t>
            </a:r>
          </a:p>
        </p:txBody>
      </p:sp>
      <p:cxnSp>
        <p:nvCxnSpPr>
          <p:cNvPr id="16" name="Straight Connector 15">
            <a:extLst>
              <a:ext uri="{FF2B5EF4-FFF2-40B4-BE49-F238E27FC236}">
                <a16:creationId xmlns:a16="http://schemas.microsoft.com/office/drawing/2014/main" id="{8C1C20B3-DBE1-CDD7-9A43-F7E1AEB83F4D}"/>
              </a:ext>
            </a:extLst>
          </p:cNvPr>
          <p:cNvCxnSpPr>
            <a:cxnSpLocks/>
          </p:cNvCxnSpPr>
          <p:nvPr/>
        </p:nvCxnSpPr>
        <p:spPr>
          <a:xfrm flipH="1">
            <a:off x="408167" y="2337653"/>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27" name="Oval 26">
            <a:extLst>
              <a:ext uri="{FF2B5EF4-FFF2-40B4-BE49-F238E27FC236}">
                <a16:creationId xmlns:a16="http://schemas.microsoft.com/office/drawing/2014/main" id="{9ABD67AB-6156-62A5-51A5-8FD8F22E8A9B}"/>
              </a:ext>
            </a:extLst>
          </p:cNvPr>
          <p:cNvSpPr/>
          <p:nvPr/>
        </p:nvSpPr>
        <p:spPr>
          <a:xfrm>
            <a:off x="2150795" y="2064021"/>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28" name="Straight Connector 27">
            <a:extLst>
              <a:ext uri="{FF2B5EF4-FFF2-40B4-BE49-F238E27FC236}">
                <a16:creationId xmlns:a16="http://schemas.microsoft.com/office/drawing/2014/main" id="{75177F0A-B18F-A6BB-87EF-768D5EBB21E8}"/>
              </a:ext>
            </a:extLst>
          </p:cNvPr>
          <p:cNvCxnSpPr>
            <a:cxnSpLocks/>
            <a:stCxn id="27" idx="2"/>
            <a:endCxn id="10" idx="1"/>
          </p:cNvCxnSpPr>
          <p:nvPr/>
        </p:nvCxnSpPr>
        <p:spPr>
          <a:xfrm flipH="1">
            <a:off x="1201164" y="2208037"/>
            <a:ext cx="949631" cy="297409"/>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35ABA6D-FF63-FD08-5F6B-ECED51DD7C41}"/>
              </a:ext>
            </a:extLst>
          </p:cNvPr>
          <p:cNvCxnSpPr>
            <a:cxnSpLocks/>
          </p:cNvCxnSpPr>
          <p:nvPr/>
        </p:nvCxnSpPr>
        <p:spPr>
          <a:xfrm flipH="1">
            <a:off x="532667" y="5453620"/>
            <a:ext cx="438770" cy="268870"/>
          </a:xfrm>
          <a:prstGeom prst="line">
            <a:avLst/>
          </a:prstGeom>
        </p:spPr>
        <p:style>
          <a:lnRef idx="2">
            <a:schemeClr val="dk1"/>
          </a:lnRef>
          <a:fillRef idx="0">
            <a:schemeClr val="dk1"/>
          </a:fillRef>
          <a:effectRef idx="1">
            <a:schemeClr val="dk1"/>
          </a:effectRef>
          <a:fontRef idx="minor">
            <a:schemeClr val="tx1"/>
          </a:fontRef>
        </p:style>
      </p:cxnSp>
      <p:sp>
        <p:nvSpPr>
          <p:cNvPr id="15" name="Google Shape;208;p33">
            <a:extLst>
              <a:ext uri="{FF2B5EF4-FFF2-40B4-BE49-F238E27FC236}">
                <a16:creationId xmlns:a16="http://schemas.microsoft.com/office/drawing/2014/main" id="{6F1747B3-8B08-3F3A-83BB-DADD5A5D06E0}"/>
              </a:ext>
            </a:extLst>
          </p:cNvPr>
          <p:cNvSpPr txBox="1"/>
          <p:nvPr/>
        </p:nvSpPr>
        <p:spPr>
          <a:xfrm>
            <a:off x="313267" y="2089215"/>
            <a:ext cx="6502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endParaRPr sz="1200" dirty="0">
              <a:solidFill>
                <a:schemeClr val="dk1"/>
              </a:solidFill>
              <a:latin typeface="Calibri"/>
              <a:ea typeface="Calibri"/>
              <a:cs typeface="Calibri"/>
              <a:sym typeface="Calibri"/>
            </a:endParaRPr>
          </a:p>
        </p:txBody>
      </p:sp>
      <p:cxnSp>
        <p:nvCxnSpPr>
          <p:cNvPr id="48" name="Elbow Connector 47">
            <a:extLst>
              <a:ext uri="{FF2B5EF4-FFF2-40B4-BE49-F238E27FC236}">
                <a16:creationId xmlns:a16="http://schemas.microsoft.com/office/drawing/2014/main" id="{EF67BEF8-FE97-6A47-0D3D-3F51AA178273}"/>
              </a:ext>
            </a:extLst>
          </p:cNvPr>
          <p:cNvCxnSpPr>
            <a:cxnSpLocks/>
            <a:stCxn id="45" idx="2"/>
            <a:endCxn id="37" idx="0"/>
          </p:cNvCxnSpPr>
          <p:nvPr/>
        </p:nvCxnSpPr>
        <p:spPr>
          <a:xfrm rot="10800000" flipH="1" flipV="1">
            <a:off x="2976899" y="2251662"/>
            <a:ext cx="1490904" cy="1923782"/>
          </a:xfrm>
          <a:prstGeom prst="bentConnector4">
            <a:avLst>
              <a:gd name="adj1" fmla="val -15333"/>
              <a:gd name="adj2" fmla="val 5374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Elbow Connector 50">
            <a:extLst>
              <a:ext uri="{FF2B5EF4-FFF2-40B4-BE49-F238E27FC236}">
                <a16:creationId xmlns:a16="http://schemas.microsoft.com/office/drawing/2014/main" id="{1D208CE8-932D-F6AB-F4D4-280E32F6ED63}"/>
              </a:ext>
            </a:extLst>
          </p:cNvPr>
          <p:cNvCxnSpPr>
            <a:cxnSpLocks/>
            <a:stCxn id="10" idx="3"/>
          </p:cNvCxnSpPr>
          <p:nvPr/>
        </p:nvCxnSpPr>
        <p:spPr>
          <a:xfrm rot="16200000" flipH="1">
            <a:off x="1554550" y="2642829"/>
            <a:ext cx="257776" cy="129172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8" name="Elbow Connector 57">
            <a:extLst>
              <a:ext uri="{FF2B5EF4-FFF2-40B4-BE49-F238E27FC236}">
                <a16:creationId xmlns:a16="http://schemas.microsoft.com/office/drawing/2014/main" id="{4A343977-C6A5-AFB6-3218-84EA70BCD52F}"/>
              </a:ext>
            </a:extLst>
          </p:cNvPr>
          <p:cNvCxnSpPr>
            <a:cxnSpLocks/>
            <a:stCxn id="46" idx="2"/>
            <a:endCxn id="53" idx="0"/>
          </p:cNvCxnSpPr>
          <p:nvPr/>
        </p:nvCxnSpPr>
        <p:spPr>
          <a:xfrm rot="10800000" flipV="1">
            <a:off x="921397" y="4223739"/>
            <a:ext cx="2111797" cy="57830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8AFA8955-4161-5FCC-3891-B602B9520A39}"/>
              </a:ext>
            </a:extLst>
          </p:cNvPr>
          <p:cNvSpPr/>
          <p:nvPr/>
        </p:nvSpPr>
        <p:spPr>
          <a:xfrm>
            <a:off x="2993145" y="484510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8" name="TextBox 67">
            <a:extLst>
              <a:ext uri="{FF2B5EF4-FFF2-40B4-BE49-F238E27FC236}">
                <a16:creationId xmlns:a16="http://schemas.microsoft.com/office/drawing/2014/main" id="{376247B4-DC07-CF8A-30E3-1FF6EBFCA31A}"/>
              </a:ext>
            </a:extLst>
          </p:cNvPr>
          <p:cNvSpPr txBox="1"/>
          <p:nvPr/>
        </p:nvSpPr>
        <p:spPr>
          <a:xfrm>
            <a:off x="3244111" y="4964692"/>
            <a:ext cx="692818"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assign</a:t>
            </a:r>
          </a:p>
        </p:txBody>
      </p:sp>
      <p:cxnSp>
        <p:nvCxnSpPr>
          <p:cNvPr id="69" name="Elbow Connector 68">
            <a:extLst>
              <a:ext uri="{FF2B5EF4-FFF2-40B4-BE49-F238E27FC236}">
                <a16:creationId xmlns:a16="http://schemas.microsoft.com/office/drawing/2014/main" id="{C78C77BE-0421-1B47-2CF8-786463BD9FDF}"/>
              </a:ext>
            </a:extLst>
          </p:cNvPr>
          <p:cNvCxnSpPr>
            <a:cxnSpLocks/>
            <a:stCxn id="67" idx="4"/>
            <a:endCxn id="71" idx="0"/>
          </p:cNvCxnSpPr>
          <p:nvPr/>
        </p:nvCxnSpPr>
        <p:spPr>
          <a:xfrm rot="16200000" flipH="1">
            <a:off x="3197172" y="5073128"/>
            <a:ext cx="502581" cy="622603"/>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71" name="Parallelogram 70">
            <a:extLst>
              <a:ext uri="{FF2B5EF4-FFF2-40B4-BE49-F238E27FC236}">
                <a16:creationId xmlns:a16="http://schemas.microsoft.com/office/drawing/2014/main" id="{B6C81D1F-EB1A-B946-052E-0AB217F2A113}"/>
              </a:ext>
            </a:extLst>
          </p:cNvPr>
          <p:cNvSpPr/>
          <p:nvPr/>
        </p:nvSpPr>
        <p:spPr>
          <a:xfrm>
            <a:off x="3075688" y="563572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72" name="TextBox 71">
            <a:extLst>
              <a:ext uri="{FF2B5EF4-FFF2-40B4-BE49-F238E27FC236}">
                <a16:creationId xmlns:a16="http://schemas.microsoft.com/office/drawing/2014/main" id="{51FB537C-82F0-C9A0-E1EF-62AE6A1E9A7D}"/>
              </a:ext>
            </a:extLst>
          </p:cNvPr>
          <p:cNvSpPr txBox="1"/>
          <p:nvPr/>
        </p:nvSpPr>
        <p:spPr>
          <a:xfrm>
            <a:off x="3075687" y="5649916"/>
            <a:ext cx="136815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Assign Project</a:t>
            </a:r>
          </a:p>
        </p:txBody>
      </p:sp>
      <p:sp>
        <p:nvSpPr>
          <p:cNvPr id="42" name="Google Shape;208;p33">
            <a:extLst>
              <a:ext uri="{FF2B5EF4-FFF2-40B4-BE49-F238E27FC236}">
                <a16:creationId xmlns:a16="http://schemas.microsoft.com/office/drawing/2014/main" id="{5586DD1F-2074-DCAD-ADB0-54646475C802}"/>
              </a:ext>
            </a:extLst>
          </p:cNvPr>
          <p:cNvSpPr txBox="1"/>
          <p:nvPr/>
        </p:nvSpPr>
        <p:spPr>
          <a:xfrm>
            <a:off x="21694" y="5700147"/>
            <a:ext cx="2547770" cy="64633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task.id</a:t>
            </a:r>
          </a:p>
          <a:p>
            <a:pPr lvl="0" algn="ctr"/>
            <a:r>
              <a:rPr lang="es-419" sz="1200" dirty="0">
                <a:solidFill>
                  <a:schemeClr val="dk1"/>
                </a:solidFill>
                <a:latin typeface="Calibri"/>
                <a:ea typeface="Calibri"/>
                <a:cs typeface="Calibri"/>
                <a:sym typeface="Calibri"/>
              </a:rPr>
              <a:t>collaboratorIds[]</a:t>
            </a:r>
          </a:p>
          <a:p>
            <a:pPr lvl="0" algn="ctr"/>
            <a:r>
              <a:rPr lang="es-419" sz="1200" dirty="0">
                <a:solidFill>
                  <a:schemeClr val="dk1"/>
                </a:solidFill>
                <a:latin typeface="Calibri"/>
                <a:ea typeface="Calibri"/>
                <a:cs typeface="Calibri"/>
                <a:sym typeface="Calibri"/>
              </a:rPr>
              <a:t>plannedHoursByMonth[month, hours]</a:t>
            </a:r>
          </a:p>
        </p:txBody>
      </p:sp>
      <p:sp>
        <p:nvSpPr>
          <p:cNvPr id="76" name="Google Shape;208;p33">
            <a:extLst>
              <a:ext uri="{FF2B5EF4-FFF2-40B4-BE49-F238E27FC236}">
                <a16:creationId xmlns:a16="http://schemas.microsoft.com/office/drawing/2014/main" id="{074155D5-DEDE-ADB5-F065-2132C25B89C6}"/>
              </a:ext>
            </a:extLst>
          </p:cNvPr>
          <p:cNvSpPr txBox="1"/>
          <p:nvPr/>
        </p:nvSpPr>
        <p:spPr>
          <a:xfrm>
            <a:off x="1865734" y="6474339"/>
            <a:ext cx="797343" cy="26887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project.id</a:t>
            </a:r>
          </a:p>
        </p:txBody>
      </p:sp>
      <p:cxnSp>
        <p:nvCxnSpPr>
          <p:cNvPr id="78" name="Straight Connector 77">
            <a:extLst>
              <a:ext uri="{FF2B5EF4-FFF2-40B4-BE49-F238E27FC236}">
                <a16:creationId xmlns:a16="http://schemas.microsoft.com/office/drawing/2014/main" id="{846662AB-D41A-C0CA-09F9-E69758D01BD1}"/>
              </a:ext>
            </a:extLst>
          </p:cNvPr>
          <p:cNvCxnSpPr>
            <a:cxnSpLocks/>
          </p:cNvCxnSpPr>
          <p:nvPr/>
        </p:nvCxnSpPr>
        <p:spPr>
          <a:xfrm flipH="1">
            <a:off x="2651050" y="6212043"/>
            <a:ext cx="438770" cy="268870"/>
          </a:xfrm>
          <a:prstGeom prst="line">
            <a:avLst/>
          </a:prstGeom>
        </p:spPr>
        <p:style>
          <a:lnRef idx="2">
            <a:schemeClr val="dk1"/>
          </a:lnRef>
          <a:fillRef idx="0">
            <a:schemeClr val="dk1"/>
          </a:fillRef>
          <a:effectRef idx="1">
            <a:schemeClr val="dk1"/>
          </a:effectRef>
          <a:fontRef idx="minor">
            <a:schemeClr val="tx1"/>
          </a:fontRef>
        </p:style>
      </p:cxnSp>
      <p:cxnSp>
        <p:nvCxnSpPr>
          <p:cNvPr id="79" name="Elbow Connector 78">
            <a:extLst>
              <a:ext uri="{FF2B5EF4-FFF2-40B4-BE49-F238E27FC236}">
                <a16:creationId xmlns:a16="http://schemas.microsoft.com/office/drawing/2014/main" id="{287E1C9F-A17B-3EA2-A1B9-84AE69B767C4}"/>
              </a:ext>
            </a:extLst>
          </p:cNvPr>
          <p:cNvCxnSpPr>
            <a:cxnSpLocks/>
            <a:stCxn id="71" idx="2"/>
          </p:cNvCxnSpPr>
          <p:nvPr/>
        </p:nvCxnSpPr>
        <p:spPr>
          <a:xfrm flipV="1">
            <a:off x="4362045" y="5504408"/>
            <a:ext cx="392835" cy="45849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40B82CEF-B824-139F-8B67-80BD3CF90E17}"/>
              </a:ext>
            </a:extLst>
          </p:cNvPr>
          <p:cNvSpPr/>
          <p:nvPr/>
        </p:nvSpPr>
        <p:spPr>
          <a:xfrm>
            <a:off x="9875816" y="1668592"/>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17" name="Straight Connector 116">
            <a:extLst>
              <a:ext uri="{FF2B5EF4-FFF2-40B4-BE49-F238E27FC236}">
                <a16:creationId xmlns:a16="http://schemas.microsoft.com/office/drawing/2014/main" id="{D3EE85DE-1D18-9C8C-4C13-4FDEBF1F8872}"/>
              </a:ext>
            </a:extLst>
          </p:cNvPr>
          <p:cNvCxnSpPr>
            <a:cxnSpLocks/>
          </p:cNvCxnSpPr>
          <p:nvPr/>
        </p:nvCxnSpPr>
        <p:spPr>
          <a:xfrm flipH="1">
            <a:off x="11401725" y="1216987"/>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118" name="Google Shape;208;p33">
            <a:extLst>
              <a:ext uri="{FF2B5EF4-FFF2-40B4-BE49-F238E27FC236}">
                <a16:creationId xmlns:a16="http://schemas.microsoft.com/office/drawing/2014/main" id="{FD40AD30-9CE8-AEF0-F840-79E89F2CF165}"/>
              </a:ext>
            </a:extLst>
          </p:cNvPr>
          <p:cNvSpPr txBox="1"/>
          <p:nvPr/>
        </p:nvSpPr>
        <p:spPr>
          <a:xfrm>
            <a:off x="11306825" y="968549"/>
            <a:ext cx="6502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endParaRPr sz="1200" dirty="0">
              <a:solidFill>
                <a:schemeClr val="dk1"/>
              </a:solidFill>
              <a:latin typeface="Calibri"/>
              <a:ea typeface="Calibri"/>
              <a:cs typeface="Calibri"/>
              <a:sym typeface="Calibri"/>
            </a:endParaRPr>
          </a:p>
        </p:txBody>
      </p:sp>
      <p:cxnSp>
        <p:nvCxnSpPr>
          <p:cNvPr id="120" name="Elbow Connector 119">
            <a:extLst>
              <a:ext uri="{FF2B5EF4-FFF2-40B4-BE49-F238E27FC236}">
                <a16:creationId xmlns:a16="http://schemas.microsoft.com/office/drawing/2014/main" id="{F7019BBB-9D97-2D69-B533-1FC92D16FA0E}"/>
              </a:ext>
            </a:extLst>
          </p:cNvPr>
          <p:cNvCxnSpPr>
            <a:cxnSpLocks/>
            <a:stCxn id="21" idx="3"/>
          </p:cNvCxnSpPr>
          <p:nvPr/>
        </p:nvCxnSpPr>
        <p:spPr>
          <a:xfrm rot="5400000">
            <a:off x="10656470" y="1377953"/>
            <a:ext cx="105139" cy="139363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5C90947-8EAD-D3C7-73CF-5599BF83E1EF}"/>
              </a:ext>
            </a:extLst>
          </p:cNvPr>
          <p:cNvCxnSpPr>
            <a:cxnSpLocks/>
            <a:stCxn id="124" idx="6"/>
            <a:endCxn id="9" idx="5"/>
          </p:cNvCxnSpPr>
          <p:nvPr/>
        </p:nvCxnSpPr>
        <p:spPr>
          <a:xfrm>
            <a:off x="10148428" y="4617148"/>
            <a:ext cx="386568" cy="169893"/>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4" name="Oval 123">
            <a:extLst>
              <a:ext uri="{FF2B5EF4-FFF2-40B4-BE49-F238E27FC236}">
                <a16:creationId xmlns:a16="http://schemas.microsoft.com/office/drawing/2014/main" id="{09E95531-6BAE-C99C-8D03-FFF16CAE24FA}"/>
              </a:ext>
            </a:extLst>
          </p:cNvPr>
          <p:cNvSpPr/>
          <p:nvPr/>
        </p:nvSpPr>
        <p:spPr>
          <a:xfrm>
            <a:off x="9860396" y="4473132"/>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31" name="Straight Connector 130">
            <a:extLst>
              <a:ext uri="{FF2B5EF4-FFF2-40B4-BE49-F238E27FC236}">
                <a16:creationId xmlns:a16="http://schemas.microsoft.com/office/drawing/2014/main" id="{E060C403-AC93-99BF-66B7-71E4D8244319}"/>
              </a:ext>
            </a:extLst>
          </p:cNvPr>
          <p:cNvCxnSpPr>
            <a:cxnSpLocks/>
          </p:cNvCxnSpPr>
          <p:nvPr/>
        </p:nvCxnSpPr>
        <p:spPr>
          <a:xfrm flipH="1">
            <a:off x="11194436" y="4313821"/>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132" name="Google Shape;208;p33">
            <a:extLst>
              <a:ext uri="{FF2B5EF4-FFF2-40B4-BE49-F238E27FC236}">
                <a16:creationId xmlns:a16="http://schemas.microsoft.com/office/drawing/2014/main" id="{2EF389AB-70C4-3219-B373-AD61899644CD}"/>
              </a:ext>
            </a:extLst>
          </p:cNvPr>
          <p:cNvSpPr txBox="1"/>
          <p:nvPr/>
        </p:nvSpPr>
        <p:spPr>
          <a:xfrm>
            <a:off x="11099536" y="4065383"/>
            <a:ext cx="6502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endParaRPr sz="1200" dirty="0">
              <a:solidFill>
                <a:schemeClr val="dk1"/>
              </a:solidFill>
              <a:latin typeface="Calibri"/>
              <a:ea typeface="Calibri"/>
              <a:cs typeface="Calibri"/>
              <a:sym typeface="Calibri"/>
            </a:endParaRPr>
          </a:p>
        </p:txBody>
      </p:sp>
      <p:sp>
        <p:nvSpPr>
          <p:cNvPr id="135" name="Oval 134">
            <a:extLst>
              <a:ext uri="{FF2B5EF4-FFF2-40B4-BE49-F238E27FC236}">
                <a16:creationId xmlns:a16="http://schemas.microsoft.com/office/drawing/2014/main" id="{7AD7BFB1-4EE9-CAA4-96F6-500DD17923E9}"/>
              </a:ext>
            </a:extLst>
          </p:cNvPr>
          <p:cNvSpPr/>
          <p:nvPr/>
        </p:nvSpPr>
        <p:spPr>
          <a:xfrm>
            <a:off x="6579285" y="43426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6" name="TextBox 135">
            <a:extLst>
              <a:ext uri="{FF2B5EF4-FFF2-40B4-BE49-F238E27FC236}">
                <a16:creationId xmlns:a16="http://schemas.microsoft.com/office/drawing/2014/main" id="{432AA3ED-7192-9FCA-0C59-D1ABCD379D53}"/>
              </a:ext>
            </a:extLst>
          </p:cNvPr>
          <p:cNvSpPr txBox="1"/>
          <p:nvPr/>
        </p:nvSpPr>
        <p:spPr>
          <a:xfrm>
            <a:off x="6794252" y="445097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cxnSp>
        <p:nvCxnSpPr>
          <p:cNvPr id="137" name="Elbow Connector 136">
            <a:extLst>
              <a:ext uri="{FF2B5EF4-FFF2-40B4-BE49-F238E27FC236}">
                <a16:creationId xmlns:a16="http://schemas.microsoft.com/office/drawing/2014/main" id="{2A6E38AA-E47A-E02F-3961-537FBB31B2F2}"/>
              </a:ext>
            </a:extLst>
          </p:cNvPr>
          <p:cNvCxnSpPr>
            <a:cxnSpLocks/>
            <a:stCxn id="135" idx="4"/>
            <a:endCxn id="20" idx="0"/>
          </p:cNvCxnSpPr>
          <p:nvPr/>
        </p:nvCxnSpPr>
        <p:spPr>
          <a:xfrm rot="16200000" flipH="1">
            <a:off x="7192244" y="4161735"/>
            <a:ext cx="338764" cy="127665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1" name="Elbow Connector 140">
            <a:extLst>
              <a:ext uri="{FF2B5EF4-FFF2-40B4-BE49-F238E27FC236}">
                <a16:creationId xmlns:a16="http://schemas.microsoft.com/office/drawing/2014/main" id="{A673F850-E1F1-EF71-7CAD-B85292BF54C9}"/>
              </a:ext>
            </a:extLst>
          </p:cNvPr>
          <p:cNvCxnSpPr>
            <a:cxnSpLocks/>
            <a:stCxn id="94" idx="4"/>
            <a:endCxn id="98" idx="0"/>
          </p:cNvCxnSpPr>
          <p:nvPr/>
        </p:nvCxnSpPr>
        <p:spPr>
          <a:xfrm rot="16200000" flipH="1">
            <a:off x="7106451" y="2083656"/>
            <a:ext cx="450411" cy="869530"/>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91BB143-9A8F-B55E-E611-C8A24A24F8B4}"/>
              </a:ext>
            </a:extLst>
          </p:cNvPr>
          <p:cNvCxnSpPr>
            <a:cxnSpLocks/>
          </p:cNvCxnSpPr>
          <p:nvPr/>
        </p:nvCxnSpPr>
        <p:spPr>
          <a:xfrm flipH="1">
            <a:off x="11275348" y="2851045"/>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148" name="Google Shape;208;p33">
            <a:extLst>
              <a:ext uri="{FF2B5EF4-FFF2-40B4-BE49-F238E27FC236}">
                <a16:creationId xmlns:a16="http://schemas.microsoft.com/office/drawing/2014/main" id="{B4AB09E5-FE0E-5E18-4F14-38343FE615D4}"/>
              </a:ext>
            </a:extLst>
          </p:cNvPr>
          <p:cNvSpPr txBox="1"/>
          <p:nvPr/>
        </p:nvSpPr>
        <p:spPr>
          <a:xfrm>
            <a:off x="10872178" y="2454519"/>
            <a:ext cx="958558" cy="40374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p>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project.id</a:t>
            </a:r>
            <a:endParaRPr sz="12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5412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DA04-B738-40EB-335A-03053426EB7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634CCE4-F17D-3B50-7B5A-A55B997E5555}"/>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t>
            </a:r>
            <a:r>
              <a:rPr lang="en-US" noProof="1"/>
              <a:t>collaboratore</a:t>
            </a:r>
            <a:r>
              <a:rPr lang="en-US" noProof="1">
                <a:latin typeface="Calibri" panose="020F0502020204030204" pitchFamily="34" charset="0"/>
                <a:cs typeface="Calibri" panose="020F0502020204030204" pitchFamily="34" charset="0"/>
              </a:rPr>
              <a:t>)</a:t>
            </a:r>
          </a:p>
        </p:txBody>
      </p:sp>
      <p:sp>
        <p:nvSpPr>
          <p:cNvPr id="2" name="Rectangle 1">
            <a:extLst>
              <a:ext uri="{FF2B5EF4-FFF2-40B4-BE49-F238E27FC236}">
                <a16:creationId xmlns:a16="http://schemas.microsoft.com/office/drawing/2014/main" id="{3946A559-A6EA-F254-F913-051445C7E24E}"/>
              </a:ext>
            </a:extLst>
          </p:cNvPr>
          <p:cNvSpPr/>
          <p:nvPr/>
        </p:nvSpPr>
        <p:spPr>
          <a:xfrm>
            <a:off x="1486968" y="1613117"/>
            <a:ext cx="5548031" cy="489877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88971D17-E615-A226-7352-EE745D283FDE}"/>
              </a:ext>
            </a:extLst>
          </p:cNvPr>
          <p:cNvSpPr/>
          <p:nvPr/>
        </p:nvSpPr>
        <p:spPr>
          <a:xfrm>
            <a:off x="2205418" y="2415724"/>
            <a:ext cx="3629990" cy="55919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Assigned Projects List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project.id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project.title</a:t>
            </a:r>
            <a:r>
              <a:rPr lang="en-US" sz="1600" dirty="0">
                <a:solidFill>
                  <a:schemeClr val="tx1"/>
                </a:solidFill>
                <a:latin typeface="Calibri" panose="020F0502020204030204" pitchFamily="34" charset="0"/>
                <a:cs typeface="Calibri" panose="020F0502020204030204" pitchFamily="34" charset="0"/>
              </a:rPr>
              <a:t>]</a:t>
            </a:r>
          </a:p>
        </p:txBody>
      </p:sp>
      <p:sp>
        <p:nvSpPr>
          <p:cNvPr id="21" name="Parallelogram 20">
            <a:extLst>
              <a:ext uri="{FF2B5EF4-FFF2-40B4-BE49-F238E27FC236}">
                <a16:creationId xmlns:a16="http://schemas.microsoft.com/office/drawing/2014/main" id="{E2F149F0-FBF5-76D1-206F-D18334D1BD34}"/>
              </a:ext>
            </a:extLst>
          </p:cNvPr>
          <p:cNvSpPr/>
          <p:nvPr/>
        </p:nvSpPr>
        <p:spPr>
          <a:xfrm>
            <a:off x="7832102" y="1787794"/>
            <a:ext cx="254738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Get Assigned Projects Structure</a:t>
            </a:r>
          </a:p>
        </p:txBody>
      </p:sp>
      <p:sp>
        <p:nvSpPr>
          <p:cNvPr id="37" name="Rounded Rectangle 36">
            <a:extLst>
              <a:ext uri="{FF2B5EF4-FFF2-40B4-BE49-F238E27FC236}">
                <a16:creationId xmlns:a16="http://schemas.microsoft.com/office/drawing/2014/main" id="{4F143427-3D09-C658-C624-DC8D49D28883}"/>
              </a:ext>
            </a:extLst>
          </p:cNvPr>
          <p:cNvSpPr/>
          <p:nvPr/>
        </p:nvSpPr>
        <p:spPr>
          <a:xfrm>
            <a:off x="2205418" y="3777670"/>
            <a:ext cx="3629990" cy="55945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solidFill>
                  <a:schemeClr val="tx1"/>
                </a:solidFill>
                <a:latin typeface="Calibri" panose="020F0502020204030204" pitchFamily="34" charset="0"/>
                <a:cs typeface="Calibri" panose="020F0502020204030204" pitchFamily="34" charset="0"/>
              </a:rPr>
              <a:t>Assigned WP and Task List</a:t>
            </a:r>
          </a:p>
          <a:p>
            <a:pPr algn="ctr"/>
            <a:r>
              <a:rPr lang="en-US" sz="1600" dirty="0">
                <a:solidFill>
                  <a:schemeClr val="tx1"/>
                </a:solidFill>
                <a:latin typeface="Calibri" panose="020F0502020204030204" pitchFamily="34" charset="0"/>
                <a:cs typeface="Calibri" panose="020F0502020204030204" pitchFamily="34" charset="0"/>
              </a:rPr>
              <a:t>[</a:t>
            </a:r>
            <a:r>
              <a:rPr lang="en-US" sz="1600" dirty="0" err="1">
                <a:solidFill>
                  <a:schemeClr val="tx1"/>
                </a:solidFill>
                <a:latin typeface="Calibri" panose="020F0502020204030204" pitchFamily="34" charset="0"/>
                <a:cs typeface="Calibri" panose="020F0502020204030204" pitchFamily="34" charset="0"/>
              </a:rPr>
              <a:t>wp.id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wp.title</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task.id</a:t>
            </a:r>
            <a:r>
              <a:rPr lang="en-US" sz="1600" dirty="0">
                <a:solidFill>
                  <a:schemeClr val="tx1"/>
                </a:solidFill>
                <a:latin typeface="Calibri" panose="020F0502020204030204" pitchFamily="34" charset="0"/>
                <a:cs typeface="Calibri" panose="020F0502020204030204" pitchFamily="34" charset="0"/>
              </a:rPr>
              <a:t>, </a:t>
            </a:r>
            <a:r>
              <a:rPr lang="en-US" sz="1600" dirty="0" err="1">
                <a:solidFill>
                  <a:schemeClr val="tx1"/>
                </a:solidFill>
                <a:latin typeface="Calibri" panose="020F0502020204030204" pitchFamily="34" charset="0"/>
                <a:cs typeface="Calibri" panose="020F0502020204030204" pitchFamily="34" charset="0"/>
              </a:rPr>
              <a:t>task.title</a:t>
            </a:r>
            <a:r>
              <a:rPr lang="en-US" sz="1600" dirty="0">
                <a:solidFill>
                  <a:schemeClr val="tx1"/>
                </a:solidFill>
                <a:latin typeface="Calibri" panose="020F0502020204030204" pitchFamily="34" charset="0"/>
                <a:cs typeface="Calibri" panose="020F0502020204030204" pitchFamily="34" charset="0"/>
              </a:rPr>
              <a:t>]</a:t>
            </a:r>
          </a:p>
        </p:txBody>
      </p:sp>
      <p:sp>
        <p:nvSpPr>
          <p:cNvPr id="45" name="Oval 44">
            <a:extLst>
              <a:ext uri="{FF2B5EF4-FFF2-40B4-BE49-F238E27FC236}">
                <a16:creationId xmlns:a16="http://schemas.microsoft.com/office/drawing/2014/main" id="{1EAD0873-2602-77FF-F0D2-4626F499C3AF}"/>
              </a:ext>
            </a:extLst>
          </p:cNvPr>
          <p:cNvSpPr/>
          <p:nvPr/>
        </p:nvSpPr>
        <p:spPr>
          <a:xfrm>
            <a:off x="2078354" y="22630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D80A1097-9A12-3DA1-2807-4977F169D115}"/>
              </a:ext>
            </a:extLst>
          </p:cNvPr>
          <p:cNvSpPr txBox="1"/>
          <p:nvPr/>
        </p:nvSpPr>
        <p:spPr>
          <a:xfrm>
            <a:off x="2333843" y="2114973"/>
            <a:ext cx="67197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sp>
        <p:nvSpPr>
          <p:cNvPr id="18" name="TextBox 17">
            <a:extLst>
              <a:ext uri="{FF2B5EF4-FFF2-40B4-BE49-F238E27FC236}">
                <a16:creationId xmlns:a16="http://schemas.microsoft.com/office/drawing/2014/main" id="{E832E99A-C4EB-2C61-5073-B991F8AAFCDC}"/>
              </a:ext>
            </a:extLst>
          </p:cNvPr>
          <p:cNvSpPr txBox="1"/>
          <p:nvPr/>
        </p:nvSpPr>
        <p:spPr>
          <a:xfrm>
            <a:off x="642084" y="6267297"/>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7" name="Oval 16">
            <a:extLst>
              <a:ext uri="{FF2B5EF4-FFF2-40B4-BE49-F238E27FC236}">
                <a16:creationId xmlns:a16="http://schemas.microsoft.com/office/drawing/2014/main" id="{8FE9A81A-E06E-5967-F73D-903432240E71}"/>
              </a:ext>
            </a:extLst>
          </p:cNvPr>
          <p:cNvSpPr/>
          <p:nvPr/>
        </p:nvSpPr>
        <p:spPr>
          <a:xfrm>
            <a:off x="1342953" y="63111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37CFECB2-C0F8-192E-B5B1-9CD30D3FEC35}"/>
              </a:ext>
            </a:extLst>
          </p:cNvPr>
          <p:cNvSpPr/>
          <p:nvPr/>
        </p:nvSpPr>
        <p:spPr>
          <a:xfrm>
            <a:off x="2222370" y="5139871"/>
            <a:ext cx="3613038" cy="76303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Task Timesheet</a:t>
            </a:r>
          </a:p>
          <a:p>
            <a:pPr algn="ctr"/>
            <a:r>
              <a:rPr lang="en-US" sz="1600" dirty="0">
                <a:solidFill>
                  <a:schemeClr val="tx1"/>
                </a:solidFill>
                <a:latin typeface="Calibri" panose="020F0502020204030204" pitchFamily="34" charset="0"/>
                <a:cs typeface="Calibri" panose="020F0502020204030204" pitchFamily="34" charset="0"/>
              </a:rPr>
              <a:t>[project, WP, task, months, planned hours, worked hours]</a:t>
            </a:r>
          </a:p>
        </p:txBody>
      </p:sp>
      <p:sp>
        <p:nvSpPr>
          <p:cNvPr id="27" name="TextBox 26">
            <a:extLst>
              <a:ext uri="{FF2B5EF4-FFF2-40B4-BE49-F238E27FC236}">
                <a16:creationId xmlns:a16="http://schemas.microsoft.com/office/drawing/2014/main" id="{1F22420E-66FC-B22E-AB4C-D1409660319B}"/>
              </a:ext>
            </a:extLst>
          </p:cNvPr>
          <p:cNvSpPr txBox="1"/>
          <p:nvPr/>
        </p:nvSpPr>
        <p:spPr>
          <a:xfrm>
            <a:off x="4637376" y="4846532"/>
            <a:ext cx="107914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mouse out</a:t>
            </a:r>
          </a:p>
        </p:txBody>
      </p:sp>
      <p:cxnSp>
        <p:nvCxnSpPr>
          <p:cNvPr id="6" name="Straight Connector 5">
            <a:extLst>
              <a:ext uri="{FF2B5EF4-FFF2-40B4-BE49-F238E27FC236}">
                <a16:creationId xmlns:a16="http://schemas.microsoft.com/office/drawing/2014/main" id="{EB72A284-D5E9-5349-209D-9426368B55C9}"/>
              </a:ext>
            </a:extLst>
          </p:cNvPr>
          <p:cNvCxnSpPr>
            <a:cxnSpLocks/>
            <a:stCxn id="7" idx="6"/>
            <a:endCxn id="21" idx="5"/>
          </p:cNvCxnSpPr>
          <p:nvPr/>
        </p:nvCxnSpPr>
        <p:spPr>
          <a:xfrm flipV="1">
            <a:off x="7186627" y="2114974"/>
            <a:ext cx="727270" cy="117585"/>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8C3201CA-045E-AC60-5C86-41EDBE286527}"/>
              </a:ext>
            </a:extLst>
          </p:cNvPr>
          <p:cNvSpPr/>
          <p:nvPr/>
        </p:nvSpPr>
        <p:spPr>
          <a:xfrm>
            <a:off x="6898595" y="2088543"/>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8" name="Straight Connector 7">
            <a:extLst>
              <a:ext uri="{FF2B5EF4-FFF2-40B4-BE49-F238E27FC236}">
                <a16:creationId xmlns:a16="http://schemas.microsoft.com/office/drawing/2014/main" id="{58256338-801D-D575-D0E8-AD3D194FF24A}"/>
              </a:ext>
            </a:extLst>
          </p:cNvPr>
          <p:cNvCxnSpPr>
            <a:cxnSpLocks/>
          </p:cNvCxnSpPr>
          <p:nvPr/>
        </p:nvCxnSpPr>
        <p:spPr>
          <a:xfrm flipH="1">
            <a:off x="8424504" y="1636938"/>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9" name="Google Shape;208;p33">
            <a:extLst>
              <a:ext uri="{FF2B5EF4-FFF2-40B4-BE49-F238E27FC236}">
                <a16:creationId xmlns:a16="http://schemas.microsoft.com/office/drawing/2014/main" id="{AF440D25-700A-32C6-336C-EC427E220648}"/>
              </a:ext>
            </a:extLst>
          </p:cNvPr>
          <p:cNvSpPr txBox="1"/>
          <p:nvPr/>
        </p:nvSpPr>
        <p:spPr>
          <a:xfrm>
            <a:off x="8329604" y="1388500"/>
            <a:ext cx="6502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user.id</a:t>
            </a:r>
            <a:endParaRPr sz="1200" dirty="0">
              <a:solidFill>
                <a:schemeClr val="dk1"/>
              </a:solidFill>
              <a:latin typeface="Calibri"/>
              <a:ea typeface="Calibri"/>
              <a:cs typeface="Calibri"/>
              <a:sym typeface="Calibri"/>
            </a:endParaRPr>
          </a:p>
        </p:txBody>
      </p:sp>
      <p:cxnSp>
        <p:nvCxnSpPr>
          <p:cNvPr id="10" name="Elbow Connector 9">
            <a:extLst>
              <a:ext uri="{FF2B5EF4-FFF2-40B4-BE49-F238E27FC236}">
                <a16:creationId xmlns:a16="http://schemas.microsoft.com/office/drawing/2014/main" id="{00E04DA6-1BE3-241C-83DB-CB4A8543288E}"/>
              </a:ext>
            </a:extLst>
          </p:cNvPr>
          <p:cNvCxnSpPr>
            <a:cxnSpLocks/>
          </p:cNvCxnSpPr>
          <p:nvPr/>
        </p:nvCxnSpPr>
        <p:spPr>
          <a:xfrm rot="5400000">
            <a:off x="7679249" y="1797904"/>
            <a:ext cx="105139" cy="139363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67062AB4-BB5A-75B9-38FA-ACF396A24112}"/>
              </a:ext>
            </a:extLst>
          </p:cNvPr>
          <p:cNvCxnSpPr>
            <a:cxnSpLocks/>
            <a:stCxn id="45" idx="2"/>
            <a:endCxn id="37" idx="0"/>
          </p:cNvCxnSpPr>
          <p:nvPr/>
        </p:nvCxnSpPr>
        <p:spPr>
          <a:xfrm rot="10800000" flipH="1" flipV="1">
            <a:off x="2078353" y="2407080"/>
            <a:ext cx="1942059" cy="1370590"/>
          </a:xfrm>
          <a:prstGeom prst="bentConnector4">
            <a:avLst>
              <a:gd name="adj1" fmla="val -11771"/>
              <a:gd name="adj2" fmla="val 55254"/>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7353A2E5-3363-14BB-B800-33D6062067C6}"/>
              </a:ext>
            </a:extLst>
          </p:cNvPr>
          <p:cNvSpPr/>
          <p:nvPr/>
        </p:nvSpPr>
        <p:spPr>
          <a:xfrm>
            <a:off x="2078354" y="363290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EC68C76B-69B1-4633-CEAD-FF6046681ABD}"/>
              </a:ext>
            </a:extLst>
          </p:cNvPr>
          <p:cNvSpPr txBox="1"/>
          <p:nvPr/>
        </p:nvSpPr>
        <p:spPr>
          <a:xfrm>
            <a:off x="2333843" y="3484816"/>
            <a:ext cx="67197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cxnSp>
        <p:nvCxnSpPr>
          <p:cNvPr id="29" name="Elbow Connector 28">
            <a:extLst>
              <a:ext uri="{FF2B5EF4-FFF2-40B4-BE49-F238E27FC236}">
                <a16:creationId xmlns:a16="http://schemas.microsoft.com/office/drawing/2014/main" id="{AC93FB7D-C8D8-EED3-1B9D-28CD4C3E9616}"/>
              </a:ext>
            </a:extLst>
          </p:cNvPr>
          <p:cNvCxnSpPr>
            <a:cxnSpLocks/>
            <a:stCxn id="26" idx="2"/>
            <a:endCxn id="19" idx="0"/>
          </p:cNvCxnSpPr>
          <p:nvPr/>
        </p:nvCxnSpPr>
        <p:spPr>
          <a:xfrm rot="10800000" flipH="1" flipV="1">
            <a:off x="2078353" y="3776923"/>
            <a:ext cx="1950535" cy="1362948"/>
          </a:xfrm>
          <a:prstGeom prst="bentConnector4">
            <a:avLst>
              <a:gd name="adj1" fmla="val -11720"/>
              <a:gd name="adj2" fmla="val 55283"/>
            </a:avLst>
          </a:prstGeom>
          <a:ln>
            <a:tailEnd type="arrow"/>
          </a:ln>
        </p:spPr>
        <p:style>
          <a:lnRef idx="2">
            <a:schemeClr val="accent1"/>
          </a:lnRef>
          <a:fillRef idx="0">
            <a:schemeClr val="accent1"/>
          </a:fillRef>
          <a:effectRef idx="1">
            <a:schemeClr val="accent1"/>
          </a:effectRef>
          <a:fontRef idx="minor">
            <a:schemeClr val="tx1"/>
          </a:fontRef>
        </p:style>
      </p:cxnSp>
      <p:sp>
        <p:nvSpPr>
          <p:cNvPr id="52" name="Parallelogram 51">
            <a:extLst>
              <a:ext uri="{FF2B5EF4-FFF2-40B4-BE49-F238E27FC236}">
                <a16:creationId xmlns:a16="http://schemas.microsoft.com/office/drawing/2014/main" id="{6E0F1611-4F1F-1FB0-62DD-BA7D123CFFA7}"/>
              </a:ext>
            </a:extLst>
          </p:cNvPr>
          <p:cNvSpPr/>
          <p:nvPr/>
        </p:nvSpPr>
        <p:spPr>
          <a:xfrm>
            <a:off x="7832102" y="5248210"/>
            <a:ext cx="1472736" cy="549558"/>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Log Hours</a:t>
            </a:r>
          </a:p>
        </p:txBody>
      </p:sp>
      <p:cxnSp>
        <p:nvCxnSpPr>
          <p:cNvPr id="53" name="Straight Connector 52">
            <a:extLst>
              <a:ext uri="{FF2B5EF4-FFF2-40B4-BE49-F238E27FC236}">
                <a16:creationId xmlns:a16="http://schemas.microsoft.com/office/drawing/2014/main" id="{69BAD65C-7747-1349-E2AF-D1591CE3A353}"/>
              </a:ext>
            </a:extLst>
          </p:cNvPr>
          <p:cNvCxnSpPr>
            <a:cxnSpLocks/>
            <a:stCxn id="61" idx="6"/>
            <a:endCxn id="52" idx="5"/>
          </p:cNvCxnSpPr>
          <p:nvPr/>
        </p:nvCxnSpPr>
        <p:spPr>
          <a:xfrm>
            <a:off x="5974042" y="5123709"/>
            <a:ext cx="1926755" cy="39928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103D53CE-730E-8AC2-172F-3733641CF959}"/>
              </a:ext>
            </a:extLst>
          </p:cNvPr>
          <p:cNvCxnSpPr>
            <a:cxnSpLocks/>
          </p:cNvCxnSpPr>
          <p:nvPr/>
        </p:nvCxnSpPr>
        <p:spPr>
          <a:xfrm flipH="1">
            <a:off x="8424504" y="5090273"/>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55" name="Google Shape;208;p33">
            <a:extLst>
              <a:ext uri="{FF2B5EF4-FFF2-40B4-BE49-F238E27FC236}">
                <a16:creationId xmlns:a16="http://schemas.microsoft.com/office/drawing/2014/main" id="{6F9F57B5-02CD-A8FF-C2F2-1961B8D39C2F}"/>
              </a:ext>
            </a:extLst>
          </p:cNvPr>
          <p:cNvSpPr txBox="1"/>
          <p:nvPr/>
        </p:nvSpPr>
        <p:spPr>
          <a:xfrm>
            <a:off x="8329604" y="4292277"/>
            <a:ext cx="1030781" cy="80521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user.id</a:t>
            </a:r>
          </a:p>
          <a:p>
            <a:pPr lvl="0" algn="ctr"/>
            <a:r>
              <a:rPr lang="es-419" sz="1200" dirty="0">
                <a:solidFill>
                  <a:schemeClr val="dk1"/>
                </a:solidFill>
                <a:latin typeface="Calibri"/>
                <a:ea typeface="Calibri"/>
                <a:cs typeface="Calibri"/>
                <a:sym typeface="Calibri"/>
              </a:rPr>
              <a:t>task.id</a:t>
            </a:r>
          </a:p>
          <a:p>
            <a:pPr lvl="0" algn="ctr"/>
            <a:r>
              <a:rPr lang="es-419" sz="1200" dirty="0">
                <a:solidFill>
                  <a:schemeClr val="dk1"/>
                </a:solidFill>
                <a:latin typeface="Calibri"/>
                <a:ea typeface="Calibri"/>
                <a:cs typeface="Calibri"/>
                <a:sym typeface="Calibri"/>
              </a:rPr>
              <a:t>month</a:t>
            </a:r>
          </a:p>
          <a:p>
            <a:pPr lvl="0" algn="ctr"/>
            <a:r>
              <a:rPr lang="es-419" sz="1200" dirty="0">
                <a:solidFill>
                  <a:schemeClr val="dk1"/>
                </a:solidFill>
                <a:latin typeface="Calibri"/>
                <a:ea typeface="Calibri"/>
                <a:cs typeface="Calibri"/>
                <a:sym typeface="Calibri"/>
              </a:rPr>
              <a:t>workedHours</a:t>
            </a:r>
            <a:endParaRPr sz="1200" dirty="0">
              <a:solidFill>
                <a:schemeClr val="dk1"/>
              </a:solidFill>
              <a:latin typeface="Calibri"/>
              <a:ea typeface="Calibri"/>
              <a:cs typeface="Calibri"/>
              <a:sym typeface="Calibri"/>
            </a:endParaRPr>
          </a:p>
        </p:txBody>
      </p:sp>
      <p:cxnSp>
        <p:nvCxnSpPr>
          <p:cNvPr id="56" name="Elbow Connector 55">
            <a:extLst>
              <a:ext uri="{FF2B5EF4-FFF2-40B4-BE49-F238E27FC236}">
                <a16:creationId xmlns:a16="http://schemas.microsoft.com/office/drawing/2014/main" id="{8F99DBE7-34BF-012B-E132-23AB4F74A444}"/>
              </a:ext>
            </a:extLst>
          </p:cNvPr>
          <p:cNvCxnSpPr>
            <a:cxnSpLocks/>
          </p:cNvCxnSpPr>
          <p:nvPr/>
        </p:nvCxnSpPr>
        <p:spPr>
          <a:xfrm rot="5400000">
            <a:off x="7679249" y="5153519"/>
            <a:ext cx="105139" cy="139363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BB90FE6-786A-28EC-1BAC-9E9477836FB1}"/>
              </a:ext>
            </a:extLst>
          </p:cNvPr>
          <p:cNvSpPr/>
          <p:nvPr/>
        </p:nvSpPr>
        <p:spPr>
          <a:xfrm>
            <a:off x="5686010" y="497969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961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19657-F0C9-9CBD-0E56-F7AE8E64362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8E7E2B1-C6BC-F0D9-A213-E36E445C0E2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Application design (login)</a:t>
            </a:r>
          </a:p>
        </p:txBody>
      </p:sp>
      <p:sp>
        <p:nvSpPr>
          <p:cNvPr id="5" name="Google Shape;136;p26">
            <a:extLst>
              <a:ext uri="{FF2B5EF4-FFF2-40B4-BE49-F238E27FC236}">
                <a16:creationId xmlns:a16="http://schemas.microsoft.com/office/drawing/2014/main" id="{B9E30743-77CD-B459-B123-CF4F66332BD2}"/>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p:txBody>
      </p:sp>
    </p:spTree>
    <p:extLst>
      <p:ext uri="{BB962C8B-B14F-4D97-AF65-F5344CB8AC3E}">
        <p14:creationId xmlns:p14="http://schemas.microsoft.com/office/powerpoint/2010/main" val="241202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A9A3D-1873-E582-82C9-EAE43C96A5B2}"/>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C0CA8019-93E5-FA1E-C8F0-8AE30E210B9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Application design (login)</a:t>
            </a:r>
          </a:p>
        </p:txBody>
      </p:sp>
      <p:sp>
        <p:nvSpPr>
          <p:cNvPr id="5" name="Google Shape;136;p26">
            <a:extLst>
              <a:ext uri="{FF2B5EF4-FFF2-40B4-BE49-F238E27FC236}">
                <a16:creationId xmlns:a16="http://schemas.microsoft.com/office/drawing/2014/main" id="{40A355BA-46E5-0662-963F-2CC57425A7B6}"/>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p:txBody>
      </p:sp>
    </p:spTree>
    <p:extLst>
      <p:ext uri="{BB962C8B-B14F-4D97-AF65-F5344CB8AC3E}">
        <p14:creationId xmlns:p14="http://schemas.microsoft.com/office/powerpoint/2010/main" val="835013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1272</TotalTime>
  <Words>3771</Words>
  <Application>Microsoft Macintosh PowerPoint</Application>
  <PresentationFormat>Widescreen</PresentationFormat>
  <Paragraphs>413</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Calibri</vt:lpstr>
      <vt:lpstr>Office Theme</vt:lpstr>
      <vt:lpstr>Gestione e rendicontazione progetti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43</cp:revision>
  <dcterms:created xsi:type="dcterms:W3CDTF">2026-05-27T11:53:25Z</dcterms:created>
  <dcterms:modified xsi:type="dcterms:W3CDTF">2026-06-01T15:50:50Z</dcterms:modified>
</cp:coreProperties>
</file>